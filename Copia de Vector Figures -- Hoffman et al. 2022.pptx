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Lst>
  <p:sldSz cy="5143500" cx="9144000"/>
  <p:notesSz cx="6858000" cy="9144000"/>
  <p:embeddedFontLst>
    <p:embeddedFont>
      <p:font typeface="Roboto"/>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D02F007-AB12-429A-B26A-1239243E100E}">
  <a:tblStyle styleId="{ED02F007-AB12-429A-B26A-1239243E100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bold.fntdata"/><Relationship Id="rId10" Type="http://schemas.openxmlformats.org/officeDocument/2006/relationships/font" Target="fonts/Roboto-regular.fntdata"/><Relationship Id="rId13" Type="http://schemas.openxmlformats.org/officeDocument/2006/relationships/font" Target="fonts/Roboto-boldItalic.fntdata"/><Relationship Id="rId12"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11b42e0cbf6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11b42e0cbf6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45378ce1c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45378ce1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45378ce1cf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45378ce1c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8" name="Google Shape;8;p2"/>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 name="Google Shape;9;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15" name="Google Shape;15;p4"/>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19" name="Google Shape;19;p5"/>
          <p:cNvSpPr txBox="1"/>
          <p:nvPr>
            <p:ph idx="1" type="body"/>
          </p:nvPr>
        </p:nvSpPr>
        <p:spPr>
          <a:xfrm>
            <a:off x="3117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 name="Google Shape;20;p5"/>
          <p:cNvSpPr txBox="1"/>
          <p:nvPr>
            <p:ph idx="2" type="body"/>
          </p:nvPr>
        </p:nvSpPr>
        <p:spPr>
          <a:xfrm>
            <a:off x="48324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4" name="Google Shape;2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27" name="Google Shape;27;p7"/>
          <p:cNvSpPr txBox="1"/>
          <p:nvPr>
            <p:ph idx="1" type="body"/>
          </p:nvPr>
        </p:nvSpPr>
        <p:spPr>
          <a:xfrm>
            <a:off x="311700" y="1389600"/>
            <a:ext cx="2808000" cy="31794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5" name="Google Shape;35;p9"/>
          <p:cNvSpPr txBox="1"/>
          <p:nvPr>
            <p:ph idx="1" type="subTitle"/>
          </p:nvPr>
        </p:nvSpPr>
        <p:spPr>
          <a:xfrm>
            <a:off x="265500" y="2803075"/>
            <a:ext cx="4045200" cy="1235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 name="Google Shape;36;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400"/>
              <a:buNone/>
              <a:defRPr/>
            </a:lvl1pPr>
          </a:lstStyle>
          <a:p/>
        </p:txBody>
      </p:sp>
      <p:sp>
        <p:nvSpPr>
          <p:cNvPr id="40" name="Google Shape;4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43" name="Google Shape;43;p11"/>
          <p:cNvSpPr txBox="1"/>
          <p:nvPr>
            <p:ph idx="1" type="body"/>
          </p:nvPr>
        </p:nvSpPr>
        <p:spPr>
          <a:xfrm>
            <a:off x="311700" y="3152225"/>
            <a:ext cx="8520600" cy="1300800"/>
          </a:xfrm>
          <a:prstGeom prst="rect">
            <a:avLst/>
          </a:prstGeom>
          <a:noFill/>
          <a:ln>
            <a:noFill/>
          </a:ln>
        </p:spPr>
        <p:txBody>
          <a:bodyPr anchorCtr="0" anchor="ctr"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4" name="Google Shape;4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p:nvPr/>
        </p:nvSpPr>
        <p:spPr>
          <a:xfrm>
            <a:off x="117425" y="3240654"/>
            <a:ext cx="5966400" cy="1536900"/>
          </a:xfrm>
          <a:prstGeom prst="roundRect">
            <a:avLst>
              <a:gd fmla="val 7891"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3"/>
          <p:cNvSpPr/>
          <p:nvPr/>
        </p:nvSpPr>
        <p:spPr>
          <a:xfrm>
            <a:off x="117425" y="1640900"/>
            <a:ext cx="5966400" cy="1536900"/>
          </a:xfrm>
          <a:prstGeom prst="roundRect">
            <a:avLst>
              <a:gd fmla="val 7398"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3"/>
          <p:cNvSpPr/>
          <p:nvPr/>
        </p:nvSpPr>
        <p:spPr>
          <a:xfrm>
            <a:off x="117425" y="41147"/>
            <a:ext cx="5966400" cy="1536900"/>
          </a:xfrm>
          <a:prstGeom prst="roundRect">
            <a:avLst>
              <a:gd fmla="val 6904"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 name="Google Shape;54;p13"/>
          <p:cNvCxnSpPr>
            <a:stCxn id="55" idx="2"/>
            <a:endCxn id="56" idx="6"/>
          </p:cNvCxnSpPr>
          <p:nvPr/>
        </p:nvCxnSpPr>
        <p:spPr>
          <a:xfrm>
            <a:off x="1192407" y="861785"/>
            <a:ext cx="4739700" cy="0"/>
          </a:xfrm>
          <a:prstGeom prst="straightConnector1">
            <a:avLst/>
          </a:prstGeom>
          <a:noFill/>
          <a:ln cap="flat" cmpd="sng" w="9525">
            <a:solidFill>
              <a:srgbClr val="000000"/>
            </a:solidFill>
            <a:prstDash val="solid"/>
            <a:round/>
            <a:headEnd len="med" w="med" type="none"/>
            <a:tailEnd len="med" w="med" type="none"/>
          </a:ln>
        </p:spPr>
      </p:cxnSp>
      <p:cxnSp>
        <p:nvCxnSpPr>
          <p:cNvPr id="57" name="Google Shape;57;p13"/>
          <p:cNvCxnSpPr>
            <a:stCxn id="58" idx="2"/>
            <a:endCxn id="59" idx="6"/>
          </p:cNvCxnSpPr>
          <p:nvPr/>
        </p:nvCxnSpPr>
        <p:spPr>
          <a:xfrm>
            <a:off x="1182697" y="2923109"/>
            <a:ext cx="4739700" cy="0"/>
          </a:xfrm>
          <a:prstGeom prst="straightConnector1">
            <a:avLst/>
          </a:prstGeom>
          <a:noFill/>
          <a:ln cap="flat" cmpd="sng" w="9525">
            <a:solidFill>
              <a:srgbClr val="000000"/>
            </a:solidFill>
            <a:prstDash val="solid"/>
            <a:round/>
            <a:headEnd len="med" w="med" type="none"/>
            <a:tailEnd len="med" w="med" type="none"/>
          </a:ln>
        </p:spPr>
      </p:cxnSp>
      <p:cxnSp>
        <p:nvCxnSpPr>
          <p:cNvPr id="60" name="Google Shape;60;p13"/>
          <p:cNvCxnSpPr>
            <a:stCxn id="61" idx="2"/>
            <a:endCxn id="62" idx="6"/>
          </p:cNvCxnSpPr>
          <p:nvPr/>
        </p:nvCxnSpPr>
        <p:spPr>
          <a:xfrm>
            <a:off x="1182697" y="2479981"/>
            <a:ext cx="4739700" cy="0"/>
          </a:xfrm>
          <a:prstGeom prst="straightConnector1">
            <a:avLst/>
          </a:prstGeom>
          <a:noFill/>
          <a:ln cap="flat" cmpd="sng" w="9525">
            <a:solidFill>
              <a:srgbClr val="000000"/>
            </a:solidFill>
            <a:prstDash val="solid"/>
            <a:round/>
            <a:headEnd len="med" w="med" type="none"/>
            <a:tailEnd len="med" w="med" type="none"/>
          </a:ln>
        </p:spPr>
      </p:cxnSp>
      <p:cxnSp>
        <p:nvCxnSpPr>
          <p:cNvPr id="63" name="Google Shape;63;p13"/>
          <p:cNvCxnSpPr>
            <a:stCxn id="64" idx="2"/>
            <a:endCxn id="65" idx="6"/>
          </p:cNvCxnSpPr>
          <p:nvPr/>
        </p:nvCxnSpPr>
        <p:spPr>
          <a:xfrm>
            <a:off x="1190053" y="4080485"/>
            <a:ext cx="4739700" cy="0"/>
          </a:xfrm>
          <a:prstGeom prst="straightConnector1">
            <a:avLst/>
          </a:prstGeom>
          <a:noFill/>
          <a:ln cap="flat" cmpd="sng" w="9525">
            <a:solidFill>
              <a:srgbClr val="000000"/>
            </a:solidFill>
            <a:prstDash val="solid"/>
            <a:round/>
            <a:headEnd len="med" w="med" type="none"/>
            <a:tailEnd len="med" w="med" type="none"/>
          </a:ln>
        </p:spPr>
      </p:cxnSp>
      <p:cxnSp>
        <p:nvCxnSpPr>
          <p:cNvPr id="66" name="Google Shape;66;p13"/>
          <p:cNvCxnSpPr>
            <a:stCxn id="67" idx="2"/>
            <a:endCxn id="68" idx="6"/>
          </p:cNvCxnSpPr>
          <p:nvPr/>
        </p:nvCxnSpPr>
        <p:spPr>
          <a:xfrm>
            <a:off x="1190053" y="4523613"/>
            <a:ext cx="4739700" cy="0"/>
          </a:xfrm>
          <a:prstGeom prst="straightConnector1">
            <a:avLst/>
          </a:prstGeom>
          <a:noFill/>
          <a:ln cap="flat" cmpd="sng" w="9525">
            <a:solidFill>
              <a:srgbClr val="000000"/>
            </a:solidFill>
            <a:prstDash val="solid"/>
            <a:round/>
            <a:headEnd len="med" w="med" type="none"/>
            <a:tailEnd len="med" w="med" type="none"/>
          </a:ln>
        </p:spPr>
      </p:cxnSp>
      <p:cxnSp>
        <p:nvCxnSpPr>
          <p:cNvPr id="69" name="Google Shape;69;p13"/>
          <p:cNvCxnSpPr>
            <a:stCxn id="70" idx="2"/>
            <a:endCxn id="71" idx="6"/>
          </p:cNvCxnSpPr>
          <p:nvPr/>
        </p:nvCxnSpPr>
        <p:spPr>
          <a:xfrm>
            <a:off x="1192407" y="1304913"/>
            <a:ext cx="2840100" cy="0"/>
          </a:xfrm>
          <a:prstGeom prst="straightConnector1">
            <a:avLst/>
          </a:prstGeom>
          <a:noFill/>
          <a:ln cap="flat" cmpd="sng" w="9525">
            <a:solidFill>
              <a:srgbClr val="000000"/>
            </a:solidFill>
            <a:prstDash val="solid"/>
            <a:round/>
            <a:headEnd len="med" w="med" type="none"/>
            <a:tailEnd len="med" w="med" type="none"/>
          </a:ln>
        </p:spPr>
      </p:cxnSp>
      <p:sp>
        <p:nvSpPr>
          <p:cNvPr id="72" name="Google Shape;72;p13"/>
          <p:cNvSpPr/>
          <p:nvPr/>
        </p:nvSpPr>
        <p:spPr>
          <a:xfrm>
            <a:off x="1768321" y="647474"/>
            <a:ext cx="429600" cy="426300"/>
          </a:xfrm>
          <a:prstGeom prst="roundRect">
            <a:avLst>
              <a:gd fmla="val 16667" name="adj"/>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txBox="1"/>
          <p:nvPr/>
        </p:nvSpPr>
        <p:spPr>
          <a:xfrm>
            <a:off x="992760" y="38775"/>
            <a:ext cx="281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oboto"/>
                <a:ea typeface="Roboto"/>
                <a:cs typeface="Roboto"/>
                <a:sym typeface="Roboto"/>
              </a:rPr>
              <a:t>Naturally observed world:</a:t>
            </a:r>
            <a:endParaRPr b="1">
              <a:latin typeface="Roboto"/>
              <a:ea typeface="Roboto"/>
              <a:cs typeface="Roboto"/>
              <a:sym typeface="Roboto"/>
            </a:endParaRPr>
          </a:p>
        </p:txBody>
      </p:sp>
      <p:sp>
        <p:nvSpPr>
          <p:cNvPr id="74" name="Google Shape;74;p13"/>
          <p:cNvSpPr txBox="1"/>
          <p:nvPr/>
        </p:nvSpPr>
        <p:spPr>
          <a:xfrm>
            <a:off x="992760" y="1655204"/>
            <a:ext cx="5134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oboto"/>
                <a:ea typeface="Roboto"/>
                <a:cs typeface="Roboto"/>
                <a:sym typeface="Roboto"/>
              </a:rPr>
              <a:t>Hypothetical Intervention #1:</a:t>
            </a:r>
            <a:endParaRPr b="1">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Corticosteroids at severe hypoxia and no loss to follow-up</a:t>
            </a:r>
            <a:endParaRPr>
              <a:latin typeface="Roboto"/>
              <a:ea typeface="Roboto"/>
              <a:cs typeface="Roboto"/>
              <a:sym typeface="Roboto"/>
            </a:endParaRPr>
          </a:p>
        </p:txBody>
      </p:sp>
      <p:sp>
        <p:nvSpPr>
          <p:cNvPr id="55" name="Google Shape;55;p13"/>
          <p:cNvSpPr/>
          <p:nvPr/>
        </p:nvSpPr>
        <p:spPr>
          <a:xfrm>
            <a:off x="1192407" y="710135"/>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p:nvPr/>
        </p:nvSpPr>
        <p:spPr>
          <a:xfrm>
            <a:off x="1192407" y="1153263"/>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3"/>
          <p:cNvSpPr/>
          <p:nvPr/>
        </p:nvSpPr>
        <p:spPr>
          <a:xfrm>
            <a:off x="1825626" y="710135"/>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3"/>
          <p:cNvSpPr/>
          <p:nvPr/>
        </p:nvSpPr>
        <p:spPr>
          <a:xfrm>
            <a:off x="1825626" y="1153263"/>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3"/>
          <p:cNvSpPr/>
          <p:nvPr/>
        </p:nvSpPr>
        <p:spPr>
          <a:xfrm>
            <a:off x="2458845" y="710135"/>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3"/>
          <p:cNvSpPr/>
          <p:nvPr/>
        </p:nvSpPr>
        <p:spPr>
          <a:xfrm>
            <a:off x="2458845" y="1153263"/>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3"/>
          <p:cNvSpPr/>
          <p:nvPr/>
        </p:nvSpPr>
        <p:spPr>
          <a:xfrm>
            <a:off x="3725283" y="710135"/>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
          <p:cNvSpPr/>
          <p:nvPr/>
        </p:nvSpPr>
        <p:spPr>
          <a:xfrm>
            <a:off x="3725283" y="1153263"/>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3"/>
          <p:cNvSpPr/>
          <p:nvPr/>
        </p:nvSpPr>
        <p:spPr>
          <a:xfrm>
            <a:off x="3092064" y="710135"/>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3"/>
          <p:cNvSpPr/>
          <p:nvPr/>
        </p:nvSpPr>
        <p:spPr>
          <a:xfrm>
            <a:off x="3092064" y="1153263"/>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3"/>
          <p:cNvSpPr/>
          <p:nvPr/>
        </p:nvSpPr>
        <p:spPr>
          <a:xfrm>
            <a:off x="4991722" y="710135"/>
            <a:ext cx="307200" cy="303300"/>
          </a:xfrm>
          <a:prstGeom prst="smileyFace">
            <a:avLst>
              <a:gd fmla="val 4653" name="adj"/>
            </a:avLst>
          </a:prstGeom>
          <a:solidFill>
            <a:srgbClr val="FFD9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3"/>
          <p:cNvSpPr/>
          <p:nvPr/>
        </p:nvSpPr>
        <p:spPr>
          <a:xfrm>
            <a:off x="4358503" y="710135"/>
            <a:ext cx="307200" cy="303300"/>
          </a:xfrm>
          <a:prstGeom prst="smileyFace">
            <a:avLst>
              <a:gd fmla="val 4653" name="adj"/>
            </a:avLst>
          </a:prstGeom>
          <a:solidFill>
            <a:srgbClr val="FFD9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p:nvPr/>
        </p:nvSpPr>
        <p:spPr>
          <a:xfrm>
            <a:off x="5624941" y="710135"/>
            <a:ext cx="307200" cy="303300"/>
          </a:xfrm>
          <a:prstGeom prst="smileyFace">
            <a:avLst>
              <a:gd fmla="val 4653" name="adj"/>
            </a:avLst>
          </a:prstGeom>
          <a:solidFill>
            <a:srgbClr val="FFD9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3"/>
          <p:cNvSpPr txBox="1"/>
          <p:nvPr/>
        </p:nvSpPr>
        <p:spPr>
          <a:xfrm>
            <a:off x="1023485" y="3240654"/>
            <a:ext cx="5134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oboto"/>
                <a:ea typeface="Roboto"/>
                <a:cs typeface="Roboto"/>
                <a:sym typeface="Roboto"/>
              </a:rPr>
              <a:t>Hypothetical Intervention #2:</a:t>
            </a:r>
            <a:endParaRPr b="1">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No corticosteroids and no loss to follow-up</a:t>
            </a:r>
            <a:endParaRPr>
              <a:latin typeface="Roboto"/>
              <a:ea typeface="Roboto"/>
              <a:cs typeface="Roboto"/>
              <a:sym typeface="Roboto"/>
            </a:endParaRPr>
          </a:p>
        </p:txBody>
      </p:sp>
      <p:sp>
        <p:nvSpPr>
          <p:cNvPr id="61" name="Google Shape;61;p13"/>
          <p:cNvSpPr/>
          <p:nvPr/>
        </p:nvSpPr>
        <p:spPr>
          <a:xfrm>
            <a:off x="1182697" y="2328331"/>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p:nvPr/>
        </p:nvSpPr>
        <p:spPr>
          <a:xfrm>
            <a:off x="1182697" y="2771459"/>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3"/>
          <p:cNvSpPr/>
          <p:nvPr/>
        </p:nvSpPr>
        <p:spPr>
          <a:xfrm>
            <a:off x="1815916" y="2328331"/>
            <a:ext cx="307200" cy="303300"/>
          </a:xfrm>
          <a:prstGeom prst="smileyFace">
            <a:avLst>
              <a:gd fmla="val 4653" name="adj"/>
            </a:avLst>
          </a:prstGeom>
          <a:solidFill>
            <a:srgbClr val="FFD9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3"/>
          <p:cNvSpPr/>
          <p:nvPr/>
        </p:nvSpPr>
        <p:spPr>
          <a:xfrm>
            <a:off x="1815916" y="2771459"/>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
          <p:cNvSpPr/>
          <p:nvPr/>
        </p:nvSpPr>
        <p:spPr>
          <a:xfrm>
            <a:off x="2449135" y="2328331"/>
            <a:ext cx="307200" cy="303300"/>
          </a:xfrm>
          <a:prstGeom prst="smileyFace">
            <a:avLst>
              <a:gd fmla="val 4653" name="adj"/>
            </a:avLst>
          </a:prstGeom>
          <a:solidFill>
            <a:srgbClr val="FFD9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3"/>
          <p:cNvSpPr/>
          <p:nvPr/>
        </p:nvSpPr>
        <p:spPr>
          <a:xfrm>
            <a:off x="2449135" y="2771459"/>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p:nvPr/>
        </p:nvSpPr>
        <p:spPr>
          <a:xfrm>
            <a:off x="3715573" y="2328331"/>
            <a:ext cx="307200" cy="303300"/>
          </a:xfrm>
          <a:prstGeom prst="smileyFace">
            <a:avLst>
              <a:gd fmla="val 4653" name="adj"/>
            </a:avLst>
          </a:prstGeom>
          <a:solidFill>
            <a:srgbClr val="FFD9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3"/>
          <p:cNvSpPr/>
          <p:nvPr/>
        </p:nvSpPr>
        <p:spPr>
          <a:xfrm>
            <a:off x="3715573" y="2771459"/>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3"/>
          <p:cNvSpPr/>
          <p:nvPr/>
        </p:nvSpPr>
        <p:spPr>
          <a:xfrm>
            <a:off x="3082354" y="2328331"/>
            <a:ext cx="307200" cy="303300"/>
          </a:xfrm>
          <a:prstGeom prst="smileyFace">
            <a:avLst>
              <a:gd fmla="val 4653" name="adj"/>
            </a:avLst>
          </a:prstGeom>
          <a:solidFill>
            <a:srgbClr val="FFD9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p:nvPr/>
        </p:nvSpPr>
        <p:spPr>
          <a:xfrm>
            <a:off x="3082354" y="2771459"/>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3"/>
          <p:cNvSpPr/>
          <p:nvPr/>
        </p:nvSpPr>
        <p:spPr>
          <a:xfrm>
            <a:off x="4982012" y="2328331"/>
            <a:ext cx="307200" cy="303300"/>
          </a:xfrm>
          <a:prstGeom prst="smileyFace">
            <a:avLst>
              <a:gd fmla="val 4653" name="adj"/>
            </a:avLst>
          </a:prstGeom>
          <a:solidFill>
            <a:srgbClr val="FFD9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3"/>
          <p:cNvSpPr/>
          <p:nvPr/>
        </p:nvSpPr>
        <p:spPr>
          <a:xfrm>
            <a:off x="4348792" y="2328331"/>
            <a:ext cx="307200" cy="303300"/>
          </a:xfrm>
          <a:prstGeom prst="smileyFace">
            <a:avLst>
              <a:gd fmla="val 4653" name="adj"/>
            </a:avLst>
          </a:prstGeom>
          <a:solidFill>
            <a:srgbClr val="FFD9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3"/>
          <p:cNvSpPr/>
          <p:nvPr/>
        </p:nvSpPr>
        <p:spPr>
          <a:xfrm>
            <a:off x="5615231" y="2328331"/>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3"/>
          <p:cNvSpPr/>
          <p:nvPr/>
        </p:nvSpPr>
        <p:spPr>
          <a:xfrm>
            <a:off x="4348792" y="2771447"/>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3"/>
          <p:cNvSpPr/>
          <p:nvPr/>
        </p:nvSpPr>
        <p:spPr>
          <a:xfrm>
            <a:off x="5615231" y="2771447"/>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3"/>
          <p:cNvSpPr/>
          <p:nvPr/>
        </p:nvSpPr>
        <p:spPr>
          <a:xfrm>
            <a:off x="4982012" y="2771447"/>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3"/>
          <p:cNvSpPr/>
          <p:nvPr/>
        </p:nvSpPr>
        <p:spPr>
          <a:xfrm>
            <a:off x="1190053" y="3928835"/>
            <a:ext cx="307200" cy="303300"/>
          </a:xfrm>
          <a:prstGeom prst="smileyFace">
            <a:avLst>
              <a:gd fmla="val 4653" name="adj"/>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3"/>
          <p:cNvSpPr/>
          <p:nvPr/>
        </p:nvSpPr>
        <p:spPr>
          <a:xfrm>
            <a:off x="1190053" y="4371963"/>
            <a:ext cx="307200" cy="303300"/>
          </a:xfrm>
          <a:prstGeom prst="smileyFace">
            <a:avLst>
              <a:gd fmla="val 4653" name="adj"/>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3"/>
          <p:cNvSpPr/>
          <p:nvPr/>
        </p:nvSpPr>
        <p:spPr>
          <a:xfrm>
            <a:off x="1823272" y="3928835"/>
            <a:ext cx="307200" cy="303300"/>
          </a:xfrm>
          <a:prstGeom prst="smileyFace">
            <a:avLst>
              <a:gd fmla="val 4653" name="adj"/>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3"/>
          <p:cNvSpPr/>
          <p:nvPr/>
        </p:nvSpPr>
        <p:spPr>
          <a:xfrm>
            <a:off x="1823272" y="4371963"/>
            <a:ext cx="307200" cy="303300"/>
          </a:xfrm>
          <a:prstGeom prst="smileyFace">
            <a:avLst>
              <a:gd fmla="val 4653" name="adj"/>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3"/>
          <p:cNvSpPr/>
          <p:nvPr/>
        </p:nvSpPr>
        <p:spPr>
          <a:xfrm>
            <a:off x="2456491" y="3928835"/>
            <a:ext cx="307200" cy="303300"/>
          </a:xfrm>
          <a:prstGeom prst="smileyFace">
            <a:avLst>
              <a:gd fmla="val 4653" name="adj"/>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3"/>
          <p:cNvSpPr/>
          <p:nvPr/>
        </p:nvSpPr>
        <p:spPr>
          <a:xfrm>
            <a:off x="2456491" y="4371963"/>
            <a:ext cx="307200" cy="303300"/>
          </a:xfrm>
          <a:prstGeom prst="smileyFace">
            <a:avLst>
              <a:gd fmla="val 4653" name="adj"/>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3"/>
          <p:cNvSpPr/>
          <p:nvPr/>
        </p:nvSpPr>
        <p:spPr>
          <a:xfrm>
            <a:off x="3722929" y="3928835"/>
            <a:ext cx="307200" cy="303300"/>
          </a:xfrm>
          <a:prstGeom prst="smileyFace">
            <a:avLst>
              <a:gd fmla="val 4653" name="adj"/>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3"/>
          <p:cNvSpPr/>
          <p:nvPr/>
        </p:nvSpPr>
        <p:spPr>
          <a:xfrm>
            <a:off x="3722929" y="4371963"/>
            <a:ext cx="307200" cy="303300"/>
          </a:xfrm>
          <a:prstGeom prst="smileyFace">
            <a:avLst>
              <a:gd fmla="val 4653" name="adj"/>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3"/>
          <p:cNvSpPr/>
          <p:nvPr/>
        </p:nvSpPr>
        <p:spPr>
          <a:xfrm>
            <a:off x="3089710" y="3928835"/>
            <a:ext cx="307200" cy="303300"/>
          </a:xfrm>
          <a:prstGeom prst="smileyFace">
            <a:avLst>
              <a:gd fmla="val 4653" name="adj"/>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3"/>
          <p:cNvSpPr/>
          <p:nvPr/>
        </p:nvSpPr>
        <p:spPr>
          <a:xfrm>
            <a:off x="3089710" y="4371963"/>
            <a:ext cx="307200" cy="303300"/>
          </a:xfrm>
          <a:prstGeom prst="smileyFace">
            <a:avLst>
              <a:gd fmla="val 4653" name="adj"/>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3"/>
          <p:cNvSpPr/>
          <p:nvPr/>
        </p:nvSpPr>
        <p:spPr>
          <a:xfrm>
            <a:off x="4989368" y="3928835"/>
            <a:ext cx="307200" cy="303300"/>
          </a:xfrm>
          <a:prstGeom prst="smileyFace">
            <a:avLst>
              <a:gd fmla="val 4653" name="adj"/>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3"/>
          <p:cNvSpPr/>
          <p:nvPr/>
        </p:nvSpPr>
        <p:spPr>
          <a:xfrm>
            <a:off x="4356149" y="3928835"/>
            <a:ext cx="307200" cy="303300"/>
          </a:xfrm>
          <a:prstGeom prst="smileyFace">
            <a:avLst>
              <a:gd fmla="val 4653" name="adj"/>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3"/>
          <p:cNvSpPr/>
          <p:nvPr/>
        </p:nvSpPr>
        <p:spPr>
          <a:xfrm>
            <a:off x="5622587" y="3928835"/>
            <a:ext cx="307200" cy="303300"/>
          </a:xfrm>
          <a:prstGeom prst="smileyFace">
            <a:avLst>
              <a:gd fmla="val 4653" name="adj"/>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3"/>
          <p:cNvSpPr/>
          <p:nvPr/>
        </p:nvSpPr>
        <p:spPr>
          <a:xfrm>
            <a:off x="4356149" y="4371951"/>
            <a:ext cx="307200" cy="303300"/>
          </a:xfrm>
          <a:prstGeom prst="smileyFace">
            <a:avLst>
              <a:gd fmla="val 4653" name="adj"/>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3"/>
          <p:cNvSpPr/>
          <p:nvPr/>
        </p:nvSpPr>
        <p:spPr>
          <a:xfrm>
            <a:off x="5622587" y="4371951"/>
            <a:ext cx="307200" cy="303300"/>
          </a:xfrm>
          <a:prstGeom prst="smileyFace">
            <a:avLst>
              <a:gd fmla="val 4653" name="adj"/>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3"/>
          <p:cNvSpPr/>
          <p:nvPr/>
        </p:nvSpPr>
        <p:spPr>
          <a:xfrm>
            <a:off x="4989368" y="4371951"/>
            <a:ext cx="307200" cy="303300"/>
          </a:xfrm>
          <a:prstGeom prst="smileyFace">
            <a:avLst>
              <a:gd fmla="val 4653" name="adj"/>
            </a:avLst>
          </a:prstGeom>
          <a:solidFill>
            <a:srgbClr val="4A86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3"/>
          <p:cNvSpPr txBox="1"/>
          <p:nvPr/>
        </p:nvSpPr>
        <p:spPr>
          <a:xfrm>
            <a:off x="224629" y="682980"/>
            <a:ext cx="791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Roboto"/>
                <a:ea typeface="Roboto"/>
                <a:cs typeface="Roboto"/>
                <a:sym typeface="Roboto"/>
              </a:rPr>
              <a:t>Patient A</a:t>
            </a:r>
            <a:endParaRPr i="1" sz="1200">
              <a:latin typeface="Roboto"/>
              <a:ea typeface="Roboto"/>
              <a:cs typeface="Roboto"/>
              <a:sym typeface="Roboto"/>
            </a:endParaRPr>
          </a:p>
        </p:txBody>
      </p:sp>
      <p:sp>
        <p:nvSpPr>
          <p:cNvPr id="110" name="Google Shape;110;p13"/>
          <p:cNvSpPr txBox="1"/>
          <p:nvPr/>
        </p:nvSpPr>
        <p:spPr>
          <a:xfrm>
            <a:off x="224629" y="1126108"/>
            <a:ext cx="791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Roboto"/>
                <a:ea typeface="Roboto"/>
                <a:cs typeface="Roboto"/>
                <a:sym typeface="Roboto"/>
              </a:rPr>
              <a:t>Patient B</a:t>
            </a:r>
            <a:endParaRPr i="1" sz="1200">
              <a:latin typeface="Roboto"/>
              <a:ea typeface="Roboto"/>
              <a:cs typeface="Roboto"/>
              <a:sym typeface="Roboto"/>
            </a:endParaRPr>
          </a:p>
        </p:txBody>
      </p:sp>
      <p:sp>
        <p:nvSpPr>
          <p:cNvPr id="111" name="Google Shape;111;p13"/>
          <p:cNvSpPr txBox="1"/>
          <p:nvPr/>
        </p:nvSpPr>
        <p:spPr>
          <a:xfrm>
            <a:off x="140180" y="2328331"/>
            <a:ext cx="791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Roboto"/>
                <a:ea typeface="Roboto"/>
                <a:cs typeface="Roboto"/>
                <a:sym typeface="Roboto"/>
              </a:rPr>
              <a:t>Patient A</a:t>
            </a:r>
            <a:endParaRPr i="1" sz="1200">
              <a:latin typeface="Roboto"/>
              <a:ea typeface="Roboto"/>
              <a:cs typeface="Roboto"/>
              <a:sym typeface="Roboto"/>
            </a:endParaRPr>
          </a:p>
        </p:txBody>
      </p:sp>
      <p:sp>
        <p:nvSpPr>
          <p:cNvPr id="112" name="Google Shape;112;p13"/>
          <p:cNvSpPr txBox="1"/>
          <p:nvPr/>
        </p:nvSpPr>
        <p:spPr>
          <a:xfrm>
            <a:off x="140180" y="2771459"/>
            <a:ext cx="791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Roboto"/>
                <a:ea typeface="Roboto"/>
                <a:cs typeface="Roboto"/>
                <a:sym typeface="Roboto"/>
              </a:rPr>
              <a:t>Patient B</a:t>
            </a:r>
            <a:endParaRPr i="1" sz="1200">
              <a:latin typeface="Roboto"/>
              <a:ea typeface="Roboto"/>
              <a:cs typeface="Roboto"/>
              <a:sym typeface="Roboto"/>
            </a:endParaRPr>
          </a:p>
        </p:txBody>
      </p:sp>
      <p:sp>
        <p:nvSpPr>
          <p:cNvPr id="113" name="Google Shape;113;p13"/>
          <p:cNvSpPr txBox="1"/>
          <p:nvPr/>
        </p:nvSpPr>
        <p:spPr>
          <a:xfrm>
            <a:off x="140180" y="3928835"/>
            <a:ext cx="791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Roboto"/>
                <a:ea typeface="Roboto"/>
                <a:cs typeface="Roboto"/>
                <a:sym typeface="Roboto"/>
              </a:rPr>
              <a:t>Patient A</a:t>
            </a:r>
            <a:endParaRPr i="1" sz="1200">
              <a:latin typeface="Roboto"/>
              <a:ea typeface="Roboto"/>
              <a:cs typeface="Roboto"/>
              <a:sym typeface="Roboto"/>
            </a:endParaRPr>
          </a:p>
        </p:txBody>
      </p:sp>
      <p:sp>
        <p:nvSpPr>
          <p:cNvPr id="114" name="Google Shape;114;p13"/>
          <p:cNvSpPr txBox="1"/>
          <p:nvPr/>
        </p:nvSpPr>
        <p:spPr>
          <a:xfrm>
            <a:off x="140180" y="4371963"/>
            <a:ext cx="791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Roboto"/>
                <a:ea typeface="Roboto"/>
                <a:cs typeface="Roboto"/>
                <a:sym typeface="Roboto"/>
              </a:rPr>
              <a:t>Patient B</a:t>
            </a:r>
            <a:endParaRPr i="1" sz="1200">
              <a:latin typeface="Roboto"/>
              <a:ea typeface="Roboto"/>
              <a:cs typeface="Roboto"/>
              <a:sym typeface="Roboto"/>
            </a:endParaRPr>
          </a:p>
        </p:txBody>
      </p:sp>
      <p:cxnSp>
        <p:nvCxnSpPr>
          <p:cNvPr id="115" name="Google Shape;115;p13"/>
          <p:cNvCxnSpPr/>
          <p:nvPr/>
        </p:nvCxnSpPr>
        <p:spPr>
          <a:xfrm flipH="1">
            <a:off x="2198110" y="548945"/>
            <a:ext cx="222900" cy="116700"/>
          </a:xfrm>
          <a:prstGeom prst="straightConnector1">
            <a:avLst/>
          </a:prstGeom>
          <a:noFill/>
          <a:ln cap="flat" cmpd="sng" w="19050">
            <a:solidFill>
              <a:srgbClr val="CC0000"/>
            </a:solidFill>
            <a:prstDash val="solid"/>
            <a:round/>
            <a:headEnd len="med" w="med" type="none"/>
            <a:tailEnd len="med" w="med" type="triangle"/>
          </a:ln>
        </p:spPr>
      </p:cxnSp>
      <p:sp>
        <p:nvSpPr>
          <p:cNvPr id="116" name="Google Shape;116;p13"/>
          <p:cNvSpPr txBox="1"/>
          <p:nvPr/>
        </p:nvSpPr>
        <p:spPr>
          <a:xfrm>
            <a:off x="2360493" y="337824"/>
            <a:ext cx="2533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rgbClr val="CC0000"/>
                </a:solidFill>
                <a:latin typeface="Roboto"/>
                <a:ea typeface="Roboto"/>
                <a:cs typeface="Roboto"/>
                <a:sym typeface="Roboto"/>
              </a:rPr>
              <a:t>Patient A meets severe hypoxia criteria</a:t>
            </a:r>
            <a:endParaRPr b="1" i="1" sz="1000">
              <a:solidFill>
                <a:srgbClr val="CC0000"/>
              </a:solidFill>
              <a:latin typeface="Roboto"/>
              <a:ea typeface="Roboto"/>
              <a:cs typeface="Roboto"/>
              <a:sym typeface="Roboto"/>
            </a:endParaRPr>
          </a:p>
        </p:txBody>
      </p:sp>
      <p:sp>
        <p:nvSpPr>
          <p:cNvPr id="117" name="Google Shape;117;p13"/>
          <p:cNvSpPr/>
          <p:nvPr/>
        </p:nvSpPr>
        <p:spPr>
          <a:xfrm>
            <a:off x="6337092" y="162800"/>
            <a:ext cx="2196300" cy="1446000"/>
          </a:xfrm>
          <a:prstGeom prst="roundRect">
            <a:avLst>
              <a:gd fmla="val 16667" name="adj"/>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3"/>
          <p:cNvSpPr/>
          <p:nvPr/>
        </p:nvSpPr>
        <p:spPr>
          <a:xfrm>
            <a:off x="6471146" y="1165616"/>
            <a:ext cx="307200" cy="303300"/>
          </a:xfrm>
          <a:prstGeom prst="smileyFace">
            <a:avLst>
              <a:gd fmla="val 4653" name="adj"/>
            </a:avLst>
          </a:prstGeom>
          <a:solidFill>
            <a:srgbClr val="FFD9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3"/>
          <p:cNvSpPr/>
          <p:nvPr/>
        </p:nvSpPr>
        <p:spPr>
          <a:xfrm>
            <a:off x="6471146" y="715227"/>
            <a:ext cx="307200" cy="303300"/>
          </a:xfrm>
          <a:prstGeom prst="smileyFace">
            <a:avLst>
              <a:gd fmla="val 4653" name="adj"/>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3"/>
          <p:cNvSpPr txBox="1"/>
          <p:nvPr/>
        </p:nvSpPr>
        <p:spPr>
          <a:xfrm>
            <a:off x="6882282" y="631002"/>
            <a:ext cx="165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No corticosteroids</a:t>
            </a:r>
            <a:endParaRPr>
              <a:latin typeface="Roboto"/>
              <a:ea typeface="Roboto"/>
              <a:cs typeface="Roboto"/>
              <a:sym typeface="Roboto"/>
            </a:endParaRPr>
          </a:p>
        </p:txBody>
      </p:sp>
      <p:sp>
        <p:nvSpPr>
          <p:cNvPr id="121" name="Google Shape;121;p13"/>
          <p:cNvSpPr txBox="1"/>
          <p:nvPr/>
        </p:nvSpPr>
        <p:spPr>
          <a:xfrm>
            <a:off x="6882282" y="1081391"/>
            <a:ext cx="165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Corticosteroids</a:t>
            </a:r>
            <a:endParaRPr>
              <a:latin typeface="Roboto"/>
              <a:ea typeface="Roboto"/>
              <a:cs typeface="Roboto"/>
              <a:sym typeface="Roboto"/>
            </a:endParaRPr>
          </a:p>
        </p:txBody>
      </p:sp>
      <p:sp>
        <p:nvSpPr>
          <p:cNvPr id="122" name="Google Shape;122;p13"/>
          <p:cNvSpPr txBox="1"/>
          <p:nvPr/>
        </p:nvSpPr>
        <p:spPr>
          <a:xfrm>
            <a:off x="6463569" y="237707"/>
            <a:ext cx="189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a:latin typeface="Roboto"/>
                <a:ea typeface="Roboto"/>
                <a:cs typeface="Roboto"/>
                <a:sym typeface="Roboto"/>
              </a:rPr>
              <a:t>Exposure:</a:t>
            </a:r>
            <a:endParaRPr b="1" i="1">
              <a:latin typeface="Roboto"/>
              <a:ea typeface="Roboto"/>
              <a:cs typeface="Roboto"/>
              <a:sym typeface="Roboto"/>
            </a:endParaRPr>
          </a:p>
        </p:txBody>
      </p:sp>
      <p:sp>
        <p:nvSpPr>
          <p:cNvPr id="123" name="Google Shape;123;p13"/>
          <p:cNvSpPr txBox="1"/>
          <p:nvPr/>
        </p:nvSpPr>
        <p:spPr>
          <a:xfrm>
            <a:off x="408200" y="4802400"/>
            <a:ext cx="1091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200">
                <a:latin typeface="Roboto"/>
                <a:ea typeface="Roboto"/>
                <a:cs typeface="Roboto"/>
                <a:sym typeface="Roboto"/>
              </a:rPr>
              <a:t>Study day</a:t>
            </a:r>
            <a:endParaRPr b="1" i="1" sz="1200">
              <a:latin typeface="Roboto"/>
              <a:ea typeface="Roboto"/>
              <a:cs typeface="Roboto"/>
              <a:sym typeface="Roboto"/>
            </a:endParaRPr>
          </a:p>
        </p:txBody>
      </p:sp>
      <p:cxnSp>
        <p:nvCxnSpPr>
          <p:cNvPr id="124" name="Google Shape;124;p13"/>
          <p:cNvCxnSpPr/>
          <p:nvPr/>
        </p:nvCxnSpPr>
        <p:spPr>
          <a:xfrm>
            <a:off x="1258900" y="4983150"/>
            <a:ext cx="4673700" cy="7800"/>
          </a:xfrm>
          <a:prstGeom prst="straightConnector1">
            <a:avLst/>
          </a:prstGeom>
          <a:noFill/>
          <a:ln cap="flat" cmpd="sng" w="19050">
            <a:solidFill>
              <a:schemeClr val="dk1"/>
            </a:solidFill>
            <a:prstDash val="solid"/>
            <a:round/>
            <a:headEnd len="med" w="med" type="none"/>
            <a:tailEnd len="med" w="med" type="triangle"/>
          </a:ln>
        </p:spPr>
      </p:cxnSp>
      <p:cxnSp>
        <p:nvCxnSpPr>
          <p:cNvPr id="125" name="Google Shape;125;p13"/>
          <p:cNvCxnSpPr>
            <a:stCxn id="52" idx="3"/>
          </p:cNvCxnSpPr>
          <p:nvPr/>
        </p:nvCxnSpPr>
        <p:spPr>
          <a:xfrm>
            <a:off x="6083825" y="2409350"/>
            <a:ext cx="742800" cy="1614600"/>
          </a:xfrm>
          <a:prstGeom prst="bentConnector2">
            <a:avLst/>
          </a:prstGeom>
          <a:noFill/>
          <a:ln cap="flat" cmpd="sng" w="19050">
            <a:solidFill>
              <a:srgbClr val="CC0000"/>
            </a:solidFill>
            <a:prstDash val="solid"/>
            <a:round/>
            <a:headEnd len="med" w="med" type="diamond"/>
            <a:tailEnd len="med" w="med" type="none"/>
          </a:ln>
        </p:spPr>
      </p:cxnSp>
      <p:cxnSp>
        <p:nvCxnSpPr>
          <p:cNvPr id="126" name="Google Shape;126;p13"/>
          <p:cNvCxnSpPr>
            <a:endCxn id="51" idx="3"/>
          </p:cNvCxnSpPr>
          <p:nvPr/>
        </p:nvCxnSpPr>
        <p:spPr>
          <a:xfrm rot="10800000">
            <a:off x="6083825" y="4009104"/>
            <a:ext cx="742800" cy="0"/>
          </a:xfrm>
          <a:prstGeom prst="straightConnector1">
            <a:avLst/>
          </a:prstGeom>
          <a:noFill/>
          <a:ln cap="flat" cmpd="sng" w="19050">
            <a:solidFill>
              <a:srgbClr val="CC0000"/>
            </a:solidFill>
            <a:prstDash val="solid"/>
            <a:round/>
            <a:headEnd len="med" w="med" type="none"/>
            <a:tailEnd len="med" w="med" type="diamond"/>
          </a:ln>
        </p:spPr>
      </p:cxnSp>
      <p:sp>
        <p:nvSpPr>
          <p:cNvPr id="127" name="Google Shape;127;p13"/>
          <p:cNvSpPr txBox="1"/>
          <p:nvPr/>
        </p:nvSpPr>
        <p:spPr>
          <a:xfrm>
            <a:off x="6826625" y="2571750"/>
            <a:ext cx="1949400" cy="132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a:solidFill>
                  <a:srgbClr val="CC0000"/>
                </a:solidFill>
                <a:latin typeface="Roboto"/>
                <a:ea typeface="Roboto"/>
                <a:cs typeface="Roboto"/>
                <a:sym typeface="Roboto"/>
              </a:rPr>
              <a:t>Estimand:</a:t>
            </a:r>
            <a:endParaRPr b="1" i="1">
              <a:solidFill>
                <a:srgbClr val="CC0000"/>
              </a:solidFill>
              <a:latin typeface="Roboto"/>
              <a:ea typeface="Roboto"/>
              <a:cs typeface="Roboto"/>
              <a:sym typeface="Roboto"/>
            </a:endParaRPr>
          </a:p>
          <a:p>
            <a:pPr indent="0" lvl="0" marL="0" rtl="0" algn="l">
              <a:spcBef>
                <a:spcPts val="0"/>
              </a:spcBef>
              <a:spcAft>
                <a:spcPts val="0"/>
              </a:spcAft>
              <a:buNone/>
            </a:pPr>
            <a:r>
              <a:rPr lang="en" sz="1200">
                <a:solidFill>
                  <a:srgbClr val="CC0000"/>
                </a:solidFill>
                <a:latin typeface="Roboto"/>
                <a:ea typeface="Roboto"/>
                <a:cs typeface="Roboto"/>
                <a:sym typeface="Roboto"/>
              </a:rPr>
              <a:t>Difference in 28-day mortality rates between</a:t>
            </a:r>
            <a:endParaRPr sz="1200">
              <a:solidFill>
                <a:srgbClr val="CC0000"/>
              </a:solidFill>
              <a:latin typeface="Roboto"/>
              <a:ea typeface="Roboto"/>
              <a:cs typeface="Roboto"/>
              <a:sym typeface="Roboto"/>
            </a:endParaRPr>
          </a:p>
          <a:p>
            <a:pPr indent="0" lvl="0" marL="0" rtl="0" algn="l">
              <a:spcBef>
                <a:spcPts val="0"/>
              </a:spcBef>
              <a:spcAft>
                <a:spcPts val="0"/>
              </a:spcAft>
              <a:buNone/>
            </a:pPr>
            <a:r>
              <a:rPr lang="en" sz="1200">
                <a:solidFill>
                  <a:srgbClr val="CC0000"/>
                </a:solidFill>
                <a:latin typeface="Roboto"/>
                <a:ea typeface="Roboto"/>
                <a:cs typeface="Roboto"/>
                <a:sym typeface="Roboto"/>
              </a:rPr>
              <a:t>Hypothetical Intervention #1 and Hypothetical Intervention #2</a:t>
            </a:r>
            <a:endParaRPr sz="1200">
              <a:solidFill>
                <a:srgbClr val="CC0000"/>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4"/>
          <p:cNvSpPr txBox="1"/>
          <p:nvPr/>
        </p:nvSpPr>
        <p:spPr>
          <a:xfrm>
            <a:off x="836975" y="1440950"/>
            <a:ext cx="352500" cy="400200"/>
          </a:xfrm>
          <a:prstGeom prst="rect">
            <a:avLst/>
          </a:prstGeom>
          <a:solidFill>
            <a:srgbClr val="74AAFF"/>
          </a:solidFill>
          <a:ln cap="flat" cmpd="sng" w="2857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L</a:t>
            </a:r>
            <a:r>
              <a:rPr b="1" baseline="-25000" lang="en">
                <a:latin typeface="Roboto"/>
                <a:ea typeface="Roboto"/>
                <a:cs typeface="Roboto"/>
                <a:sym typeface="Roboto"/>
              </a:rPr>
              <a:t>0</a:t>
            </a:r>
            <a:endParaRPr b="1" baseline="-25000">
              <a:latin typeface="Roboto"/>
              <a:ea typeface="Roboto"/>
              <a:cs typeface="Roboto"/>
              <a:sym typeface="Roboto"/>
            </a:endParaRPr>
          </a:p>
        </p:txBody>
      </p:sp>
      <p:sp>
        <p:nvSpPr>
          <p:cNvPr id="133" name="Google Shape;133;p14"/>
          <p:cNvSpPr txBox="1"/>
          <p:nvPr/>
        </p:nvSpPr>
        <p:spPr>
          <a:xfrm>
            <a:off x="1454300" y="730025"/>
            <a:ext cx="352500" cy="400200"/>
          </a:xfrm>
          <a:prstGeom prst="rect">
            <a:avLst/>
          </a:prstGeom>
          <a:solidFill>
            <a:srgbClr val="E06666"/>
          </a:solidFill>
          <a:ln cap="flat" cmpd="sng" w="2857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Y</a:t>
            </a:r>
            <a:r>
              <a:rPr b="1" baseline="-25000" lang="en">
                <a:solidFill>
                  <a:srgbClr val="000000"/>
                </a:solidFill>
                <a:latin typeface="Roboto"/>
                <a:ea typeface="Roboto"/>
                <a:cs typeface="Roboto"/>
                <a:sym typeface="Roboto"/>
              </a:rPr>
              <a:t>1</a:t>
            </a:r>
            <a:endParaRPr>
              <a:latin typeface="Roboto"/>
              <a:ea typeface="Roboto"/>
              <a:cs typeface="Roboto"/>
              <a:sym typeface="Roboto"/>
            </a:endParaRPr>
          </a:p>
        </p:txBody>
      </p:sp>
      <p:sp>
        <p:nvSpPr>
          <p:cNvPr id="134" name="Google Shape;134;p14"/>
          <p:cNvSpPr txBox="1"/>
          <p:nvPr/>
        </p:nvSpPr>
        <p:spPr>
          <a:xfrm>
            <a:off x="1189484" y="2339250"/>
            <a:ext cx="390000" cy="400200"/>
          </a:xfrm>
          <a:prstGeom prst="rect">
            <a:avLst/>
          </a:prstGeom>
          <a:solidFill>
            <a:srgbClr val="FFD966"/>
          </a:solidFill>
          <a:ln cap="flat" cmpd="sng" w="2857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A</a:t>
            </a:r>
            <a:r>
              <a:rPr b="1" baseline="-25000" lang="en">
                <a:solidFill>
                  <a:srgbClr val="000000"/>
                </a:solidFill>
                <a:latin typeface="Roboto"/>
                <a:ea typeface="Roboto"/>
                <a:cs typeface="Roboto"/>
                <a:sym typeface="Roboto"/>
              </a:rPr>
              <a:t>0</a:t>
            </a:r>
            <a:endParaRPr>
              <a:latin typeface="Roboto"/>
              <a:ea typeface="Roboto"/>
              <a:cs typeface="Roboto"/>
              <a:sym typeface="Roboto"/>
            </a:endParaRPr>
          </a:p>
        </p:txBody>
      </p:sp>
      <p:cxnSp>
        <p:nvCxnSpPr>
          <p:cNvPr id="135" name="Google Shape;135;p14"/>
          <p:cNvCxnSpPr>
            <a:stCxn id="132" idx="0"/>
            <a:endCxn id="133" idx="1"/>
          </p:cNvCxnSpPr>
          <p:nvPr/>
        </p:nvCxnSpPr>
        <p:spPr>
          <a:xfrm flipH="1" rot="10800000">
            <a:off x="1013225" y="930050"/>
            <a:ext cx="441000" cy="510900"/>
          </a:xfrm>
          <a:prstGeom prst="straightConnector1">
            <a:avLst/>
          </a:prstGeom>
          <a:noFill/>
          <a:ln cap="flat" cmpd="sng" w="19050">
            <a:solidFill>
              <a:srgbClr val="000000"/>
            </a:solidFill>
            <a:prstDash val="solid"/>
            <a:round/>
            <a:headEnd len="med" w="med" type="none"/>
            <a:tailEnd len="med" w="med" type="triangle"/>
          </a:ln>
        </p:spPr>
      </p:cxnSp>
      <p:cxnSp>
        <p:nvCxnSpPr>
          <p:cNvPr id="136" name="Google Shape;136;p14"/>
          <p:cNvCxnSpPr>
            <a:endCxn id="134" idx="0"/>
          </p:cNvCxnSpPr>
          <p:nvPr/>
        </p:nvCxnSpPr>
        <p:spPr>
          <a:xfrm>
            <a:off x="1001984" y="1854150"/>
            <a:ext cx="382500" cy="485100"/>
          </a:xfrm>
          <a:prstGeom prst="straightConnector1">
            <a:avLst/>
          </a:prstGeom>
          <a:noFill/>
          <a:ln cap="flat" cmpd="sng" w="19050">
            <a:solidFill>
              <a:srgbClr val="000000"/>
            </a:solidFill>
            <a:prstDash val="solid"/>
            <a:round/>
            <a:headEnd len="med" w="med" type="none"/>
            <a:tailEnd len="med" w="med" type="triangle"/>
          </a:ln>
        </p:spPr>
      </p:cxnSp>
      <p:cxnSp>
        <p:nvCxnSpPr>
          <p:cNvPr id="137" name="Google Shape;137;p14"/>
          <p:cNvCxnSpPr>
            <a:stCxn id="134" idx="0"/>
            <a:endCxn id="133" idx="2"/>
          </p:cNvCxnSpPr>
          <p:nvPr/>
        </p:nvCxnSpPr>
        <p:spPr>
          <a:xfrm flipH="1" rot="10800000">
            <a:off x="1384484" y="1130250"/>
            <a:ext cx="246000" cy="1209000"/>
          </a:xfrm>
          <a:prstGeom prst="straightConnector1">
            <a:avLst/>
          </a:prstGeom>
          <a:noFill/>
          <a:ln cap="flat" cmpd="sng" w="19050">
            <a:solidFill>
              <a:srgbClr val="000000"/>
            </a:solidFill>
            <a:prstDash val="solid"/>
            <a:round/>
            <a:headEnd len="med" w="med" type="none"/>
            <a:tailEnd len="med" w="med" type="triangle"/>
          </a:ln>
        </p:spPr>
      </p:cxnSp>
      <p:sp>
        <p:nvSpPr>
          <p:cNvPr id="138" name="Google Shape;138;p14"/>
          <p:cNvSpPr txBox="1"/>
          <p:nvPr/>
        </p:nvSpPr>
        <p:spPr>
          <a:xfrm>
            <a:off x="1923900" y="1440963"/>
            <a:ext cx="352500" cy="400200"/>
          </a:xfrm>
          <a:prstGeom prst="rect">
            <a:avLst/>
          </a:prstGeom>
          <a:solidFill>
            <a:srgbClr val="74AAFF"/>
          </a:solidFill>
          <a:ln cap="flat" cmpd="sng" w="2857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L</a:t>
            </a:r>
            <a:r>
              <a:rPr b="1" baseline="-25000" lang="en">
                <a:latin typeface="Roboto"/>
                <a:ea typeface="Roboto"/>
                <a:cs typeface="Roboto"/>
                <a:sym typeface="Roboto"/>
              </a:rPr>
              <a:t>1</a:t>
            </a:r>
            <a:endParaRPr b="1" baseline="-25000">
              <a:latin typeface="Roboto"/>
              <a:ea typeface="Roboto"/>
              <a:cs typeface="Roboto"/>
              <a:sym typeface="Roboto"/>
            </a:endParaRPr>
          </a:p>
        </p:txBody>
      </p:sp>
      <p:sp>
        <p:nvSpPr>
          <p:cNvPr id="139" name="Google Shape;139;p14"/>
          <p:cNvSpPr txBox="1"/>
          <p:nvPr/>
        </p:nvSpPr>
        <p:spPr>
          <a:xfrm>
            <a:off x="2541225" y="730038"/>
            <a:ext cx="352500" cy="400200"/>
          </a:xfrm>
          <a:prstGeom prst="rect">
            <a:avLst/>
          </a:prstGeom>
          <a:solidFill>
            <a:srgbClr val="E06666"/>
          </a:solidFill>
          <a:ln cap="flat" cmpd="sng" w="2857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Y</a:t>
            </a:r>
            <a:r>
              <a:rPr b="1" baseline="-25000" lang="en">
                <a:solidFill>
                  <a:srgbClr val="000000"/>
                </a:solidFill>
                <a:latin typeface="Roboto"/>
                <a:ea typeface="Roboto"/>
                <a:cs typeface="Roboto"/>
                <a:sym typeface="Roboto"/>
              </a:rPr>
              <a:t>2</a:t>
            </a:r>
            <a:endParaRPr>
              <a:latin typeface="Roboto"/>
              <a:ea typeface="Roboto"/>
              <a:cs typeface="Roboto"/>
              <a:sym typeface="Roboto"/>
            </a:endParaRPr>
          </a:p>
        </p:txBody>
      </p:sp>
      <p:sp>
        <p:nvSpPr>
          <p:cNvPr id="140" name="Google Shape;140;p14"/>
          <p:cNvSpPr txBox="1"/>
          <p:nvPr/>
        </p:nvSpPr>
        <p:spPr>
          <a:xfrm>
            <a:off x="2276409" y="2339263"/>
            <a:ext cx="390000" cy="400200"/>
          </a:xfrm>
          <a:prstGeom prst="rect">
            <a:avLst/>
          </a:prstGeom>
          <a:solidFill>
            <a:srgbClr val="FFD966"/>
          </a:solidFill>
          <a:ln cap="flat" cmpd="sng" w="2857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A</a:t>
            </a:r>
            <a:r>
              <a:rPr b="1" baseline="-25000" lang="en">
                <a:solidFill>
                  <a:srgbClr val="000000"/>
                </a:solidFill>
                <a:latin typeface="Roboto"/>
                <a:ea typeface="Roboto"/>
                <a:cs typeface="Roboto"/>
                <a:sym typeface="Roboto"/>
              </a:rPr>
              <a:t>1</a:t>
            </a:r>
            <a:endParaRPr>
              <a:latin typeface="Roboto"/>
              <a:ea typeface="Roboto"/>
              <a:cs typeface="Roboto"/>
              <a:sym typeface="Roboto"/>
            </a:endParaRPr>
          </a:p>
        </p:txBody>
      </p:sp>
      <p:cxnSp>
        <p:nvCxnSpPr>
          <p:cNvPr id="141" name="Google Shape;141;p14"/>
          <p:cNvCxnSpPr>
            <a:stCxn id="138" idx="0"/>
            <a:endCxn id="139" idx="1"/>
          </p:cNvCxnSpPr>
          <p:nvPr/>
        </p:nvCxnSpPr>
        <p:spPr>
          <a:xfrm flipH="1" rot="10800000">
            <a:off x="2100150" y="930063"/>
            <a:ext cx="441000" cy="510900"/>
          </a:xfrm>
          <a:prstGeom prst="straightConnector1">
            <a:avLst/>
          </a:prstGeom>
          <a:noFill/>
          <a:ln cap="flat" cmpd="sng" w="19050">
            <a:solidFill>
              <a:srgbClr val="000000"/>
            </a:solidFill>
            <a:prstDash val="solid"/>
            <a:round/>
            <a:headEnd len="med" w="med" type="none"/>
            <a:tailEnd len="med" w="med" type="triangle"/>
          </a:ln>
        </p:spPr>
      </p:cxnSp>
      <p:cxnSp>
        <p:nvCxnSpPr>
          <p:cNvPr id="142" name="Google Shape;142;p14"/>
          <p:cNvCxnSpPr>
            <a:endCxn id="140" idx="0"/>
          </p:cNvCxnSpPr>
          <p:nvPr/>
        </p:nvCxnSpPr>
        <p:spPr>
          <a:xfrm>
            <a:off x="2088909" y="1854163"/>
            <a:ext cx="382500" cy="485100"/>
          </a:xfrm>
          <a:prstGeom prst="straightConnector1">
            <a:avLst/>
          </a:prstGeom>
          <a:noFill/>
          <a:ln cap="flat" cmpd="sng" w="19050">
            <a:solidFill>
              <a:srgbClr val="000000"/>
            </a:solidFill>
            <a:prstDash val="solid"/>
            <a:round/>
            <a:headEnd len="med" w="med" type="none"/>
            <a:tailEnd len="med" w="med" type="triangle"/>
          </a:ln>
        </p:spPr>
      </p:cxnSp>
      <p:cxnSp>
        <p:nvCxnSpPr>
          <p:cNvPr id="143" name="Google Shape;143;p14"/>
          <p:cNvCxnSpPr>
            <a:stCxn id="140" idx="0"/>
            <a:endCxn id="139" idx="2"/>
          </p:cNvCxnSpPr>
          <p:nvPr/>
        </p:nvCxnSpPr>
        <p:spPr>
          <a:xfrm flipH="1" rot="10800000">
            <a:off x="2471409" y="1130263"/>
            <a:ext cx="246000" cy="1209000"/>
          </a:xfrm>
          <a:prstGeom prst="straightConnector1">
            <a:avLst/>
          </a:prstGeom>
          <a:noFill/>
          <a:ln cap="flat" cmpd="sng" w="19050">
            <a:solidFill>
              <a:srgbClr val="000000"/>
            </a:solidFill>
            <a:prstDash val="solid"/>
            <a:round/>
            <a:headEnd len="med" w="med" type="none"/>
            <a:tailEnd len="med" w="med" type="triangle"/>
          </a:ln>
        </p:spPr>
      </p:cxnSp>
      <p:cxnSp>
        <p:nvCxnSpPr>
          <p:cNvPr id="144" name="Google Shape;144;p14"/>
          <p:cNvCxnSpPr>
            <a:stCxn id="132" idx="3"/>
            <a:endCxn id="138" idx="1"/>
          </p:cNvCxnSpPr>
          <p:nvPr/>
        </p:nvCxnSpPr>
        <p:spPr>
          <a:xfrm>
            <a:off x="1189475" y="1641050"/>
            <a:ext cx="734400" cy="0"/>
          </a:xfrm>
          <a:prstGeom prst="straightConnector1">
            <a:avLst/>
          </a:prstGeom>
          <a:noFill/>
          <a:ln cap="flat" cmpd="sng" w="19050">
            <a:solidFill>
              <a:srgbClr val="000000"/>
            </a:solidFill>
            <a:prstDash val="solid"/>
            <a:round/>
            <a:headEnd len="med" w="med" type="none"/>
            <a:tailEnd len="med" w="med" type="triangle"/>
          </a:ln>
        </p:spPr>
      </p:cxnSp>
      <p:cxnSp>
        <p:nvCxnSpPr>
          <p:cNvPr id="145" name="Google Shape;145;p14"/>
          <p:cNvCxnSpPr>
            <a:endCxn id="140" idx="1"/>
          </p:cNvCxnSpPr>
          <p:nvPr/>
        </p:nvCxnSpPr>
        <p:spPr>
          <a:xfrm>
            <a:off x="1579509" y="2539363"/>
            <a:ext cx="696900" cy="0"/>
          </a:xfrm>
          <a:prstGeom prst="straightConnector1">
            <a:avLst/>
          </a:prstGeom>
          <a:noFill/>
          <a:ln cap="flat" cmpd="sng" w="19050">
            <a:solidFill>
              <a:srgbClr val="000000"/>
            </a:solidFill>
            <a:prstDash val="solid"/>
            <a:round/>
            <a:headEnd len="med" w="med" type="none"/>
            <a:tailEnd len="med" w="med" type="triangle"/>
          </a:ln>
        </p:spPr>
      </p:cxnSp>
      <p:cxnSp>
        <p:nvCxnSpPr>
          <p:cNvPr id="146" name="Google Shape;146;p14"/>
          <p:cNvCxnSpPr>
            <a:endCxn id="139" idx="1"/>
          </p:cNvCxnSpPr>
          <p:nvPr/>
        </p:nvCxnSpPr>
        <p:spPr>
          <a:xfrm flipH="1" rot="10800000">
            <a:off x="1806825" y="930138"/>
            <a:ext cx="734400" cy="12600"/>
          </a:xfrm>
          <a:prstGeom prst="straightConnector1">
            <a:avLst/>
          </a:prstGeom>
          <a:noFill/>
          <a:ln cap="flat" cmpd="sng" w="19050">
            <a:solidFill>
              <a:srgbClr val="000000"/>
            </a:solidFill>
            <a:prstDash val="solid"/>
            <a:round/>
            <a:headEnd len="med" w="med" type="none"/>
            <a:tailEnd len="med" w="med" type="triangle"/>
          </a:ln>
        </p:spPr>
      </p:cxnSp>
      <p:sp>
        <p:nvSpPr>
          <p:cNvPr id="147" name="Google Shape;147;p14"/>
          <p:cNvSpPr txBox="1"/>
          <p:nvPr/>
        </p:nvSpPr>
        <p:spPr>
          <a:xfrm>
            <a:off x="3999325" y="730050"/>
            <a:ext cx="496200" cy="400200"/>
          </a:xfrm>
          <a:prstGeom prst="rect">
            <a:avLst/>
          </a:prstGeom>
          <a:solidFill>
            <a:srgbClr val="E06666"/>
          </a:solidFill>
          <a:ln cap="flat" cmpd="sng" w="2857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Y</a:t>
            </a:r>
            <a:r>
              <a:rPr b="1" baseline="-25000" lang="en">
                <a:solidFill>
                  <a:srgbClr val="000000"/>
                </a:solidFill>
                <a:latin typeface="Roboto"/>
                <a:ea typeface="Roboto"/>
                <a:cs typeface="Roboto"/>
                <a:sym typeface="Roboto"/>
              </a:rPr>
              <a:t>28</a:t>
            </a:r>
            <a:endParaRPr>
              <a:latin typeface="Roboto"/>
              <a:ea typeface="Roboto"/>
              <a:cs typeface="Roboto"/>
              <a:sym typeface="Roboto"/>
            </a:endParaRPr>
          </a:p>
        </p:txBody>
      </p:sp>
      <p:sp>
        <p:nvSpPr>
          <p:cNvPr id="148" name="Google Shape;148;p14"/>
          <p:cNvSpPr txBox="1"/>
          <p:nvPr/>
        </p:nvSpPr>
        <p:spPr>
          <a:xfrm>
            <a:off x="3734500" y="2339275"/>
            <a:ext cx="496200" cy="400200"/>
          </a:xfrm>
          <a:prstGeom prst="rect">
            <a:avLst/>
          </a:prstGeom>
          <a:solidFill>
            <a:srgbClr val="FFD966"/>
          </a:solidFill>
          <a:ln cap="flat" cmpd="sng" w="2857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A</a:t>
            </a:r>
            <a:r>
              <a:rPr b="1" baseline="-25000" i="1" lang="en">
                <a:solidFill>
                  <a:srgbClr val="000000"/>
                </a:solidFill>
                <a:latin typeface="Roboto"/>
                <a:ea typeface="Roboto"/>
                <a:cs typeface="Roboto"/>
                <a:sym typeface="Roboto"/>
              </a:rPr>
              <a:t>27</a:t>
            </a:r>
            <a:endParaRPr i="1">
              <a:latin typeface="Roboto"/>
              <a:ea typeface="Roboto"/>
              <a:cs typeface="Roboto"/>
              <a:sym typeface="Roboto"/>
            </a:endParaRPr>
          </a:p>
        </p:txBody>
      </p:sp>
      <p:cxnSp>
        <p:nvCxnSpPr>
          <p:cNvPr id="149" name="Google Shape;149;p14"/>
          <p:cNvCxnSpPr>
            <a:endCxn id="147" idx="1"/>
          </p:cNvCxnSpPr>
          <p:nvPr/>
        </p:nvCxnSpPr>
        <p:spPr>
          <a:xfrm flipH="1" rot="10800000">
            <a:off x="3558325" y="930150"/>
            <a:ext cx="441000" cy="510900"/>
          </a:xfrm>
          <a:prstGeom prst="straightConnector1">
            <a:avLst/>
          </a:prstGeom>
          <a:noFill/>
          <a:ln cap="flat" cmpd="sng" w="19050">
            <a:solidFill>
              <a:srgbClr val="000000"/>
            </a:solidFill>
            <a:prstDash val="solid"/>
            <a:round/>
            <a:headEnd len="med" w="med" type="none"/>
            <a:tailEnd len="med" w="med" type="triangle"/>
          </a:ln>
        </p:spPr>
      </p:cxnSp>
      <p:cxnSp>
        <p:nvCxnSpPr>
          <p:cNvPr id="150" name="Google Shape;150;p14"/>
          <p:cNvCxnSpPr>
            <a:stCxn id="151" idx="2"/>
            <a:endCxn id="148" idx="0"/>
          </p:cNvCxnSpPr>
          <p:nvPr/>
        </p:nvCxnSpPr>
        <p:spPr>
          <a:xfrm>
            <a:off x="3528325" y="1841175"/>
            <a:ext cx="454200" cy="498000"/>
          </a:xfrm>
          <a:prstGeom prst="straightConnector1">
            <a:avLst/>
          </a:prstGeom>
          <a:noFill/>
          <a:ln cap="flat" cmpd="sng" w="19050">
            <a:solidFill>
              <a:srgbClr val="000000"/>
            </a:solidFill>
            <a:prstDash val="solid"/>
            <a:round/>
            <a:headEnd len="med" w="med" type="none"/>
            <a:tailEnd len="med" w="med" type="triangle"/>
          </a:ln>
        </p:spPr>
      </p:cxnSp>
      <p:cxnSp>
        <p:nvCxnSpPr>
          <p:cNvPr id="152" name="Google Shape;152;p14"/>
          <p:cNvCxnSpPr>
            <a:stCxn id="148" idx="0"/>
            <a:endCxn id="147" idx="2"/>
          </p:cNvCxnSpPr>
          <p:nvPr/>
        </p:nvCxnSpPr>
        <p:spPr>
          <a:xfrm flipH="1" rot="10800000">
            <a:off x="3982600" y="1130275"/>
            <a:ext cx="264900" cy="1209000"/>
          </a:xfrm>
          <a:prstGeom prst="straightConnector1">
            <a:avLst/>
          </a:prstGeom>
          <a:noFill/>
          <a:ln cap="flat" cmpd="sng" w="19050">
            <a:solidFill>
              <a:srgbClr val="000000"/>
            </a:solidFill>
            <a:prstDash val="solid"/>
            <a:round/>
            <a:headEnd len="med" w="med" type="none"/>
            <a:tailEnd len="med" w="med" type="triangle"/>
          </a:ln>
        </p:spPr>
      </p:cxnSp>
      <p:cxnSp>
        <p:nvCxnSpPr>
          <p:cNvPr id="153" name="Google Shape;153;p14"/>
          <p:cNvCxnSpPr>
            <a:endCxn id="147" idx="1"/>
          </p:cNvCxnSpPr>
          <p:nvPr/>
        </p:nvCxnSpPr>
        <p:spPr>
          <a:xfrm>
            <a:off x="3597025" y="930150"/>
            <a:ext cx="402300" cy="0"/>
          </a:xfrm>
          <a:prstGeom prst="straightConnector1">
            <a:avLst/>
          </a:prstGeom>
          <a:noFill/>
          <a:ln cap="flat" cmpd="sng" w="19050">
            <a:solidFill>
              <a:srgbClr val="000000"/>
            </a:solidFill>
            <a:prstDash val="solid"/>
            <a:round/>
            <a:headEnd len="med" w="med" type="none"/>
            <a:tailEnd len="med" w="med" type="triangle"/>
          </a:ln>
        </p:spPr>
      </p:cxnSp>
      <p:sp>
        <p:nvSpPr>
          <p:cNvPr id="151" name="Google Shape;151;p14"/>
          <p:cNvSpPr txBox="1"/>
          <p:nvPr/>
        </p:nvSpPr>
        <p:spPr>
          <a:xfrm>
            <a:off x="3307825" y="1440975"/>
            <a:ext cx="441000" cy="400200"/>
          </a:xfrm>
          <a:prstGeom prst="rect">
            <a:avLst/>
          </a:prstGeom>
          <a:solidFill>
            <a:srgbClr val="74AAFF"/>
          </a:solidFill>
          <a:ln cap="flat" cmpd="sng" w="2857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L</a:t>
            </a:r>
            <a:r>
              <a:rPr b="1" baseline="-25000" i="1" lang="en">
                <a:latin typeface="Roboto"/>
                <a:ea typeface="Roboto"/>
                <a:cs typeface="Roboto"/>
                <a:sym typeface="Roboto"/>
              </a:rPr>
              <a:t>27</a:t>
            </a:r>
            <a:endParaRPr b="1" baseline="-25000" i="1">
              <a:latin typeface="Roboto"/>
              <a:ea typeface="Roboto"/>
              <a:cs typeface="Roboto"/>
              <a:sym typeface="Roboto"/>
            </a:endParaRPr>
          </a:p>
        </p:txBody>
      </p:sp>
      <p:cxnSp>
        <p:nvCxnSpPr>
          <p:cNvPr id="154" name="Google Shape;154;p14"/>
          <p:cNvCxnSpPr/>
          <p:nvPr/>
        </p:nvCxnSpPr>
        <p:spPr>
          <a:xfrm flipH="1" rot="10800000">
            <a:off x="3003050" y="1641175"/>
            <a:ext cx="301200" cy="3000"/>
          </a:xfrm>
          <a:prstGeom prst="straightConnector1">
            <a:avLst/>
          </a:prstGeom>
          <a:noFill/>
          <a:ln cap="flat" cmpd="sng" w="19050">
            <a:solidFill>
              <a:srgbClr val="000000"/>
            </a:solidFill>
            <a:prstDash val="solid"/>
            <a:round/>
            <a:headEnd len="med" w="med" type="none"/>
            <a:tailEnd len="med" w="med" type="triangle"/>
          </a:ln>
        </p:spPr>
      </p:cxnSp>
      <p:cxnSp>
        <p:nvCxnSpPr>
          <p:cNvPr id="155" name="Google Shape;155;p14"/>
          <p:cNvCxnSpPr/>
          <p:nvPr/>
        </p:nvCxnSpPr>
        <p:spPr>
          <a:xfrm>
            <a:off x="3379750" y="2535225"/>
            <a:ext cx="354900" cy="4200"/>
          </a:xfrm>
          <a:prstGeom prst="straightConnector1">
            <a:avLst/>
          </a:prstGeom>
          <a:noFill/>
          <a:ln cap="flat" cmpd="sng" w="19050">
            <a:solidFill>
              <a:srgbClr val="000000"/>
            </a:solidFill>
            <a:prstDash val="solid"/>
            <a:round/>
            <a:headEnd len="med" w="med" type="none"/>
            <a:tailEnd len="med" w="med" type="triangle"/>
          </a:ln>
        </p:spPr>
      </p:cxnSp>
      <p:sp>
        <p:nvSpPr>
          <p:cNvPr id="156" name="Google Shape;156;p14"/>
          <p:cNvSpPr txBox="1"/>
          <p:nvPr/>
        </p:nvSpPr>
        <p:spPr>
          <a:xfrm>
            <a:off x="2613088" y="1415263"/>
            <a:ext cx="31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sp>
        <p:nvSpPr>
          <p:cNvPr id="157" name="Google Shape;157;p14"/>
          <p:cNvSpPr txBox="1"/>
          <p:nvPr/>
        </p:nvSpPr>
        <p:spPr>
          <a:xfrm>
            <a:off x="3252600" y="736350"/>
            <a:ext cx="31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sp>
        <p:nvSpPr>
          <p:cNvPr id="158" name="Google Shape;158;p14"/>
          <p:cNvSpPr txBox="1"/>
          <p:nvPr/>
        </p:nvSpPr>
        <p:spPr>
          <a:xfrm>
            <a:off x="3041438" y="2339400"/>
            <a:ext cx="31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cxnSp>
        <p:nvCxnSpPr>
          <p:cNvPr id="159" name="Google Shape;159;p14"/>
          <p:cNvCxnSpPr>
            <a:stCxn id="134" idx="0"/>
            <a:endCxn id="138" idx="2"/>
          </p:cNvCxnSpPr>
          <p:nvPr/>
        </p:nvCxnSpPr>
        <p:spPr>
          <a:xfrm flipH="1" rot="10800000">
            <a:off x="1384484" y="1841250"/>
            <a:ext cx="715800" cy="498000"/>
          </a:xfrm>
          <a:prstGeom prst="straightConnector1">
            <a:avLst/>
          </a:prstGeom>
          <a:noFill/>
          <a:ln cap="flat" cmpd="sng" w="19050">
            <a:solidFill>
              <a:srgbClr val="000000"/>
            </a:solidFill>
            <a:prstDash val="solid"/>
            <a:round/>
            <a:headEnd len="med" w="med" type="none"/>
            <a:tailEnd len="med" w="med" type="triangle"/>
          </a:ln>
        </p:spPr>
      </p:cxnSp>
      <p:cxnSp>
        <p:nvCxnSpPr>
          <p:cNvPr id="160" name="Google Shape;160;p14"/>
          <p:cNvCxnSpPr/>
          <p:nvPr/>
        </p:nvCxnSpPr>
        <p:spPr>
          <a:xfrm flipH="1" rot="10800000">
            <a:off x="2465686" y="2165312"/>
            <a:ext cx="365100" cy="175500"/>
          </a:xfrm>
          <a:prstGeom prst="straightConnector1">
            <a:avLst/>
          </a:prstGeom>
          <a:noFill/>
          <a:ln cap="flat" cmpd="sng" w="19050">
            <a:solidFill>
              <a:srgbClr val="000000"/>
            </a:solidFill>
            <a:prstDash val="solid"/>
            <a:round/>
            <a:headEnd len="med" w="med" type="none"/>
            <a:tailEnd len="med" w="med" type="triangle"/>
          </a:ln>
        </p:spPr>
      </p:cxnSp>
      <p:cxnSp>
        <p:nvCxnSpPr>
          <p:cNvPr id="161" name="Google Shape;161;p14"/>
          <p:cNvCxnSpPr/>
          <p:nvPr/>
        </p:nvCxnSpPr>
        <p:spPr>
          <a:xfrm>
            <a:off x="2676475" y="2535225"/>
            <a:ext cx="354900" cy="4200"/>
          </a:xfrm>
          <a:prstGeom prst="straightConnector1">
            <a:avLst/>
          </a:prstGeom>
          <a:noFill/>
          <a:ln cap="flat" cmpd="sng" w="19050">
            <a:solidFill>
              <a:srgbClr val="000000"/>
            </a:solidFill>
            <a:prstDash val="solid"/>
            <a:round/>
            <a:headEnd len="med" w="med" type="none"/>
            <a:tailEnd len="med" w="med" type="triangle"/>
          </a:ln>
        </p:spPr>
      </p:cxnSp>
      <p:cxnSp>
        <p:nvCxnSpPr>
          <p:cNvPr id="162" name="Google Shape;162;p14"/>
          <p:cNvCxnSpPr/>
          <p:nvPr/>
        </p:nvCxnSpPr>
        <p:spPr>
          <a:xfrm>
            <a:off x="2893725" y="930125"/>
            <a:ext cx="402300" cy="0"/>
          </a:xfrm>
          <a:prstGeom prst="straightConnector1">
            <a:avLst/>
          </a:prstGeom>
          <a:noFill/>
          <a:ln cap="flat" cmpd="sng" w="19050">
            <a:solidFill>
              <a:srgbClr val="000000"/>
            </a:solidFill>
            <a:prstDash val="solid"/>
            <a:round/>
            <a:headEnd len="med" w="med" type="none"/>
            <a:tailEnd len="med" w="med" type="triangle"/>
          </a:ln>
        </p:spPr>
      </p:cxnSp>
      <p:cxnSp>
        <p:nvCxnSpPr>
          <p:cNvPr id="163" name="Google Shape;163;p14"/>
          <p:cNvCxnSpPr/>
          <p:nvPr/>
        </p:nvCxnSpPr>
        <p:spPr>
          <a:xfrm>
            <a:off x="2268000" y="1641050"/>
            <a:ext cx="402300" cy="0"/>
          </a:xfrm>
          <a:prstGeom prst="straightConnector1">
            <a:avLst/>
          </a:prstGeom>
          <a:noFill/>
          <a:ln cap="flat" cmpd="sng" w="19050">
            <a:solidFill>
              <a:srgbClr val="000000"/>
            </a:solidFill>
            <a:prstDash val="solid"/>
            <a:round/>
            <a:headEnd len="med" w="med" type="none"/>
            <a:tailEnd len="med" w="med" type="triangle"/>
          </a:ln>
        </p:spPr>
      </p:cxnSp>
      <p:sp>
        <p:nvSpPr>
          <p:cNvPr id="164" name="Google Shape;164;p14"/>
          <p:cNvSpPr/>
          <p:nvPr/>
        </p:nvSpPr>
        <p:spPr>
          <a:xfrm>
            <a:off x="4920325" y="365825"/>
            <a:ext cx="3386700" cy="3385200"/>
          </a:xfrm>
          <a:prstGeom prst="roundRect">
            <a:avLst>
              <a:gd fmla="val 3448" name="adj"/>
            </a:avLst>
          </a:prstGeom>
          <a:solidFill>
            <a:srgbClr val="74AA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00"/>
                </a:solidFill>
                <a:latin typeface="Roboto"/>
                <a:ea typeface="Roboto"/>
                <a:cs typeface="Roboto"/>
                <a:sym typeface="Roboto"/>
              </a:rPr>
              <a:t>L: Confounders</a:t>
            </a:r>
            <a:endParaRPr b="1">
              <a:solidFill>
                <a:srgbClr val="000000"/>
              </a:solidFill>
              <a:latin typeface="Roboto"/>
              <a:ea typeface="Roboto"/>
              <a:cs typeface="Roboto"/>
              <a:sym typeface="Roboto"/>
            </a:endParaRPr>
          </a:p>
          <a:p>
            <a:pPr indent="0" lvl="0" marL="0" rtl="0" algn="l">
              <a:spcBef>
                <a:spcPts val="0"/>
              </a:spcBef>
              <a:spcAft>
                <a:spcPts val="0"/>
              </a:spcAft>
              <a:buNone/>
            </a:pPr>
            <a:r>
              <a:rPr b="1" lang="en" sz="1000">
                <a:solidFill>
                  <a:srgbClr val="000000"/>
                </a:solidFill>
                <a:latin typeface="Roboto"/>
                <a:ea typeface="Roboto"/>
                <a:cs typeface="Roboto"/>
                <a:sym typeface="Roboto"/>
              </a:rPr>
              <a:t>Baseline -</a:t>
            </a:r>
            <a:r>
              <a:rPr b="1" i="1" lang="en" sz="1000">
                <a:solidFill>
                  <a:srgbClr val="000000"/>
                </a:solidFill>
                <a:latin typeface="Roboto"/>
                <a:ea typeface="Roboto"/>
                <a:cs typeface="Roboto"/>
                <a:sym typeface="Roboto"/>
              </a:rPr>
              <a:t> </a:t>
            </a:r>
            <a:r>
              <a:rPr lang="en" sz="1000">
                <a:solidFill>
                  <a:srgbClr val="000000"/>
                </a:solidFill>
                <a:latin typeface="Roboto"/>
                <a:ea typeface="Roboto"/>
                <a:cs typeface="Roboto"/>
                <a:sym typeface="Roboto"/>
              </a:rPr>
              <a:t>age, sex, race, ethnicity, BMI, comorbidities (coronary artery disease, cerebral vascular event, hypertension, Diabetes Mellitus, cirrhosis, Chronic Obstructive Pulmonary Disease, active cancer, asthma, interstitial lung disease, chronic kidney disease, immunosuppression, Human Immunodeficiency Virus infection, home oxygen use), mode of respiratory support within 3 hours of hospital admission, and hospital admission location.</a:t>
            </a:r>
            <a:endParaRPr sz="1000">
              <a:solidFill>
                <a:srgbClr val="000000"/>
              </a:solidFill>
              <a:latin typeface="Roboto"/>
              <a:ea typeface="Roboto"/>
              <a:cs typeface="Roboto"/>
              <a:sym typeface="Roboto"/>
            </a:endParaRPr>
          </a:p>
          <a:p>
            <a:pPr indent="0" lvl="0" marL="0" rtl="0" algn="l">
              <a:spcBef>
                <a:spcPts val="0"/>
              </a:spcBef>
              <a:spcAft>
                <a:spcPts val="0"/>
              </a:spcAft>
              <a:buNone/>
            </a:pPr>
            <a:r>
              <a:rPr b="1" lang="en" sz="1000">
                <a:solidFill>
                  <a:srgbClr val="000000"/>
                </a:solidFill>
                <a:latin typeface="Roboto"/>
                <a:ea typeface="Roboto"/>
                <a:cs typeface="Roboto"/>
                <a:sym typeface="Roboto"/>
              </a:rPr>
              <a:t>Time-dependent - </a:t>
            </a:r>
            <a:r>
              <a:rPr lang="en" sz="1000">
                <a:solidFill>
                  <a:srgbClr val="000000"/>
                </a:solidFill>
                <a:latin typeface="Roboto"/>
                <a:ea typeface="Roboto"/>
                <a:cs typeface="Roboto"/>
                <a:sym typeface="Roboto"/>
              </a:rPr>
              <a:t>heart rate, pulse oximetry percentage, respiratory rate, temperature, systolic and diastolic blood pressure, BUN-creatinine ratio, creatinine, neutrophils, lymphocytes, platelets, bilirubin, blood glucose, D-dimers, C-reactive protein, Activated Partial Thromboplastin time, prothrombin time, arterial partial pressure of oxygen, and arterial partial pressure of carbon dioxide, mode of respiratory support, vasopressors, diuretics, ACE/ARBs, hydroxychloroquine, and tocilizumab.</a:t>
            </a:r>
            <a:endParaRPr sz="1000">
              <a:solidFill>
                <a:srgbClr val="000000"/>
              </a:solidFill>
              <a:latin typeface="Roboto"/>
              <a:ea typeface="Roboto"/>
              <a:cs typeface="Roboto"/>
              <a:sym typeface="Roboto"/>
            </a:endParaRPr>
          </a:p>
        </p:txBody>
      </p:sp>
      <p:cxnSp>
        <p:nvCxnSpPr>
          <p:cNvPr id="165" name="Google Shape;165;p14"/>
          <p:cNvCxnSpPr/>
          <p:nvPr/>
        </p:nvCxnSpPr>
        <p:spPr>
          <a:xfrm flipH="1" rot="10800000">
            <a:off x="3239675" y="1841375"/>
            <a:ext cx="262800" cy="157500"/>
          </a:xfrm>
          <a:prstGeom prst="straightConnector1">
            <a:avLst/>
          </a:prstGeom>
          <a:noFill/>
          <a:ln cap="flat" cmpd="sng" w="19050">
            <a:solidFill>
              <a:srgbClr val="000000"/>
            </a:solidFill>
            <a:prstDash val="solid"/>
            <a:round/>
            <a:headEnd len="med" w="med" type="none"/>
            <a:tailEnd len="med" w="med" type="triangle"/>
          </a:ln>
        </p:spPr>
      </p:cxnSp>
      <p:cxnSp>
        <p:nvCxnSpPr>
          <p:cNvPr id="166" name="Google Shape;166;p14"/>
          <p:cNvCxnSpPr>
            <a:endCxn id="138" idx="1"/>
          </p:cNvCxnSpPr>
          <p:nvPr/>
        </p:nvCxnSpPr>
        <p:spPr>
          <a:xfrm>
            <a:off x="1645800" y="1130163"/>
            <a:ext cx="278100" cy="510900"/>
          </a:xfrm>
          <a:prstGeom prst="straightConnector1">
            <a:avLst/>
          </a:prstGeom>
          <a:noFill/>
          <a:ln cap="flat" cmpd="sng" w="19050">
            <a:solidFill>
              <a:srgbClr val="000000"/>
            </a:solidFill>
            <a:prstDash val="solid"/>
            <a:round/>
            <a:headEnd len="med" w="med" type="none"/>
            <a:tailEnd len="med" w="med" type="triangle"/>
          </a:ln>
        </p:spPr>
      </p:cxnSp>
      <p:cxnSp>
        <p:nvCxnSpPr>
          <p:cNvPr id="167" name="Google Shape;167;p14"/>
          <p:cNvCxnSpPr/>
          <p:nvPr/>
        </p:nvCxnSpPr>
        <p:spPr>
          <a:xfrm>
            <a:off x="2717488" y="1130263"/>
            <a:ext cx="189600" cy="237900"/>
          </a:xfrm>
          <a:prstGeom prst="straightConnector1">
            <a:avLst/>
          </a:prstGeom>
          <a:noFill/>
          <a:ln cap="flat" cmpd="sng" w="19050">
            <a:solidFill>
              <a:srgbClr val="000000"/>
            </a:solidFill>
            <a:prstDash val="solid"/>
            <a:round/>
            <a:headEnd len="med" w="med" type="none"/>
            <a:tailEnd len="med" w="med" type="triangle"/>
          </a:ln>
        </p:spPr>
      </p:cxnSp>
      <p:sp>
        <p:nvSpPr>
          <p:cNvPr id="168" name="Google Shape;168;p14"/>
          <p:cNvSpPr/>
          <p:nvPr/>
        </p:nvSpPr>
        <p:spPr>
          <a:xfrm>
            <a:off x="863563" y="3358625"/>
            <a:ext cx="1748100" cy="400200"/>
          </a:xfrm>
          <a:prstGeom prst="roundRect">
            <a:avLst>
              <a:gd fmla="val 28048" name="adj"/>
            </a:avLst>
          </a:prstGeom>
          <a:solidFill>
            <a:srgbClr val="FFD9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Roboto"/>
                <a:ea typeface="Roboto"/>
                <a:cs typeface="Roboto"/>
                <a:sym typeface="Roboto"/>
              </a:rPr>
              <a:t>A: Corticosteroids</a:t>
            </a:r>
            <a:endParaRPr sz="1000">
              <a:solidFill>
                <a:srgbClr val="000000"/>
              </a:solidFill>
              <a:latin typeface="Roboto"/>
              <a:ea typeface="Roboto"/>
              <a:cs typeface="Roboto"/>
              <a:sym typeface="Roboto"/>
            </a:endParaRPr>
          </a:p>
        </p:txBody>
      </p:sp>
      <p:sp>
        <p:nvSpPr>
          <p:cNvPr id="169" name="Google Shape;169;p14"/>
          <p:cNvSpPr/>
          <p:nvPr/>
        </p:nvSpPr>
        <p:spPr>
          <a:xfrm>
            <a:off x="3093925" y="3358625"/>
            <a:ext cx="1281900" cy="400200"/>
          </a:xfrm>
          <a:prstGeom prst="roundRect">
            <a:avLst>
              <a:gd fmla="val 28048" name="adj"/>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Roboto"/>
                <a:ea typeface="Roboto"/>
                <a:cs typeface="Roboto"/>
                <a:sym typeface="Roboto"/>
              </a:rPr>
              <a:t>Y: Mortality</a:t>
            </a:r>
            <a:endParaRPr sz="1000">
              <a:solidFill>
                <a:srgbClr val="000000"/>
              </a:solidFill>
              <a:latin typeface="Roboto"/>
              <a:ea typeface="Roboto"/>
              <a:cs typeface="Roboto"/>
              <a:sym typeface="Roboto"/>
            </a:endParaRPr>
          </a:p>
        </p:txBody>
      </p:sp>
      <p:sp>
        <p:nvSpPr>
          <p:cNvPr id="170" name="Google Shape;170;p14"/>
          <p:cNvSpPr txBox="1"/>
          <p:nvPr/>
        </p:nvSpPr>
        <p:spPr>
          <a:xfrm rot="-1561979">
            <a:off x="2840936" y="1889653"/>
            <a:ext cx="317848" cy="400092"/>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5"/>
          <p:cNvSpPr txBox="1"/>
          <p:nvPr/>
        </p:nvSpPr>
        <p:spPr>
          <a:xfrm>
            <a:off x="1379400" y="934050"/>
            <a:ext cx="1064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t>Baseline confounders</a:t>
            </a:r>
            <a:endParaRPr b="1" sz="1000"/>
          </a:p>
        </p:txBody>
      </p:sp>
      <p:sp>
        <p:nvSpPr>
          <p:cNvPr id="176" name="Google Shape;176;p15"/>
          <p:cNvSpPr txBox="1"/>
          <p:nvPr/>
        </p:nvSpPr>
        <p:spPr>
          <a:xfrm>
            <a:off x="2420050" y="934050"/>
            <a:ext cx="1183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t>Time-dependent confounders</a:t>
            </a:r>
            <a:endParaRPr b="1" sz="1000"/>
          </a:p>
        </p:txBody>
      </p:sp>
      <p:graphicFrame>
        <p:nvGraphicFramePr>
          <p:cNvPr id="177" name="Google Shape;177;p15"/>
          <p:cNvGraphicFramePr/>
          <p:nvPr/>
        </p:nvGraphicFramePr>
        <p:xfrm>
          <a:off x="967050" y="1526825"/>
          <a:ext cx="3000000" cy="3000000"/>
        </p:xfrm>
        <a:graphic>
          <a:graphicData uri="http://schemas.openxmlformats.org/drawingml/2006/table">
            <a:tbl>
              <a:tblPr>
                <a:noFill/>
                <a:tableStyleId>{ED02F007-AB12-429A-B26A-1239243E100E}</a:tableStyleId>
              </a:tblPr>
              <a:tblGrid>
                <a:gridCol w="490175"/>
                <a:gridCol w="443200"/>
                <a:gridCol w="447825"/>
                <a:gridCol w="625875"/>
                <a:gridCol w="586525"/>
                <a:gridCol w="476800"/>
                <a:gridCol w="456550"/>
                <a:gridCol w="449475"/>
                <a:gridCol w="604350"/>
                <a:gridCol w="645675"/>
                <a:gridCol w="494225"/>
                <a:gridCol w="455300"/>
                <a:gridCol w="498250"/>
                <a:gridCol w="382850"/>
                <a:gridCol w="556450"/>
              </a:tblGrid>
              <a:tr h="447175">
                <a:tc>
                  <a:txBody>
                    <a:bodyPr/>
                    <a:lstStyle/>
                    <a:p>
                      <a:pPr indent="0" lvl="0" marL="0" rtl="0" algn="ctr">
                        <a:spcBef>
                          <a:spcPts val="0"/>
                        </a:spcBef>
                        <a:spcAft>
                          <a:spcPts val="0"/>
                        </a:spcAft>
                        <a:buNone/>
                      </a:pPr>
                      <a:r>
                        <a:rPr b="1" lang="en" sz="1200">
                          <a:latin typeface="Roboto"/>
                          <a:ea typeface="Roboto"/>
                          <a:cs typeface="Roboto"/>
                          <a:sym typeface="Roboto"/>
                        </a:rPr>
                        <a:t>ID</a:t>
                      </a:r>
                      <a:endParaRPr b="1"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200">
                          <a:latin typeface="Roboto"/>
                          <a:ea typeface="Roboto"/>
                          <a:cs typeface="Roboto"/>
                          <a:sym typeface="Roboto"/>
                        </a:rPr>
                        <a:t>age</a:t>
                      </a:r>
                      <a:endParaRPr b="1"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b="1" lang="en" sz="1200">
                          <a:latin typeface="Roboto"/>
                          <a:ea typeface="Roboto"/>
                          <a:cs typeface="Roboto"/>
                          <a:sym typeface="Roboto"/>
                        </a:rPr>
                        <a:t>sex</a:t>
                      </a:r>
                      <a:endParaRPr b="1"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b="1" lang="en" sz="1200">
                          <a:latin typeface="Roboto"/>
                          <a:ea typeface="Roboto"/>
                          <a:cs typeface="Roboto"/>
                          <a:sym typeface="Roboto"/>
                        </a:rPr>
                        <a:t>L1</a:t>
                      </a:r>
                      <a:r>
                        <a:rPr b="1" baseline="-25000" lang="en" sz="1200">
                          <a:latin typeface="Roboto"/>
                          <a:ea typeface="Roboto"/>
                          <a:cs typeface="Roboto"/>
                          <a:sym typeface="Roboto"/>
                        </a:rPr>
                        <a:t>0</a:t>
                      </a:r>
                      <a:endParaRPr b="1" baseline="-25000"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b="1" lang="en" sz="1200">
                          <a:latin typeface="Roboto"/>
                          <a:ea typeface="Roboto"/>
                          <a:cs typeface="Roboto"/>
                          <a:sym typeface="Roboto"/>
                        </a:rPr>
                        <a:t>L2</a:t>
                      </a:r>
                      <a:r>
                        <a:rPr b="1" baseline="-25000" lang="en" sz="1200">
                          <a:latin typeface="Roboto"/>
                          <a:ea typeface="Roboto"/>
                          <a:cs typeface="Roboto"/>
                          <a:sym typeface="Roboto"/>
                        </a:rPr>
                        <a:t>0</a:t>
                      </a:r>
                      <a:endParaRPr b="1" baseline="-25000"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b="1" lang="en" sz="1200">
                          <a:latin typeface="Roboto"/>
                          <a:ea typeface="Roboto"/>
                          <a:cs typeface="Roboto"/>
                          <a:sym typeface="Roboto"/>
                        </a:rPr>
                        <a:t>A</a:t>
                      </a:r>
                      <a:r>
                        <a:rPr b="1" baseline="-25000" lang="en" sz="1200">
                          <a:latin typeface="Roboto"/>
                          <a:ea typeface="Roboto"/>
                          <a:cs typeface="Roboto"/>
                          <a:sym typeface="Roboto"/>
                        </a:rPr>
                        <a:t>0</a:t>
                      </a:r>
                      <a:endParaRPr b="1" baseline="-25000"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b="1" lang="en" sz="1200">
                          <a:latin typeface="Roboto"/>
                          <a:ea typeface="Roboto"/>
                          <a:cs typeface="Roboto"/>
                          <a:sym typeface="Roboto"/>
                        </a:rPr>
                        <a:t>C</a:t>
                      </a:r>
                      <a:r>
                        <a:rPr b="1" baseline="-25000" lang="en" sz="1200">
                          <a:latin typeface="Roboto"/>
                          <a:ea typeface="Roboto"/>
                          <a:cs typeface="Roboto"/>
                          <a:sym typeface="Roboto"/>
                        </a:rPr>
                        <a:t>0</a:t>
                      </a:r>
                      <a:endParaRPr b="1" baseline="-25000"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spcBef>
                          <a:spcPts val="0"/>
                        </a:spcBef>
                        <a:spcAft>
                          <a:spcPts val="0"/>
                        </a:spcAft>
                        <a:buNone/>
                      </a:pPr>
                      <a:r>
                        <a:rPr b="1" lang="en" sz="1200">
                          <a:latin typeface="Roboto"/>
                          <a:ea typeface="Roboto"/>
                          <a:cs typeface="Roboto"/>
                          <a:sym typeface="Roboto"/>
                        </a:rPr>
                        <a:t>Y</a:t>
                      </a:r>
                      <a:r>
                        <a:rPr b="1" baseline="-25000" lang="en" sz="1200">
                          <a:latin typeface="Roboto"/>
                          <a:ea typeface="Roboto"/>
                          <a:cs typeface="Roboto"/>
                          <a:sym typeface="Roboto"/>
                        </a:rPr>
                        <a:t>1</a:t>
                      </a:r>
                      <a:endParaRPr b="1" baseline="-25000"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c>
                  <a:txBody>
                    <a:bodyPr/>
                    <a:lstStyle/>
                    <a:p>
                      <a:pPr indent="0" lvl="0" marL="0" rtl="0" algn="ctr">
                        <a:spcBef>
                          <a:spcPts val="0"/>
                        </a:spcBef>
                        <a:spcAft>
                          <a:spcPts val="0"/>
                        </a:spcAft>
                        <a:buNone/>
                      </a:pPr>
                      <a:r>
                        <a:rPr b="1" lang="en" sz="1200">
                          <a:latin typeface="Roboto"/>
                          <a:ea typeface="Roboto"/>
                          <a:cs typeface="Roboto"/>
                          <a:sym typeface="Roboto"/>
                        </a:rPr>
                        <a:t>L1</a:t>
                      </a:r>
                      <a:r>
                        <a:rPr b="1" baseline="-25000" lang="en" sz="1200">
                          <a:latin typeface="Roboto"/>
                          <a:ea typeface="Roboto"/>
                          <a:cs typeface="Roboto"/>
                          <a:sym typeface="Roboto"/>
                        </a:rPr>
                        <a:t>1</a:t>
                      </a:r>
                      <a:endParaRPr b="1"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b="1" lang="en" sz="1200">
                          <a:latin typeface="Roboto"/>
                          <a:ea typeface="Roboto"/>
                          <a:cs typeface="Roboto"/>
                          <a:sym typeface="Roboto"/>
                        </a:rPr>
                        <a:t>L2</a:t>
                      </a:r>
                      <a:r>
                        <a:rPr b="1" baseline="-25000" lang="en" sz="1200">
                          <a:solidFill>
                            <a:srgbClr val="000000"/>
                          </a:solidFill>
                          <a:latin typeface="Roboto"/>
                          <a:ea typeface="Roboto"/>
                          <a:cs typeface="Roboto"/>
                          <a:sym typeface="Roboto"/>
                        </a:rPr>
                        <a:t>1</a:t>
                      </a:r>
                      <a:endParaRPr b="1"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b="1" lang="en" sz="1200">
                          <a:latin typeface="Roboto"/>
                          <a:ea typeface="Roboto"/>
                          <a:cs typeface="Roboto"/>
                          <a:sym typeface="Roboto"/>
                        </a:rPr>
                        <a:t>A</a:t>
                      </a:r>
                      <a:r>
                        <a:rPr b="1" baseline="-25000" lang="en" sz="1200">
                          <a:solidFill>
                            <a:srgbClr val="000000"/>
                          </a:solidFill>
                          <a:latin typeface="Roboto"/>
                          <a:ea typeface="Roboto"/>
                          <a:cs typeface="Roboto"/>
                          <a:sym typeface="Roboto"/>
                        </a:rPr>
                        <a:t>1</a:t>
                      </a:r>
                      <a:endParaRPr b="1"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b="1" lang="en" sz="1200">
                          <a:latin typeface="Roboto"/>
                          <a:ea typeface="Roboto"/>
                          <a:cs typeface="Roboto"/>
                          <a:sym typeface="Roboto"/>
                        </a:rPr>
                        <a:t>C</a:t>
                      </a:r>
                      <a:r>
                        <a:rPr b="1" baseline="-25000" lang="en" sz="1200">
                          <a:solidFill>
                            <a:srgbClr val="000000"/>
                          </a:solidFill>
                          <a:latin typeface="Roboto"/>
                          <a:ea typeface="Roboto"/>
                          <a:cs typeface="Roboto"/>
                          <a:sym typeface="Roboto"/>
                        </a:rPr>
                        <a:t>1</a:t>
                      </a:r>
                      <a:endParaRPr b="1"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spcBef>
                          <a:spcPts val="0"/>
                        </a:spcBef>
                        <a:spcAft>
                          <a:spcPts val="0"/>
                        </a:spcAft>
                        <a:buNone/>
                      </a:pPr>
                      <a:r>
                        <a:rPr b="1" lang="en" sz="1200">
                          <a:latin typeface="Roboto"/>
                          <a:ea typeface="Roboto"/>
                          <a:cs typeface="Roboto"/>
                          <a:sym typeface="Roboto"/>
                        </a:rPr>
                        <a:t>Y</a:t>
                      </a:r>
                      <a:r>
                        <a:rPr b="1" baseline="-25000" lang="en" sz="1200">
                          <a:solidFill>
                            <a:srgbClr val="000000"/>
                          </a:solidFill>
                          <a:latin typeface="Roboto"/>
                          <a:ea typeface="Roboto"/>
                          <a:cs typeface="Roboto"/>
                          <a:sym typeface="Roboto"/>
                        </a:rPr>
                        <a:t>1</a:t>
                      </a:r>
                      <a:endParaRPr b="1" sz="1200">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c>
                  <a:txBody>
                    <a:bodyPr/>
                    <a:lstStyle/>
                    <a:p>
                      <a:pPr indent="0" lvl="0" marL="0" rtl="0" algn="ctr">
                        <a:spcBef>
                          <a:spcPts val="0"/>
                        </a:spcBef>
                        <a:spcAft>
                          <a:spcPts val="0"/>
                        </a:spcAft>
                        <a:buNone/>
                      </a:pPr>
                      <a:r>
                        <a:rPr b="1" lang="en" sz="1200">
                          <a:latin typeface="Roboto"/>
                          <a:ea typeface="Roboto"/>
                          <a:cs typeface="Roboto"/>
                          <a:sym typeface="Roboto"/>
                        </a:rPr>
                        <a:t>…</a:t>
                      </a:r>
                      <a:endParaRPr b="1"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200">
                          <a:latin typeface="Roboto"/>
                          <a:ea typeface="Roboto"/>
                          <a:cs typeface="Roboto"/>
                          <a:sym typeface="Roboto"/>
                        </a:rPr>
                        <a:t>Y</a:t>
                      </a:r>
                      <a:r>
                        <a:rPr b="1" baseline="-25000" lang="en" sz="1200">
                          <a:solidFill>
                            <a:srgbClr val="000000"/>
                          </a:solidFill>
                          <a:latin typeface="Roboto"/>
                          <a:ea typeface="Roboto"/>
                          <a:cs typeface="Roboto"/>
                          <a:sym typeface="Roboto"/>
                        </a:rPr>
                        <a:t>28</a:t>
                      </a:r>
                      <a:endParaRPr b="1" sz="1200">
                        <a:latin typeface="Roboto"/>
                        <a:ea typeface="Roboto"/>
                        <a:cs typeface="Roboto"/>
                        <a:sym typeface="Robo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r>
              <a:tr h="326625">
                <a:tc>
                  <a:txBody>
                    <a:bodyPr/>
                    <a:lstStyle/>
                    <a:p>
                      <a:pPr indent="0" lvl="0" marL="0" rtl="0" algn="ctr">
                        <a:spcBef>
                          <a:spcPts val="0"/>
                        </a:spcBef>
                        <a:spcAft>
                          <a:spcPts val="0"/>
                        </a:spcAft>
                        <a:buNone/>
                      </a:pPr>
                      <a:r>
                        <a:rPr b="1" lang="en" sz="1000"/>
                        <a:t>1</a:t>
                      </a:r>
                      <a:endParaRPr b="1"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lang="en" sz="1000"/>
                        <a:t>50</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F</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1012</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23</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0</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lang="en" sz="1000"/>
                        <a:t>1</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spcBef>
                          <a:spcPts val="0"/>
                        </a:spcBef>
                        <a:spcAft>
                          <a:spcPts val="0"/>
                        </a:spcAft>
                        <a:buNone/>
                      </a:pPr>
                      <a:r>
                        <a:rPr lang="en" sz="1000"/>
                        <a:t>0</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c>
                  <a:txBody>
                    <a:bodyPr/>
                    <a:lstStyle/>
                    <a:p>
                      <a:pPr indent="0" lvl="0" marL="0" rtl="0" algn="ctr">
                        <a:spcBef>
                          <a:spcPts val="0"/>
                        </a:spcBef>
                        <a:spcAft>
                          <a:spcPts val="0"/>
                        </a:spcAft>
                        <a:buNone/>
                      </a:pPr>
                      <a:r>
                        <a:rPr lang="en" sz="1000"/>
                        <a:t>1901</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23</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0</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lang="en" sz="1000"/>
                        <a:t>1</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spcBef>
                          <a:spcPts val="0"/>
                        </a:spcBef>
                        <a:spcAft>
                          <a:spcPts val="0"/>
                        </a:spcAft>
                        <a:buNone/>
                      </a:pPr>
                      <a:r>
                        <a:rPr lang="en" sz="1000"/>
                        <a:t>0</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c>
                  <a:txBody>
                    <a:bodyPr/>
                    <a:lstStyle/>
                    <a:p>
                      <a:pPr indent="0" lvl="0" marL="0" rtl="0" algn="ctr">
                        <a:spcBef>
                          <a:spcPts val="0"/>
                        </a:spcBef>
                        <a:spcAft>
                          <a:spcPts val="0"/>
                        </a:spcAft>
                        <a:buNone/>
                      </a:pPr>
                      <a:r>
                        <a:rPr lang="en" sz="1000"/>
                        <a:t>…</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lang="en" sz="1000"/>
                        <a:t>1</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r>
              <a:tr h="326625">
                <a:tc>
                  <a:txBody>
                    <a:bodyPr/>
                    <a:lstStyle/>
                    <a:p>
                      <a:pPr indent="0" lvl="0" marL="0" rtl="0" algn="ctr">
                        <a:spcBef>
                          <a:spcPts val="0"/>
                        </a:spcBef>
                        <a:spcAft>
                          <a:spcPts val="0"/>
                        </a:spcAft>
                        <a:buNone/>
                      </a:pPr>
                      <a:r>
                        <a:rPr b="1" lang="en" sz="1000"/>
                        <a:t>2</a:t>
                      </a:r>
                      <a:endParaRPr b="1"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lang="en" sz="1000"/>
                        <a:t>68</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M</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25300</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17</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0</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lang="en" sz="1000"/>
                        <a:t>1</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spcBef>
                          <a:spcPts val="0"/>
                        </a:spcBef>
                        <a:spcAft>
                          <a:spcPts val="0"/>
                        </a:spcAft>
                        <a:buNone/>
                      </a:pPr>
                      <a:r>
                        <a:rPr lang="en" sz="1000"/>
                        <a:t>1</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c>
                  <a:txBody>
                    <a:bodyPr/>
                    <a:lstStyle/>
                    <a:p>
                      <a:pPr indent="0" lvl="0" marL="0" rtl="0" algn="ctr">
                        <a:spcBef>
                          <a:spcPts val="0"/>
                        </a:spcBef>
                        <a:spcAft>
                          <a:spcPts val="0"/>
                        </a:spcAft>
                        <a:buNone/>
                      </a:pPr>
                      <a:r>
                        <a:rPr lang="en" sz="1000"/>
                        <a:t>NA</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NA</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NA</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lang="en" sz="1000"/>
                        <a:t>NA</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spcBef>
                          <a:spcPts val="0"/>
                        </a:spcBef>
                        <a:spcAft>
                          <a:spcPts val="0"/>
                        </a:spcAft>
                        <a:buNone/>
                      </a:pPr>
                      <a:r>
                        <a:rPr lang="en" sz="1000"/>
                        <a:t>1</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c>
                  <a:txBody>
                    <a:bodyPr/>
                    <a:lstStyle/>
                    <a:p>
                      <a:pPr indent="0" lvl="0" marL="0" rtl="0" algn="ctr">
                        <a:spcBef>
                          <a:spcPts val="0"/>
                        </a:spcBef>
                        <a:spcAft>
                          <a:spcPts val="0"/>
                        </a:spcAft>
                        <a:buNone/>
                      </a:pPr>
                      <a:r>
                        <a:rPr lang="en" sz="1000"/>
                        <a:t>…</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lang="en" sz="1000"/>
                        <a:t>1</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r>
              <a:tr h="326625">
                <a:tc>
                  <a:txBody>
                    <a:bodyPr/>
                    <a:lstStyle/>
                    <a:p>
                      <a:pPr indent="0" lvl="0" marL="0" rtl="0" algn="ctr">
                        <a:spcBef>
                          <a:spcPts val="0"/>
                        </a:spcBef>
                        <a:spcAft>
                          <a:spcPts val="0"/>
                        </a:spcAft>
                        <a:buNone/>
                      </a:pPr>
                      <a:r>
                        <a:rPr b="1" lang="en" sz="1000"/>
                        <a:t>3</a:t>
                      </a:r>
                      <a:endParaRPr b="1"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lang="en" sz="1000"/>
                        <a:t>32</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M</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255</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95</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1</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lang="en" sz="1000"/>
                        <a:t>1</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spcBef>
                          <a:spcPts val="0"/>
                        </a:spcBef>
                        <a:spcAft>
                          <a:spcPts val="0"/>
                        </a:spcAft>
                        <a:buNone/>
                      </a:pPr>
                      <a:r>
                        <a:rPr lang="en" sz="1000"/>
                        <a:t>0</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c>
                  <a:txBody>
                    <a:bodyPr/>
                    <a:lstStyle/>
                    <a:p>
                      <a:pPr indent="0" lvl="0" marL="0" rtl="0" algn="ctr">
                        <a:spcBef>
                          <a:spcPts val="0"/>
                        </a:spcBef>
                        <a:spcAft>
                          <a:spcPts val="0"/>
                        </a:spcAft>
                        <a:buNone/>
                      </a:pPr>
                      <a:r>
                        <a:rPr lang="en" sz="1000"/>
                        <a:t>270</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52</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1</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lang="en" sz="1000"/>
                        <a:t>1</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spcBef>
                          <a:spcPts val="0"/>
                        </a:spcBef>
                        <a:spcAft>
                          <a:spcPts val="0"/>
                        </a:spcAft>
                        <a:buNone/>
                      </a:pPr>
                      <a:r>
                        <a:rPr lang="en" sz="1000"/>
                        <a:t>0</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c>
                  <a:txBody>
                    <a:bodyPr/>
                    <a:lstStyle/>
                    <a:p>
                      <a:pPr indent="0" lvl="0" marL="0" rtl="0" algn="ctr">
                        <a:spcBef>
                          <a:spcPts val="0"/>
                        </a:spcBef>
                        <a:spcAft>
                          <a:spcPts val="0"/>
                        </a:spcAft>
                        <a:buNone/>
                      </a:pPr>
                      <a:r>
                        <a:rPr lang="en" sz="1000"/>
                        <a:t>…</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lang="en" sz="1000"/>
                        <a:t>0</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r>
              <a:tr h="320450">
                <a:tc>
                  <a:txBody>
                    <a:bodyPr/>
                    <a:lstStyle/>
                    <a:p>
                      <a:pPr indent="0" lvl="0" marL="0" rtl="0" algn="ctr">
                        <a:spcBef>
                          <a:spcPts val="0"/>
                        </a:spcBef>
                        <a:spcAft>
                          <a:spcPts val="0"/>
                        </a:spcAft>
                        <a:buNone/>
                      </a:pPr>
                      <a:r>
                        <a:rPr b="1" lang="en" sz="1000"/>
                        <a:t>…</a:t>
                      </a:r>
                      <a:endParaRPr b="1"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lang="en" sz="1000">
                          <a:solidFill>
                            <a:srgbClr val="000000"/>
                          </a:solidFill>
                        </a:rPr>
                        <a:t>…</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solidFill>
                            <a:srgbClr val="000000"/>
                          </a:solidFill>
                        </a:rPr>
                        <a:t>…</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solidFill>
                            <a:srgbClr val="000000"/>
                          </a:solidFill>
                        </a:rPr>
                        <a:t>…</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solidFill>
                            <a:srgbClr val="000000"/>
                          </a:solidFill>
                        </a:rPr>
                        <a:t>…</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a:t>
                      </a:r>
                      <a:endParaRPr sz="1000">
                        <a:solidFill>
                          <a:srgbClr val="00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lang="en" sz="1000">
                          <a:solidFill>
                            <a:srgbClr val="000000"/>
                          </a:solidFill>
                        </a:rPr>
                        <a:t>…</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spcBef>
                          <a:spcPts val="0"/>
                        </a:spcBef>
                        <a:spcAft>
                          <a:spcPts val="0"/>
                        </a:spcAft>
                        <a:buNone/>
                      </a:pPr>
                      <a:r>
                        <a:rPr lang="en" sz="1000">
                          <a:solidFill>
                            <a:srgbClr val="000000"/>
                          </a:solidFill>
                        </a:rPr>
                        <a:t>…</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c>
                  <a:txBody>
                    <a:bodyPr/>
                    <a:lstStyle/>
                    <a:p>
                      <a:pPr indent="0" lvl="0" marL="0" rtl="0" algn="ctr">
                        <a:spcBef>
                          <a:spcPts val="0"/>
                        </a:spcBef>
                        <a:spcAft>
                          <a:spcPts val="0"/>
                        </a:spcAft>
                        <a:buNone/>
                      </a:pPr>
                      <a:r>
                        <a:rPr lang="en" sz="1000">
                          <a:solidFill>
                            <a:srgbClr val="000000"/>
                          </a:solidFill>
                        </a:rPr>
                        <a:t>…</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solidFill>
                            <a:srgbClr val="000000"/>
                          </a:solidFill>
                        </a:rPr>
                        <a:t>…</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solidFill>
                            <a:srgbClr val="000000"/>
                          </a:solidFill>
                        </a:rPr>
                        <a:t>…</a:t>
                      </a:r>
                      <a:endParaRPr sz="1000">
                        <a:solidFill>
                          <a:srgbClr val="00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lang="en" sz="1000">
                          <a:solidFill>
                            <a:srgbClr val="000000"/>
                          </a:solidFill>
                        </a:rPr>
                        <a:t>…</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spcBef>
                          <a:spcPts val="0"/>
                        </a:spcBef>
                        <a:spcAft>
                          <a:spcPts val="0"/>
                        </a:spcAft>
                        <a:buNone/>
                      </a:pPr>
                      <a:r>
                        <a:rPr lang="en" sz="1000">
                          <a:solidFill>
                            <a:srgbClr val="000000"/>
                          </a:solidFill>
                        </a:rPr>
                        <a:t>…</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c>
                  <a:txBody>
                    <a:bodyPr/>
                    <a:lstStyle/>
                    <a:p>
                      <a:pPr indent="0" lvl="0" marL="0" rtl="0" algn="ctr">
                        <a:spcBef>
                          <a:spcPts val="0"/>
                        </a:spcBef>
                        <a:spcAft>
                          <a:spcPts val="0"/>
                        </a:spcAft>
                        <a:buNone/>
                      </a:pPr>
                      <a:r>
                        <a:rPr lang="en" sz="1000">
                          <a:solidFill>
                            <a:srgbClr val="000000"/>
                          </a:solidFill>
                        </a:rPr>
                        <a:t>…</a:t>
                      </a:r>
                      <a:endParaRPr sz="1000">
                        <a:solidFill>
                          <a:srgbClr val="000000"/>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lang="en" sz="1000">
                          <a:solidFill>
                            <a:srgbClr val="000000"/>
                          </a:solidFill>
                        </a:rPr>
                        <a:t>…</a:t>
                      </a:r>
                      <a:endParaRPr sz="1000">
                        <a:solidFill>
                          <a:srgbClr val="000000"/>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r>
              <a:tr h="339175">
                <a:tc>
                  <a:txBody>
                    <a:bodyPr/>
                    <a:lstStyle/>
                    <a:p>
                      <a:pPr indent="0" lvl="0" marL="0" rtl="0" algn="ctr">
                        <a:spcBef>
                          <a:spcPts val="0"/>
                        </a:spcBef>
                        <a:spcAft>
                          <a:spcPts val="0"/>
                        </a:spcAft>
                        <a:buNone/>
                      </a:pPr>
                      <a:r>
                        <a:rPr b="1" lang="en" sz="1000"/>
                        <a:t>3298</a:t>
                      </a:r>
                      <a:endParaRPr b="1"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lang="en" sz="1000"/>
                        <a:t>79</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F</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6783</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13</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0</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lang="en" sz="1000"/>
                        <a:t>0</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spcBef>
                          <a:spcPts val="0"/>
                        </a:spcBef>
                        <a:spcAft>
                          <a:spcPts val="0"/>
                        </a:spcAft>
                        <a:buNone/>
                      </a:pPr>
                      <a:r>
                        <a:rPr lang="en" sz="1000"/>
                        <a:t>NA</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c>
                  <a:txBody>
                    <a:bodyPr/>
                    <a:lstStyle/>
                    <a:p>
                      <a:pPr indent="0" lvl="0" marL="0" rtl="0" algn="ctr">
                        <a:spcBef>
                          <a:spcPts val="0"/>
                        </a:spcBef>
                        <a:spcAft>
                          <a:spcPts val="0"/>
                        </a:spcAft>
                        <a:buNone/>
                      </a:pPr>
                      <a:r>
                        <a:rPr lang="en" sz="1000"/>
                        <a:t>NA</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NA</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4AAFF"/>
                    </a:solidFill>
                  </a:tcPr>
                </a:tc>
                <a:tc>
                  <a:txBody>
                    <a:bodyPr/>
                    <a:lstStyle/>
                    <a:p>
                      <a:pPr indent="0" lvl="0" marL="0" rtl="0" algn="ctr">
                        <a:spcBef>
                          <a:spcPts val="0"/>
                        </a:spcBef>
                        <a:spcAft>
                          <a:spcPts val="0"/>
                        </a:spcAft>
                        <a:buNone/>
                      </a:pPr>
                      <a:r>
                        <a:rPr lang="en" sz="1000"/>
                        <a:t>NA</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lang="en" sz="1000"/>
                        <a:t>NA</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spcBef>
                          <a:spcPts val="0"/>
                        </a:spcBef>
                        <a:spcAft>
                          <a:spcPts val="0"/>
                        </a:spcAft>
                        <a:buNone/>
                      </a:pPr>
                      <a:r>
                        <a:rPr lang="en" sz="1000"/>
                        <a:t>NA</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c>
                  <a:txBody>
                    <a:bodyPr/>
                    <a:lstStyle/>
                    <a:p>
                      <a:pPr indent="0" lvl="0" marL="0" rtl="0" algn="ctr">
                        <a:spcBef>
                          <a:spcPts val="0"/>
                        </a:spcBef>
                        <a:spcAft>
                          <a:spcPts val="0"/>
                        </a:spcAft>
                        <a:buNone/>
                      </a:pPr>
                      <a:r>
                        <a:rPr lang="en" sz="1000"/>
                        <a:t>…</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lang="en" sz="1000"/>
                        <a:t>NA</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r>
            </a:tbl>
          </a:graphicData>
        </a:graphic>
      </p:graphicFrame>
      <p:cxnSp>
        <p:nvCxnSpPr>
          <p:cNvPr id="178" name="Google Shape;178;p15"/>
          <p:cNvCxnSpPr/>
          <p:nvPr/>
        </p:nvCxnSpPr>
        <p:spPr>
          <a:xfrm>
            <a:off x="1482950" y="1413150"/>
            <a:ext cx="861900" cy="0"/>
          </a:xfrm>
          <a:prstGeom prst="straightConnector1">
            <a:avLst/>
          </a:prstGeom>
          <a:noFill/>
          <a:ln cap="flat" cmpd="sng" w="9525">
            <a:solidFill>
              <a:srgbClr val="595959"/>
            </a:solidFill>
            <a:prstDash val="solid"/>
            <a:round/>
            <a:headEnd len="med" w="med" type="diamond"/>
            <a:tailEnd len="med" w="med" type="diamond"/>
          </a:ln>
        </p:spPr>
      </p:cxnSp>
      <p:cxnSp>
        <p:nvCxnSpPr>
          <p:cNvPr id="179" name="Google Shape;179;p15"/>
          <p:cNvCxnSpPr/>
          <p:nvPr/>
        </p:nvCxnSpPr>
        <p:spPr>
          <a:xfrm>
            <a:off x="2444650" y="1413025"/>
            <a:ext cx="1134600" cy="0"/>
          </a:xfrm>
          <a:prstGeom prst="straightConnector1">
            <a:avLst/>
          </a:prstGeom>
          <a:noFill/>
          <a:ln cap="flat" cmpd="sng" w="9525">
            <a:solidFill>
              <a:srgbClr val="595959"/>
            </a:solidFill>
            <a:prstDash val="solid"/>
            <a:round/>
            <a:headEnd len="med" w="med" type="diamond"/>
            <a:tailEnd len="med" w="med" type="diamond"/>
          </a:ln>
        </p:spPr>
      </p:cxnSp>
      <p:sp>
        <p:nvSpPr>
          <p:cNvPr id="180" name="Google Shape;180;p15"/>
          <p:cNvSpPr txBox="1"/>
          <p:nvPr/>
        </p:nvSpPr>
        <p:spPr>
          <a:xfrm>
            <a:off x="2420050" y="3756250"/>
            <a:ext cx="2424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000">
                <a:solidFill>
                  <a:srgbClr val="000000"/>
                </a:solidFill>
              </a:rPr>
              <a:t>First time point</a:t>
            </a:r>
            <a:endParaRPr b="1" i="1" sz="1000">
              <a:solidFill>
                <a:srgbClr val="000000"/>
              </a:solidFill>
            </a:endParaRPr>
          </a:p>
        </p:txBody>
      </p:sp>
      <p:cxnSp>
        <p:nvCxnSpPr>
          <p:cNvPr id="181" name="Google Shape;181;p15"/>
          <p:cNvCxnSpPr/>
          <p:nvPr/>
        </p:nvCxnSpPr>
        <p:spPr>
          <a:xfrm>
            <a:off x="2475425" y="3759825"/>
            <a:ext cx="2419500" cy="21600"/>
          </a:xfrm>
          <a:prstGeom prst="straightConnector1">
            <a:avLst/>
          </a:prstGeom>
          <a:noFill/>
          <a:ln cap="flat" cmpd="sng" w="9525">
            <a:solidFill>
              <a:srgbClr val="595959"/>
            </a:solidFill>
            <a:prstDash val="solid"/>
            <a:round/>
            <a:headEnd len="med" w="med" type="triangle"/>
            <a:tailEnd len="med" w="med" type="triangle"/>
          </a:ln>
        </p:spPr>
      </p:cxnSp>
      <p:sp>
        <p:nvSpPr>
          <p:cNvPr id="182" name="Google Shape;182;p15"/>
          <p:cNvSpPr txBox="1"/>
          <p:nvPr/>
        </p:nvSpPr>
        <p:spPr>
          <a:xfrm>
            <a:off x="5127150" y="3737788"/>
            <a:ext cx="2424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000">
                <a:solidFill>
                  <a:srgbClr val="000000"/>
                </a:solidFill>
              </a:rPr>
              <a:t>Second time point</a:t>
            </a:r>
            <a:endParaRPr b="1" i="1" sz="1000">
              <a:solidFill>
                <a:srgbClr val="000000"/>
              </a:solidFill>
            </a:endParaRPr>
          </a:p>
        </p:txBody>
      </p:sp>
      <p:cxnSp>
        <p:nvCxnSpPr>
          <p:cNvPr id="183" name="Google Shape;183;p15"/>
          <p:cNvCxnSpPr/>
          <p:nvPr/>
        </p:nvCxnSpPr>
        <p:spPr>
          <a:xfrm flipH="1" rot="10800000">
            <a:off x="5104350" y="3767025"/>
            <a:ext cx="2470500" cy="7200"/>
          </a:xfrm>
          <a:prstGeom prst="straightConnector1">
            <a:avLst/>
          </a:prstGeom>
          <a:noFill/>
          <a:ln cap="flat" cmpd="sng" w="9525">
            <a:solidFill>
              <a:srgbClr val="595959"/>
            </a:solidFill>
            <a:prstDash val="solid"/>
            <a:round/>
            <a:headEnd len="med" w="med" type="triangle"/>
            <a:tailEnd len="med" w="med" type="triangle"/>
          </a:ln>
        </p:spPr>
      </p:cxnSp>
      <p:sp>
        <p:nvSpPr>
          <p:cNvPr id="184" name="Google Shape;184;p15"/>
          <p:cNvSpPr txBox="1"/>
          <p:nvPr/>
        </p:nvSpPr>
        <p:spPr>
          <a:xfrm>
            <a:off x="3188225" y="702475"/>
            <a:ext cx="11838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t>Corticosteroids</a:t>
            </a:r>
            <a:endParaRPr b="1" sz="1000"/>
          </a:p>
        </p:txBody>
      </p:sp>
      <p:sp>
        <p:nvSpPr>
          <p:cNvPr id="185" name="Google Shape;185;p15"/>
          <p:cNvSpPr txBox="1"/>
          <p:nvPr/>
        </p:nvSpPr>
        <p:spPr>
          <a:xfrm>
            <a:off x="3684200" y="441950"/>
            <a:ext cx="1392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t>Discharge/transfer</a:t>
            </a:r>
            <a:endParaRPr b="1" sz="1000"/>
          </a:p>
        </p:txBody>
      </p:sp>
      <p:sp>
        <p:nvSpPr>
          <p:cNvPr id="186" name="Google Shape;186;p15"/>
          <p:cNvSpPr txBox="1"/>
          <p:nvPr/>
        </p:nvSpPr>
        <p:spPr>
          <a:xfrm>
            <a:off x="4194963" y="702475"/>
            <a:ext cx="11838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t>Death</a:t>
            </a:r>
            <a:endParaRPr b="1" sz="1000"/>
          </a:p>
        </p:txBody>
      </p:sp>
      <p:cxnSp>
        <p:nvCxnSpPr>
          <p:cNvPr id="187" name="Google Shape;187;p15"/>
          <p:cNvCxnSpPr/>
          <p:nvPr/>
        </p:nvCxnSpPr>
        <p:spPr>
          <a:xfrm>
            <a:off x="3817800" y="971300"/>
            <a:ext cx="0" cy="492600"/>
          </a:xfrm>
          <a:prstGeom prst="straightConnector1">
            <a:avLst/>
          </a:prstGeom>
          <a:noFill/>
          <a:ln cap="flat" cmpd="sng" w="9525">
            <a:solidFill>
              <a:srgbClr val="595959"/>
            </a:solidFill>
            <a:prstDash val="solid"/>
            <a:round/>
            <a:headEnd len="med" w="med" type="none"/>
            <a:tailEnd len="med" w="med" type="diamond"/>
          </a:ln>
        </p:spPr>
      </p:cxnSp>
      <p:cxnSp>
        <p:nvCxnSpPr>
          <p:cNvPr id="188" name="Google Shape;188;p15"/>
          <p:cNvCxnSpPr/>
          <p:nvPr/>
        </p:nvCxnSpPr>
        <p:spPr>
          <a:xfrm>
            <a:off x="4786875" y="971300"/>
            <a:ext cx="0" cy="492600"/>
          </a:xfrm>
          <a:prstGeom prst="straightConnector1">
            <a:avLst/>
          </a:prstGeom>
          <a:noFill/>
          <a:ln cap="flat" cmpd="sng" w="9525">
            <a:solidFill>
              <a:srgbClr val="595959"/>
            </a:solidFill>
            <a:prstDash val="solid"/>
            <a:round/>
            <a:headEnd len="med" w="med" type="none"/>
            <a:tailEnd len="med" w="med" type="diamond"/>
          </a:ln>
        </p:spPr>
      </p:cxnSp>
      <p:cxnSp>
        <p:nvCxnSpPr>
          <p:cNvPr id="189" name="Google Shape;189;p15"/>
          <p:cNvCxnSpPr/>
          <p:nvPr/>
        </p:nvCxnSpPr>
        <p:spPr>
          <a:xfrm>
            <a:off x="4380200" y="746975"/>
            <a:ext cx="7800" cy="731400"/>
          </a:xfrm>
          <a:prstGeom prst="straightConnector1">
            <a:avLst/>
          </a:prstGeom>
          <a:noFill/>
          <a:ln cap="flat" cmpd="sng" w="9525">
            <a:solidFill>
              <a:srgbClr val="595959"/>
            </a:solidFill>
            <a:prstDash val="solid"/>
            <a:round/>
            <a:headEnd len="med" w="med" type="none"/>
            <a:tailEnd len="med" w="med" type="diamond"/>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ongitudinal Intervention">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