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12192000"/>
  <p:notesSz cx="6858000" cy="9144000"/>
  <p:embeddedFontLst>
    <p:embeddedFont>
      <p:font typeface="Play"/>
      <p:regular r:id="rId57"/>
      <p:bold r:id="rId58"/>
    </p:embeddedFont>
    <p:embeddedFont>
      <p:font typeface="Robot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iYccE7CaIosqj89bzmQx/YxP/M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55D387-744F-409C-A33C-9FA9267D86CA}">
  <a:tblStyle styleId="{6655D387-744F-409C-A33C-9FA9267D86CA}" styleName="Table_0">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Aptos"/>
          <a:ea typeface="Aptos"/>
          <a:cs typeface="Aptos"/>
        </a:font>
        <a:schemeClr val="lt1"/>
      </a:tcTxStyle>
      <a:tcStyle>
        <a:fill>
          <a:solidFill>
            <a:schemeClr val="dk1"/>
          </a:solidFill>
        </a:fill>
      </a:tcStyle>
    </a:lastCol>
    <a:firstCol>
      <a:tcTxStyle b="on" i="off">
        <a:font>
          <a:latin typeface="Aptos"/>
          <a:ea typeface="Aptos"/>
          <a:cs typeface="Aptos"/>
        </a:font>
        <a:schemeClr val="lt1"/>
      </a:tcTxStyle>
      <a:tcStyle>
        <a:fill>
          <a:solidFill>
            <a:schemeClr val="dk1"/>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Aptos"/>
          <a:ea typeface="Aptos"/>
          <a:cs typeface="Aptos"/>
        </a:font>
        <a:schemeClr val="dk1"/>
      </a:tcTxStyle>
    </a:seCell>
    <a:swCell>
      <a:tcTxStyle b="on" i="off">
        <a:font>
          <a:latin typeface="Aptos"/>
          <a:ea typeface="Aptos"/>
          <a:cs typeface="Aptos"/>
        </a:font>
        <a:schemeClr val="dk1"/>
      </a:tcTxStyle>
    </a:swCell>
    <a:firstRow>
      <a:tcTxStyle b="on" i="off">
        <a:font>
          <a:latin typeface="Aptos"/>
          <a:ea typeface="Aptos"/>
          <a:cs typeface="Aptos"/>
        </a:font>
        <a:schemeClr val="lt1"/>
      </a:tcTxStyle>
      <a:tcStyle>
        <a:tcBdr>
          <a:bottom>
            <a:ln cap="flat" cmpd="sng" w="25400">
              <a:solidFill>
                <a:schemeClr val="dk1"/>
              </a:solidFill>
              <a:prstDash val="solid"/>
              <a:round/>
              <a:headEnd len="sm" w="sm" type="none"/>
              <a:tailEnd len="sm" w="sm" type="none"/>
            </a:ln>
          </a:bottom>
        </a:tcBdr>
        <a:fill>
          <a:solidFill>
            <a:schemeClr val="dk1"/>
          </a:solidFill>
        </a:fill>
      </a:tcStyle>
    </a:firstRow>
    <a:neCell>
      <a:tcTxStyle/>
    </a:neCell>
    <a:nwCell>
      <a:tcTxStyle/>
    </a:nwCell>
  </a:tblStyle>
  <a:tblStyle styleId="{F1669FD7-B0F3-41A0-B53D-9F496732C592}" styleName="Table_1">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BD46C37-D01B-4F45-941C-DAD3E01F40E0}"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Play-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regular.fntdata"/><Relationship Id="rId14" Type="http://schemas.openxmlformats.org/officeDocument/2006/relationships/slide" Target="slides/slide8.xml"/><Relationship Id="rId58" Type="http://schemas.openxmlformats.org/officeDocument/2006/relationships/font" Target="fonts/Play-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93/bioinformatics/btr597"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200"/>
              <a:buFont typeface="Arial"/>
              <a:buChar char="•"/>
            </a:pPr>
            <a:r>
              <a:rPr lang="en-US"/>
              <a:t>To take into account the lost of information due to censoring, we use estimators based on the inverse probability of censoring weight (IPCW) methods. The time-dependent AUC and the time-dependent BS can be extended to the interval ]0, τ ] by computing respectively the integrated AUC (iAUC) and the integrated BS (iBS)</a:t>
            </a:r>
            <a:endParaRPr/>
          </a:p>
          <a:p>
            <a:pPr indent="-285750" lvl="0" marL="285750" rtl="0" algn="l">
              <a:spcBef>
                <a:spcPts val="0"/>
              </a:spcBef>
              <a:spcAft>
                <a:spcPts val="0"/>
              </a:spcAft>
              <a:buClr>
                <a:schemeClr val="dk1"/>
              </a:buClr>
              <a:buSzPts val="1200"/>
              <a:buFont typeface="Arial"/>
              <a:buChar char="•"/>
            </a:pPr>
            <a:r>
              <a:rPr lang="en-US"/>
              <a:t>iAUC (higher the better) and iBS (lower the better) on the validation sets.</a:t>
            </a:r>
            <a:endParaRPr/>
          </a:p>
          <a:p>
            <a:pPr indent="-285750" lvl="0" marL="285750" rtl="0" algn="l">
              <a:spcBef>
                <a:spcPts val="0"/>
              </a:spcBef>
              <a:spcAft>
                <a:spcPts val="0"/>
              </a:spcAft>
              <a:buClr>
                <a:schemeClr val="dk1"/>
              </a:buClr>
              <a:buSzPts val="1200"/>
              <a:buFont typeface="Arial"/>
              <a:buChar char="•"/>
            </a:pPr>
            <a:r>
              <a:rPr lang="en-US"/>
              <a:t>We score predictive performance of the methods through internal validation (Royston and Altman, 2013) by randomly splitting M = 50 times each data set Dm (m = 1, · · · , M)</a:t>
            </a:r>
            <a:endParaRPr/>
          </a:p>
          <a:p>
            <a:pPr indent="-285750" lvl="0" marL="285750" rtl="0" algn="l">
              <a:spcBef>
                <a:spcPts val="0"/>
              </a:spcBef>
              <a:spcAft>
                <a:spcPts val="0"/>
              </a:spcAft>
              <a:buClr>
                <a:schemeClr val="dk1"/>
              </a:buClr>
              <a:buSzPts val="1200"/>
              <a:buFont typeface="Arial"/>
              <a:buChar char="•"/>
            </a:pPr>
            <a:r>
              <a:rPr lang="en-US"/>
              <a:t> Criterio de performance</a:t>
            </a:r>
            <a:endParaRPr/>
          </a:p>
          <a:p>
            <a:pPr indent="-285750" lvl="0" marL="285750" rtl="0" algn="l">
              <a:spcBef>
                <a:spcPts val="0"/>
              </a:spcBef>
              <a:spcAft>
                <a:spcPts val="0"/>
              </a:spcAft>
              <a:buClr>
                <a:schemeClr val="dk1"/>
              </a:buClr>
              <a:buSzPts val="1200"/>
              <a:buFont typeface="Arial"/>
              <a:buChar char="•"/>
            </a:pPr>
            <a:r>
              <a:rPr lang="en-US"/>
              <a:t>We applyone-hot encoding on categorical features and standardizenumerical features with the Z-score.</a:t>
            </a:r>
            <a:endParaRPr/>
          </a:p>
          <a:p>
            <a:pPr indent="-209550" lvl="0" marL="28575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rPr lang="en-US"/>
              <a:t>Stekhoven, D.J. and Buehlmann, P. (2012). 'MissForest - nonparametric missing value imputation for mixed-type data', Bioinformatics, 28(1) 2012, 112-118. </a:t>
            </a:r>
            <a:r>
              <a:rPr lang="en-US" u="sng">
                <a:solidFill>
                  <a:schemeClr val="hlink"/>
                </a:solidFill>
                <a:hlinkClick r:id="rId2"/>
              </a:rPr>
              <a:t>https://doi.org/10.1093/bioinformatics/btr597</a:t>
            </a:r>
            <a:r>
              <a:rPr lang="en-US"/>
              <a: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185" name="Google Shape;1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also fits a baseline survival function. This step is necessary to transform relative risk estimates into subject‑specific survival probabilities</a:t>
            </a:r>
            <a:br>
              <a:rPr lang="en-US"/>
            </a:br>
            <a:r>
              <a:rPr lang="en-US"/>
              <a:t>(L1+L2): combina lasso y ridge, útil para variables corelacionadas, regulariza, fuerza (L1) lasso, a que B tengan coef 0</a:t>
            </a:r>
            <a:endParaRPr/>
          </a:p>
          <a:p>
            <a:pPr indent="0" lvl="0" marL="0" rtl="0" algn="l">
              <a:spcBef>
                <a:spcPts val="0"/>
              </a:spcBef>
              <a:spcAft>
                <a:spcPts val="0"/>
              </a:spcAft>
              <a:buNone/>
            </a:pPr>
            <a:r>
              <a:rPr lang="en-US"/>
              <a:t>L2= Penalización por la suma de valores absolutos: Σ |βⱼ|</a:t>
            </a:r>
            <a:br>
              <a:rPr lang="en-US"/>
            </a:br>
            <a:r>
              <a:rPr lang="en-US"/>
              <a:t>Keep most variables in the equation, just shrink their effect sizes to prevent overfitting.</a:t>
            </a:r>
            <a:br>
              <a:rPr lang="en-US"/>
            </a:br>
            <a:br>
              <a:rPr lang="en-US"/>
            </a:br>
            <a:r>
              <a:rPr lang="en-US"/>
              <a:t>we eliminated inmortal time bias (dead patients look like without readmission). </a:t>
            </a:r>
            <a:endParaRPr/>
          </a:p>
          <a:p>
            <a:pPr indent="0" lvl="0" marL="0" rtl="0" algn="l">
              <a:spcBef>
                <a:spcPts val="0"/>
              </a:spcBef>
              <a:spcAft>
                <a:spcPts val="0"/>
              </a:spcAft>
              <a:buNone/>
            </a:pPr>
            <a:r>
              <a:rPr lang="en-US"/>
              <a:t>This correction is essentially the Cause-Specific Hazard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Score shifting: En lugar de recalcular la predicción completa en cada iteración, actualicé el predictor lineal calculando únicamente la </a:t>
            </a:r>
            <a:r>
              <a:rPr b="1" lang="en-US"/>
              <a:t>diferencia marginal de riesgo</a:t>
            </a:r>
            <a:r>
              <a:rPr lang="en-US"/>
              <a:t> introducida por la variable permutada (mantener los coeficientes beta fijos), estás forzando al modelo a usar la información "basura" que le estás dando. Si el error incrementa sustancialmente, confirmas que el modelo realmente necesitaba esa variable.</a:t>
            </a:r>
            <a:endParaRPr/>
          </a:p>
          <a:p>
            <a:pPr indent="-171450" lvl="0" marL="171450" rtl="0" algn="l">
              <a:spcBef>
                <a:spcPts val="0"/>
              </a:spcBef>
              <a:spcAft>
                <a:spcPts val="0"/>
              </a:spcAft>
              <a:buClr>
                <a:schemeClr val="dk1"/>
              </a:buClr>
              <a:buSzPts val="1200"/>
              <a:buFont typeface="Calibri"/>
              <a:buChar char="-"/>
            </a:pPr>
            <a:r>
              <a:rPr lang="en-US"/>
              <a:t>la parte "predictiva" del modelo de Cox es una simple suma ponderada (producto punto).</a:t>
            </a:r>
            <a:endParaRPr/>
          </a:p>
          <a:p>
            <a:pPr indent="-171450" lvl="0" marL="171450" rtl="0" algn="l">
              <a:spcBef>
                <a:spcPts val="0"/>
              </a:spcBef>
              <a:spcAft>
                <a:spcPts val="0"/>
              </a:spcAft>
              <a:buClr>
                <a:schemeClr val="dk1"/>
              </a:buClr>
              <a:buSzPts val="1200"/>
              <a:buFont typeface="Calibri"/>
              <a:buChar char="-"/>
            </a:pPr>
            <a:r>
              <a:rPr lang="en-US"/>
              <a:t>No hago el predict completo, sino le resto el riesgo.</a:t>
            </a:r>
            <a:endParaRPr/>
          </a:p>
        </p:txBody>
      </p:sp>
      <p:sp>
        <p:nvSpPr>
          <p:cNvPr id="193" name="Google Shape;19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8e77668ec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8e77668ec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Ejemplo de cálculo de IBS comparativo comparacion &lt;- pec::pec( object = list("Modelo_Propuesto" = fit_cox), formula = Surv(tiempo, evento) ~ 1, # Modelo nulo (Kaplan-Meier) data = datos_validacion, reference = TRUE )</a:t>
            </a:r>
            <a:endParaRPr/>
          </a:p>
        </p:txBody>
      </p:sp>
      <p:sp>
        <p:nvSpPr>
          <p:cNvPr id="296" name="Google Shape;296;g3c8e77668ec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8e77668ec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8e77668ec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c8e77668ec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8a4bf19f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8a4bf19fb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c8a4bf19fb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a7cb1e84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a7cb1e84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ca7cb1e84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42a26731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Ejecuta tu modelo CoxPH preliminar.</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Pídele al software que calcule el </a:t>
            </a:r>
            <a:r>
              <a:rPr b="1" lang="en-US" sz="1100">
                <a:latin typeface="Arial"/>
                <a:ea typeface="Arial"/>
                <a:cs typeface="Arial"/>
                <a:sym typeface="Arial"/>
              </a:rPr>
              <a:t>GVIF</a:t>
            </a:r>
            <a:r>
              <a:rPr lang="en-US" sz="1100">
                <a:latin typeface="Arial"/>
                <a:ea typeface="Arial"/>
                <a:cs typeface="Arial"/>
                <a:sym typeface="Arial"/>
              </a:rPr>
              <a:t> de ese modelo.</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Si alguna variable (o grupo de variables de Andersen) supera un valor comparable a un VIF de 3 o 5, vuelve a la literatura clínica clínica y decide cuál eliminar.</a:t>
            </a:r>
            <a:endParaRPr sz="1100">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a:t>- Preprocesamiento y Colinealidad: </a:t>
            </a:r>
            <a:endParaRPr/>
          </a:p>
          <a:p>
            <a:pPr indent="0" lvl="0" marL="0" rtl="0" algn="l">
              <a:spcBef>
                <a:spcPts val="0"/>
              </a:spcBef>
              <a:spcAft>
                <a:spcPts val="0"/>
              </a:spcAft>
              <a:buNone/>
            </a:pPr>
            <a:r>
              <a:rPr lang="en-US"/>
              <a:t>* Eliminación por correlación (&gt;0.9) entre variables predictoras para limpiar la señal de los valores SHAP. </a:t>
            </a:r>
            <a:endParaRPr/>
          </a:p>
          <a:p>
            <a:pPr indent="0" lvl="0" marL="0" rtl="0" algn="l">
              <a:spcBef>
                <a:spcPts val="0"/>
              </a:spcBef>
              <a:spcAft>
                <a:spcPts val="0"/>
              </a:spcAft>
              <a:buNone/>
            </a:pPr>
            <a:r>
              <a:rPr lang="en-US"/>
              <a:t>* Uso de GVIF (Generalized Variance Inflation Factor) antes del modelo Cox tradicional. Se busca GVIF^(1/(2*df)) al cuadrado &lt; 3 (ideal) o &lt; 5 para evitar que la multicolinealidad infle los errores estándar y arruine la inferencia clínica.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 </a:t>
            </a:r>
            <a:r>
              <a:rPr lang="en-US"/>
              <a:t>Se generó una división reproducible persona‑nivel 80/20 entre desarrollo y prueba utilizando una estratificación jerárquica basada en plan de tratamiento, estado de finalización del tratamiento, reingreso y eventos de mortalidad, con el fin de preservar la prevalencia de los desenlaces y la distribución del caso‑mix. Estratos poco frecuentes se colapsaron progresivamente para asegurar un tamaño mínimo de celda de dos observaciones. Los mismos índices de división se aplicaron de manera consistente en todas las imputaciones múltiples.</a:t>
            </a:r>
            <a:endParaRPr/>
          </a:p>
          <a:p>
            <a:pPr indent="0" lvl="0" marL="0" rtl="0" algn="l">
              <a:spcBef>
                <a:spcPts val="0"/>
              </a:spcBef>
              <a:spcAft>
                <a:spcPts val="0"/>
              </a:spcAft>
              <a:buNone/>
            </a:pPr>
            <a:r>
              <a:t/>
            </a:r>
            <a:endParaRPr/>
          </a:p>
        </p:txBody>
      </p:sp>
      <p:sp>
        <p:nvSpPr>
          <p:cNvPr id="345" name="Google Shape;345;g3942a26731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95ca3def7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Ejecuta tu modelo CoxPH preliminar.</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Pídele al software que calcule el </a:t>
            </a:r>
            <a:r>
              <a:rPr b="1" lang="en-US" sz="1100">
                <a:latin typeface="Arial"/>
                <a:ea typeface="Arial"/>
                <a:cs typeface="Arial"/>
                <a:sym typeface="Arial"/>
              </a:rPr>
              <a:t>GVIF</a:t>
            </a:r>
            <a:r>
              <a:rPr lang="en-US" sz="1100">
                <a:latin typeface="Arial"/>
                <a:ea typeface="Arial"/>
                <a:cs typeface="Arial"/>
                <a:sym typeface="Arial"/>
              </a:rPr>
              <a:t> de ese modelo.</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Si alguna variable (o grupo de variables de Andersen) supera un valor comparable a un VIF de 3 o 5, vuelve a la literatura clínica clínica y decide cuál eliminar.</a:t>
            </a:r>
            <a:endParaRPr sz="1100">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a:t>- Preprocesamiento y Colinealidad: </a:t>
            </a:r>
            <a:endParaRPr/>
          </a:p>
          <a:p>
            <a:pPr indent="0" lvl="0" marL="0" rtl="0" algn="l">
              <a:spcBef>
                <a:spcPts val="0"/>
              </a:spcBef>
              <a:spcAft>
                <a:spcPts val="0"/>
              </a:spcAft>
              <a:buNone/>
            </a:pPr>
            <a:r>
              <a:rPr lang="en-US"/>
              <a:t>* Eliminación por correlación (&gt;0.9) entre variables predictoras para limpiar la señal de los valores SHAP. </a:t>
            </a:r>
            <a:endParaRPr/>
          </a:p>
          <a:p>
            <a:pPr indent="0" lvl="0" marL="0" rtl="0" algn="l">
              <a:spcBef>
                <a:spcPts val="0"/>
              </a:spcBef>
              <a:spcAft>
                <a:spcPts val="0"/>
              </a:spcAft>
              <a:buNone/>
            </a:pPr>
            <a:r>
              <a:rPr lang="en-US"/>
              <a:t>* Uso de GVIF (Generalized Variance Inflation Factor) antes del modelo Cox tradicional. Se busca GVIF^(1/(2*df)) al cuadrado &lt; 3 (ideal) o &lt; 5 para evitar que la multicolinealidad infle los errores estándar y arruine la inferencia clínica.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 Se generó una división reproducible persona‑nivel 80/20 entre desarrollo y prueba utilizando una estratificación jerárquica basada en plan de tratamiento, estado de finalización del tratamiento, reingreso y eventos de mortalidad, con el fin de preservar la prevalencia de los desenlaces y la distribución del caso‑mix. Estratos poco frecuentes se colapsaron progresivamente para asegurar un tamaño mínimo de celda de dos observaciones. Los mismos índices de división se aplicaron de manera consistente en todas las imputaciones múltiples.</a:t>
            </a:r>
            <a:endParaRPr/>
          </a:p>
          <a:p>
            <a:pPr indent="0" lvl="0" marL="0" rtl="0" algn="l">
              <a:spcBef>
                <a:spcPts val="0"/>
              </a:spcBef>
              <a:spcAft>
                <a:spcPts val="0"/>
              </a:spcAft>
              <a:buNone/>
            </a:pPr>
            <a:r>
              <a:t/>
            </a:r>
            <a:endParaRPr/>
          </a:p>
        </p:txBody>
      </p:sp>
      <p:sp>
        <p:nvSpPr>
          <p:cNvPr id="394" name="Google Shape;394;g395ca3def7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Hastie, T., Tibshirani, R., Friedman, J. (2009). The Elements of Statistical Learning. Springer Series in Statistics. Springer, New York, NY. https://doi.org/10.1007/978-0-387-84858-7</a:t>
            </a:r>
            <a:endParaRPr/>
          </a:p>
        </p:txBody>
      </p:sp>
      <p:sp>
        <p:nvSpPr>
          <p:cNvPr id="440" name="Google Shape;44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Hastie, T., Tibshirani, R., Friedman, J. (2009). The Elements of Statistical Learning. Springer Series in Statistics. Springer, New York, NY. https://doi.org/10.1007/978-0-387-84858-7</a:t>
            </a:r>
            <a:br>
              <a:rPr b="0" i="0" lang="en-US" sz="1200">
                <a:solidFill>
                  <a:schemeClr val="dk1"/>
                </a:solidFill>
                <a:latin typeface="Calibri"/>
                <a:ea typeface="Calibri"/>
                <a:cs typeface="Calibri"/>
                <a:sym typeface="Calibri"/>
              </a:rPr>
            </a:b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ES</a:t>
            </a:r>
            <a:endParaRPr/>
          </a:p>
        </p:txBody>
      </p:sp>
      <p:sp>
        <p:nvSpPr>
          <p:cNvPr id="448" name="Google Shape;44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Hastie, T., Tibshirani, R., Friedman, J. (2009). The Elements of Statistical Learning. Springer Series in Statistics. Springer, New York, NY. https://doi.org/10.1007/978-0-387-84858-7</a:t>
            </a:r>
            <a:endParaRPr/>
          </a:p>
        </p:txBody>
      </p:sp>
      <p:sp>
        <p:nvSpPr>
          <p:cNvPr id="458" name="Google Shape;45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9438bb775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9438bb775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30200" lvl="0" marL="457200" rtl="0" algn="l">
              <a:lnSpc>
                <a:spcPct val="90000"/>
              </a:lnSpc>
              <a:spcBef>
                <a:spcPts val="1000"/>
              </a:spcBef>
              <a:spcAft>
                <a:spcPts val="0"/>
              </a:spcAft>
              <a:buClr>
                <a:schemeClr val="dk1"/>
              </a:buClr>
              <a:buSzPts val="1600"/>
              <a:buChar char="-"/>
            </a:pPr>
            <a:r>
              <a:rPr lang="en-US" sz="1600">
                <a:latin typeface="Arial"/>
                <a:ea typeface="Arial"/>
                <a:cs typeface="Arial"/>
                <a:sym typeface="Arial"/>
              </a:rPr>
              <a:t>La selección de los umbrales óptimos de decisión clínica se adaptó a la prevalencia y la naturaleza de cada riesgo competitivo. Para la Mortalidad, dado el marcado desbalance de clases (evento raro, incidencia acumulada &lt;7%), el umbral se determinó maximizando el F1-Score. Este enfoque prioriza el equilibrio entre Sensibilidad y Valor Predictivo Positivo (Precisión), minimizando los falsos positivos en intervenciones de alta complejidad. Por el contrario, para la Readmisión, al presentar una mayor prevalencia sistémica (~30%), se utilizó el Índice de Youden para maximizar la discriminación global (Sensibilidad + Especificidad - 1), optimizando la capacidad del modelo para clasificar a la población general en protocolos de seguimiento estándar o intensivo.</a:t>
            </a:r>
            <a:endParaRPr/>
          </a:p>
        </p:txBody>
      </p:sp>
      <p:sp>
        <p:nvSpPr>
          <p:cNvPr id="505" name="Google Shape;505;g39438bb775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Oliver, M., Allou, N., Devineau, M. et al. A transformer model for cause-specific hazard prediction. BMC Bioinformatics 25, 175 (2024). https://doi-org.uchile.idm.oclc.org/10.1186/s12859-024-05799-2</a:t>
            </a:r>
            <a:endParaRPr/>
          </a:p>
          <a:p>
            <a:pPr indent="0" lvl="0" marL="0" rtl="0" algn="l">
              <a:spcBef>
                <a:spcPts val="0"/>
              </a:spcBef>
              <a:spcAft>
                <a:spcPts val="0"/>
              </a:spcAft>
              <a:buNone/>
            </a:pPr>
            <a:r>
              <a:rPr lang="en-US"/>
              <a:t>Multi layer perceptron models outper-formed previous models in both continuous (DeepSurv) and discrete time (DeepHit) [10, 11]. </a:t>
            </a:r>
            <a:endParaRPr/>
          </a:p>
        </p:txBody>
      </p:sp>
      <p:sp>
        <p:nvSpPr>
          <p:cNvPr id="513" name="Google Shape;51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c8a4bf19fb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c8a4bf19fb_0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Si analizamos la discriminación y el Brier Score en el tiempo, vemos un fenómeno interesante explicado por la sensibilidad y especificidad del modelo.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Primeros 2 años, baja sensibilidad, se va a lo seguro (pocos eventos). </a:t>
            </a:r>
            <a:r>
              <a:rPr lang="en-US"/>
              <a:t>Su especificidad y Valor Predictivo Negativo son cercanos al 100%. Acierta diciendo 'no'.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Pero a partir del mes 60, la realidad clínica cambia. El modelo nota el riesgo y cambia de estrategia: su sensibilidad se dispara por encima del 80%, pero su especificidad colapsa. Empieza a predecir muchos más eventos.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Esto explica los puntajes globales:</a:t>
            </a:r>
            <a:endParaRPr/>
          </a:p>
          <a:p>
            <a:pPr indent="0" lvl="0" marL="0" rtl="0" algn="l">
              <a:spcBef>
                <a:spcPts val="0"/>
              </a:spcBef>
              <a:spcAft>
                <a:spcPts val="0"/>
              </a:spcAft>
              <a:buClr>
                <a:schemeClr val="dk1"/>
              </a:buClr>
              <a:buSzPts val="1100"/>
              <a:buFont typeface="Arial"/>
              <a:buNone/>
            </a:pPr>
            <a:r>
              <a:rPr lang="en-US"/>
              <a:t>Para la mortalidad, como sigue siendo un evento poco frecuente, el Brier Score se mantiene bajo, pero a costa de un Valor Predictivo Positivo pobre. El modelo da muchas falsas alarmas de muerte.</a:t>
            </a:r>
            <a:endParaRPr/>
          </a:p>
          <a:p>
            <a:pPr indent="0" lvl="0" marL="0" rtl="0" algn="l">
              <a:spcBef>
                <a:spcPts val="0"/>
              </a:spcBef>
              <a:spcAft>
                <a:spcPts val="0"/>
              </a:spcAft>
              <a:buClr>
                <a:schemeClr val="dk1"/>
              </a:buClr>
              <a:buSzPts val="1100"/>
              <a:buFont typeface="Arial"/>
              <a:buNone/>
            </a:pPr>
            <a:r>
              <a:rPr lang="en-US"/>
              <a:t>Para la readmisión, que es mucho más frecuente a largo plazo, el Valor Predictivo Negativo cae drásticamente. El modelo ya no puede asegurar quién no será readmitido, lo que destruye su capacidad de discriminación (AUC) y dispara el Brier Score</a:t>
            </a:r>
            <a:endParaRPr/>
          </a:p>
          <a:p>
            <a:pPr indent="-317500" lvl="0" marL="457200" rtl="0" algn="l">
              <a:spcBef>
                <a:spcPts val="0"/>
              </a:spcBef>
              <a:spcAft>
                <a:spcPts val="0"/>
              </a:spcAft>
              <a:buSzPts val="1400"/>
              <a:buChar char="●"/>
            </a:pPr>
            <a:r>
              <a:rPr lang="en-US"/>
              <a:t>al principio asume que "no pasa nada" (alta especificidad) y al final asume que "pasa todo" (alta sensibilidad)</a:t>
            </a:r>
            <a:endParaRPr/>
          </a:p>
          <a:p>
            <a:pPr indent="-317500" lvl="1" marL="914400" rtl="0" algn="l">
              <a:spcBef>
                <a:spcPts val="0"/>
              </a:spcBef>
              <a:spcAft>
                <a:spcPts val="0"/>
              </a:spcAft>
              <a:buSzPts val="1400"/>
              <a:buChar char="○"/>
            </a:pPr>
            <a:r>
              <a:rPr lang="en-US"/>
              <a:t>Inicio: El modelo es Conservador (Sensibilidad 0, Especificidad 1). Solo dice "NO".</a:t>
            </a:r>
            <a:endParaRPr/>
          </a:p>
          <a:p>
            <a:pPr indent="-317500" lvl="1" marL="914400" rtl="0" algn="l">
              <a:spcBef>
                <a:spcPts val="0"/>
              </a:spcBef>
              <a:spcAft>
                <a:spcPts val="0"/>
              </a:spcAft>
              <a:buSzPts val="1400"/>
              <a:buChar char="○"/>
            </a:pPr>
            <a:r>
              <a:rPr lang="en-US"/>
              <a:t>Final: El modelo es Alarmista (Sensibilidad alta, Especificidad baja). Empieza a decir "SÍ" a casi todo.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Tradicionalmente, en machine learning, si la probabilidad cruza el 50%, predecimos el evento. Nuestras curvas demuestran que eso aquí no sirve. Para detectar el riesgo a tiempo en la vida real, a veces basta con que el modelo detecte un 2% o un 19% de probabilidad, dependiendo del momento clínico.</a:t>
            </a:r>
            <a:endParaRPr/>
          </a:p>
          <a:p>
            <a:pPr indent="0" lvl="0" marL="0" rtl="0" algn="l">
              <a:spcBef>
                <a:spcPts val="0"/>
              </a:spcBef>
              <a:spcAft>
                <a:spcPts val="0"/>
              </a:spcAft>
              <a:buNone/>
            </a:pPr>
            <a:r>
              <a:t/>
            </a:r>
            <a:endParaRPr/>
          </a:p>
        </p:txBody>
      </p:sp>
      <p:sp>
        <p:nvSpPr>
          <p:cNvPr id="521" name="Google Shape;521;g3c8a4bf19fb_0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c8a4bf19fb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c8a4bf19fb_0_1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En el fondo, el inverso proporcional de la variabilidad multiplicado por n factor = importancia relativa ajustada por estabilidad (penalización por variabilidad interindividual)</a:t>
            </a:r>
            <a:endParaRPr/>
          </a:p>
          <a:p>
            <a:pPr indent="-317500" lvl="0" marL="457200" rtl="0" algn="l">
              <a:spcBef>
                <a:spcPts val="0"/>
              </a:spcBef>
              <a:spcAft>
                <a:spcPts val="0"/>
              </a:spcAft>
              <a:buSzPts val="1400"/>
              <a:buChar char="-"/>
            </a:pPr>
            <a:r>
              <a:rPr lang="en-US"/>
              <a:t>Este gráfico muestra la evolución relativa de los predictores más robustos del modelo a lo largo del tiempo, ponderando tanto su magnitud como su estabilidad, y permitiendo identificar cuáles factores permanecen estructuralmente relevantes y cuáles ganan o pierden importancia con el seguimiento.</a:t>
            </a:r>
            <a:endParaRPr/>
          </a:p>
          <a:p>
            <a:pPr indent="-317500" lvl="0" marL="457200" rtl="0" algn="l">
              <a:spcBef>
                <a:spcPts val="0"/>
              </a:spcBef>
              <a:spcAft>
                <a:spcPts val="0"/>
              </a:spcAft>
              <a:buSzPts val="1400"/>
              <a:buChar char="-"/>
            </a:pPr>
            <a:r>
              <a:rPr lang="en-US"/>
              <a:t>Si hayun flujo ancho y sólido, es porque el modelo tiene mucha confianza en ese predictor.</a:t>
            </a:r>
            <a:endParaRPr/>
          </a:p>
        </p:txBody>
      </p:sp>
      <p:sp>
        <p:nvSpPr>
          <p:cNvPr id="531" name="Google Shape;531;g3c8a4bf19fb_0_1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c8bb76bf58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c8bb76bf58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en-US"/>
              <a:t>En el fondo, el inverso proporcional de la variabilidad multiplicado por n factor = importancia relativa ajustada por estabilidad (penalización por variabilidad interindividual)</a:t>
            </a:r>
            <a:endParaRPr/>
          </a:p>
          <a:p>
            <a:pPr indent="-317500" lvl="0" marL="457200" rtl="0" algn="l">
              <a:spcBef>
                <a:spcPts val="0"/>
              </a:spcBef>
              <a:spcAft>
                <a:spcPts val="0"/>
              </a:spcAft>
              <a:buClr>
                <a:schemeClr val="dk1"/>
              </a:buClr>
              <a:buSzPts val="1400"/>
              <a:buChar char="-"/>
            </a:pPr>
            <a:r>
              <a:rPr lang="en-US"/>
              <a:t>Este gráfico muestra la evolución relativa de los predictores más robustos del modelo a lo largo del tiempo, ponderando tanto su magnitud como su estabilidad, y permitiendo identificar cuáles factores permanecen estructuralmente relevantes y cuáles ganan o pierden importancia con el seguimiento.</a:t>
            </a:r>
            <a:endParaRPr/>
          </a:p>
          <a:p>
            <a:pPr indent="-317500" lvl="0" marL="457200" rtl="0" algn="l">
              <a:spcBef>
                <a:spcPts val="0"/>
              </a:spcBef>
              <a:spcAft>
                <a:spcPts val="0"/>
              </a:spcAft>
              <a:buClr>
                <a:schemeClr val="dk1"/>
              </a:buClr>
              <a:buSzPts val="1400"/>
              <a:buChar char="-"/>
            </a:pPr>
            <a:r>
              <a:rPr lang="en-US"/>
              <a:t>Si hayun flujo ancho y sólido, es porque el modelo tiene mucha confianza en ese predictor.</a:t>
            </a:r>
            <a:endParaRPr/>
          </a:p>
        </p:txBody>
      </p:sp>
      <p:sp>
        <p:nvSpPr>
          <p:cNvPr id="540" name="Google Shape;540;g3c8bb76bf58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c8c484ae5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c8c484ae52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en-US"/>
              <a:t>En el fondo, el inverso proporcional de la variabilidad multiplicado por n factor = importancia relativa ajustada por estabilidad (penalización por variabilidad interindividual)</a:t>
            </a:r>
            <a:endParaRPr/>
          </a:p>
          <a:p>
            <a:pPr indent="-317500" lvl="0" marL="457200" rtl="0" algn="l">
              <a:spcBef>
                <a:spcPts val="0"/>
              </a:spcBef>
              <a:spcAft>
                <a:spcPts val="0"/>
              </a:spcAft>
              <a:buClr>
                <a:schemeClr val="dk1"/>
              </a:buClr>
              <a:buSzPts val="1400"/>
              <a:buChar char="-"/>
            </a:pPr>
            <a:r>
              <a:rPr lang="en-US"/>
              <a:t>Este gráfico muestra la evolución relativa de los predictores más robustos del modelo a lo largo del tiempo, ponderando tanto su magnitud como su estabilidad, y permitiendo identificar cuáles factores permanecen estructuralmente relevantes y cuáles ganan o pierden importancia con el seguimiento.</a:t>
            </a:r>
            <a:endParaRPr/>
          </a:p>
          <a:p>
            <a:pPr indent="-317500" lvl="0" marL="457200" rtl="0" algn="l">
              <a:spcBef>
                <a:spcPts val="0"/>
              </a:spcBef>
              <a:spcAft>
                <a:spcPts val="0"/>
              </a:spcAft>
              <a:buClr>
                <a:schemeClr val="dk1"/>
              </a:buClr>
              <a:buSzPts val="1400"/>
              <a:buChar char="-"/>
            </a:pPr>
            <a:r>
              <a:rPr lang="en-US"/>
              <a:t>Si hayun flujo ancho y sólido, es porque el modelo tiene mucha confianza en ese predictor.</a:t>
            </a:r>
            <a:endParaRPr/>
          </a:p>
        </p:txBody>
      </p:sp>
      <p:sp>
        <p:nvSpPr>
          <p:cNvPr id="549" name="Google Shape;549;g3c8c484ae52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c8c484ae5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c8c484ae52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en-US"/>
              <a:t>En el fondo, el inverso proporcional de la variabilidad multiplicado por n factor = importancia relativa ajustada por estabilidad (penalización por variabilidad interindividual)</a:t>
            </a:r>
            <a:endParaRPr/>
          </a:p>
          <a:p>
            <a:pPr indent="-317500" lvl="0" marL="457200" rtl="0" algn="l">
              <a:spcBef>
                <a:spcPts val="0"/>
              </a:spcBef>
              <a:spcAft>
                <a:spcPts val="0"/>
              </a:spcAft>
              <a:buClr>
                <a:schemeClr val="dk1"/>
              </a:buClr>
              <a:buSzPts val="1400"/>
              <a:buChar char="-"/>
            </a:pPr>
            <a:r>
              <a:rPr lang="en-US"/>
              <a:t>Este gráfico muestra la evolución relativa de los predictores más robustos del modelo a lo largo del tiempo, ponderando tanto su magnitud como su estabilidad, y permitiendo identificar cuáles factores permanecen estructuralmente relevantes y cuáles ganan o pierden importancia con el seguimiento.</a:t>
            </a:r>
            <a:endParaRPr/>
          </a:p>
          <a:p>
            <a:pPr indent="-317500" lvl="0" marL="457200" rtl="0" algn="l">
              <a:spcBef>
                <a:spcPts val="0"/>
              </a:spcBef>
              <a:spcAft>
                <a:spcPts val="0"/>
              </a:spcAft>
              <a:buClr>
                <a:schemeClr val="dk1"/>
              </a:buClr>
              <a:buSzPts val="1400"/>
              <a:buChar char="-"/>
            </a:pPr>
            <a:r>
              <a:rPr lang="en-US"/>
              <a:t>Si hayun flujo ancho y sólido, es porque el modelo tiene mucha confianza en ese predictor.</a:t>
            </a:r>
            <a:endParaRPr/>
          </a:p>
        </p:txBody>
      </p:sp>
      <p:sp>
        <p:nvSpPr>
          <p:cNvPr id="558" name="Google Shape;558;g3c8c484ae52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c8e77668ec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3c8e77668ec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Oliver, M., Allou, N., Devineau, M. et al. A transformer model for cause-specific hazard prediction. BMC Bioinformatics 25, 175 (2024). https://doi-org.uchile.idm.oclc.org/10.1186/s12859-024-05799-2</a:t>
            </a:r>
            <a:endParaRPr/>
          </a:p>
          <a:p>
            <a:pPr indent="0" lvl="0" marL="0" rtl="0" algn="l">
              <a:spcBef>
                <a:spcPts val="0"/>
              </a:spcBef>
              <a:spcAft>
                <a:spcPts val="0"/>
              </a:spcAft>
              <a:buClr>
                <a:schemeClr val="dk1"/>
              </a:buClr>
              <a:buFont typeface="Arial"/>
              <a:buNone/>
            </a:pPr>
            <a:r>
              <a:rPr lang="en-US"/>
              <a:t>Multi layer perceptron models outper-formed previous models in both continuous (DeepSurv) and discrete time (DeepHit) [10, 11].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b="1" lang="en-US"/>
              <a:t>Parámetros fijados</a:t>
            </a:r>
            <a:endParaRPr b="1"/>
          </a:p>
          <a:p>
            <a:pPr indent="0" lvl="0" marL="0" rtl="0" algn="l">
              <a:spcBef>
                <a:spcPts val="0"/>
              </a:spcBef>
              <a:spcAft>
                <a:spcPts val="0"/>
              </a:spcAft>
              <a:buClr>
                <a:schemeClr val="dk1"/>
              </a:buClr>
              <a:buFont typeface="Arial"/>
              <a:buNone/>
            </a:pPr>
            <a:r>
              <a:rPr lang="en-US"/>
              <a:t>1️⃣ Activación = ReLU, cada neurona hace f(x)=max(0,x) , efectos negativos fuertes se truncan en 0, redes estables y rápidas, evita saturación pero ve no-linealidad</a:t>
            </a:r>
            <a:endParaRPr/>
          </a:p>
          <a:p>
            <a:pPr indent="0" lvl="0" marL="0" rtl="0" algn="l">
              <a:spcBef>
                <a:spcPts val="0"/>
              </a:spcBef>
              <a:spcAft>
                <a:spcPts val="0"/>
              </a:spcAft>
              <a:buClr>
                <a:schemeClr val="dk1"/>
              </a:buClr>
              <a:buFont typeface="Arial"/>
              <a:buNone/>
            </a:pPr>
            <a:r>
              <a:rPr lang="en-US"/>
              <a:t>2️⃣ batch_norm = True, normaliza las activaciones para cada etapa durante training (reduce inestabilidad)</a:t>
            </a:r>
            <a:endParaRPr/>
          </a:p>
          <a:p>
            <a:pPr indent="0" lvl="0" marL="0" rtl="0" algn="l">
              <a:spcBef>
                <a:spcPts val="0"/>
              </a:spcBef>
              <a:spcAft>
                <a:spcPts val="0"/>
              </a:spcAft>
              <a:buClr>
                <a:schemeClr val="dk1"/>
              </a:buClr>
              <a:buFont typeface="Arial"/>
              <a:buNone/>
            </a:pPr>
            <a:r>
              <a:rPr lang="en-US"/>
              <a:t>3️⃣ Optimizer = Adam, Usa gradientes adaptativos con momento. Se usa porqe converge rápido </a:t>
            </a:r>
            <a:endParaRPr/>
          </a:p>
          <a:p>
            <a:pPr indent="0" lvl="0" marL="0" rtl="0" algn="l">
              <a:spcBef>
                <a:spcPts val="0"/>
              </a:spcBef>
              <a:spcAft>
                <a:spcPts val="0"/>
              </a:spcAft>
              <a:buClr>
                <a:schemeClr val="dk1"/>
              </a:buClr>
              <a:buFont typeface="Arial"/>
              <a:buNone/>
            </a:pPr>
            <a:r>
              <a:rPr lang="en-US"/>
              <a:t>4️⃣ Betas de Adam (0.9, 0.999), cuánto recuerda gradientes pesados, y cuánto suaviza la varianza el gradiente (ven estabilidad vs. capacidad de adaptación).</a:t>
            </a:r>
            <a:endParaRPr/>
          </a:p>
          <a:p>
            <a:pPr indent="0" lvl="0" marL="0" rtl="0" algn="l">
              <a:spcBef>
                <a:spcPts val="0"/>
              </a:spcBef>
              <a:spcAft>
                <a:spcPts val="0"/>
              </a:spcAft>
              <a:buClr>
                <a:schemeClr val="dk1"/>
              </a:buClr>
              <a:buFont typeface="Arial"/>
              <a:buNone/>
            </a:pPr>
            <a:r>
              <a:rPr lang="en-US"/>
              <a:t>5️⃣ epochs = 250, es un techo, early stopping manda, </a:t>
            </a:r>
            <a:endParaRPr/>
          </a:p>
          <a:p>
            <a:pPr indent="0" lvl="0" marL="0" rtl="0" algn="l">
              <a:spcBef>
                <a:spcPts val="0"/>
              </a:spcBef>
              <a:spcAft>
                <a:spcPts val="0"/>
              </a:spcAft>
              <a:buClr>
                <a:schemeClr val="dk1"/>
              </a:buClr>
              <a:buFont typeface="Arial"/>
              <a:buNone/>
            </a:pPr>
            <a:r>
              <a:rPr lang="en-US"/>
              <a:t>6️⃣ Early stopping patience = 15, si el validation loss no mejora en 15 epochs consecutivos, se detiene, más conservador (evita sobreajuste)</a:t>
            </a:r>
            <a:endParaRPr/>
          </a:p>
          <a:p>
            <a:pPr indent="0" lvl="0" marL="0" rtl="0" algn="l">
              <a:spcBef>
                <a:spcPts val="0"/>
              </a:spcBef>
              <a:spcAft>
                <a:spcPts val="0"/>
              </a:spcAft>
              <a:buClr>
                <a:schemeClr val="dk1"/>
              </a:buClr>
              <a:buFont typeface="Arial"/>
              <a:buNone/>
            </a:pPr>
            <a:r>
              <a:rPr lang="en-US"/>
              <a:t>7️⃣ output_bias = False, el log-hazard depende sólo de combinaciones lineales. (Si la red fuera lineal (sin activaciones), entonces sí sería un Cox clásico. Pero tenemos: 3–4 capas ReLU BatchNorm Dropout)</a:t>
            </a:r>
            <a:endParaRPr/>
          </a:p>
          <a:p>
            <a:pPr indent="0" lvl="0" marL="0" rtl="0" algn="l">
              <a:spcBef>
                <a:spcPts val="0"/>
              </a:spcBef>
              <a:spcAft>
                <a:spcPts val="0"/>
              </a:spcAft>
              <a:buClr>
                <a:schemeClr val="dk1"/>
              </a:buClr>
              <a:buFont typeface="Arial"/>
              <a:buNone/>
            </a:pPr>
            <a:r>
              <a:rPr lang="en-US"/>
              <a:t>8️⃣ Inicialización = He (Kaiming), mantiene varianzsa estable entre capas, Pesos iniciales ~ distribución escalada para ReLU.</a:t>
            </a:r>
            <a:br>
              <a:rPr lang="en-US"/>
            </a:br>
            <a:br>
              <a:rPr lang="en-US"/>
            </a:br>
            <a:r>
              <a:rPr lang="en-US"/>
              <a:t>Leakege= Filtrar métricas o evaluaciones que se aprendan con toda la base de datos</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None/>
            </a:pPr>
            <a:r>
              <a:rPr lang="en-US"/>
              <a:t>J=Sensibilidad+Especificidad−1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1-S(t), enfoque cause-specific, no es la verdader CIF, puede sobreestimar el riesgo absoluto</a:t>
            </a:r>
            <a:endParaRPr/>
          </a:p>
          <a:p>
            <a:pPr indent="0" lvl="0" marL="0" rtl="0" algn="l">
              <a:spcBef>
                <a:spcPts val="0"/>
              </a:spcBef>
              <a:spcAft>
                <a:spcPts val="0"/>
              </a:spcAft>
              <a:buNone/>
            </a:pPr>
            <a:r>
              <a:rPr lang="en-US"/>
              <a:t>Nos importaba más este enfque porque preserva el orden correcto del riesgo relativo entre pacientes, optimiza la verosimilitud, logró mejor discriminación, y se alínea con estratificar el riesgo e interpretar, más allá de la calbración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Las métricas de Brier fueron ponderadas usando Aalen-Johansen, para incorporar la distribución de competidores</a:t>
            </a:r>
            <a:br>
              <a:rPr lang="en-US"/>
            </a:br>
            <a:br>
              <a:rPr lang="en-US"/>
            </a:br>
            <a:r>
              <a:rPr lang="en-US"/>
              <a:t>KernelSHAP is a widely adopted model-agnostic attribution framework for complex survival models.</a:t>
            </a:r>
            <a:br>
              <a:rPr lang="en-US"/>
            </a:br>
            <a:r>
              <a:rPr lang="en-US"/>
              <a:t>Mi SHAP estima: Cómo cada variable contribuye al riesgo absoluto a un horizonte específico, en promedio a través de múltiples particiones del dataset // SHAP se utilizó para descomponer la probabilidad predicha de riesgo a distintos horizontes clínicos, permitiendo identificar cuánto contribuye cada variable a la predicción individual, de forma estable a través de múltiples particiones del dataset.</a:t>
            </a:r>
            <a:br>
              <a:rPr lang="en-US"/>
            </a:br>
            <a:r>
              <a:rPr lang="en-US"/>
              <a:t>KernelSHAP was applied to the predicted absolute cause-specific risk at predefined clinical horizons. Background distributions were sampled from training folds, and Shapley values were pooled across cross-validation splits to ensure stability of learned functional forms.</a:t>
            </a:r>
            <a:endParaRPr/>
          </a:p>
        </p:txBody>
      </p:sp>
      <p:sp>
        <p:nvSpPr>
          <p:cNvPr id="571" name="Google Shape;571;g3c8e77668ec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c8e77668ec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c8e77668ec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READMISION= </a:t>
            </a:r>
            <a:r>
              <a:rPr lang="en-US"/>
              <a:t>Se prioriza capturar todos los casos, sacrificando casi toda la especificidad. Detecto 8% de los que sí readmiten (SENS) al ppio; ya a los 9 años, 55% de los que digo alto riesgo se readmiten; 97% de las personas que NO se readmiten fueron clasificadas como alto riesgo.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While the model maintains acceptable calibration and moderate discrimination for readmission, binary classification performance at longer horizons reflects high cumulative incidence, leading to F1-optimized thresholds that prioritize sensitivity over specificity.</a:t>
            </a:r>
            <a:endParaRPr/>
          </a:p>
        </p:txBody>
      </p:sp>
      <p:sp>
        <p:nvSpPr>
          <p:cNvPr id="579" name="Google Shape;579;g3c8e77668ec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8e77668ec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g3c8e77668ec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edad explica la mayor parte de la variación en las predicciones individuales de mortalidad a 12 meses 👉 Son 0.05 puntos porcentuales de riesgo absoluto. dentro de la distribución de riesgos, la edad explica gran parte de la dispersión relativa (esa variable es responsable de gran parte de la variación del riesgo entre pacientes).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Local Waterfall plot</a:t>
            </a:r>
            <a:r>
              <a:rPr lang="en-US"/>
              <a:t>=  </a:t>
            </a:r>
            <a:r>
              <a:rPr lang="en-US"/>
              <a:t>Baseline ≈ 4.43% ;  Predicción final ≈ 37.59% ; rojo= influyen hacia arriba</a:t>
            </a:r>
            <a:endParaRPr/>
          </a:p>
          <a:p>
            <a:pPr indent="0" lvl="0" marL="0" rtl="0" algn="l">
              <a:spcBef>
                <a:spcPts val="0"/>
              </a:spcBef>
              <a:spcAft>
                <a:spcPts val="0"/>
              </a:spcAft>
              <a:buNone/>
            </a:pPr>
            <a:r>
              <a:rPr lang="en-US"/>
              <a:t>f(x)=E[f(X)]+i∑​ϕi​  </a:t>
            </a:r>
            <a:endParaRPr/>
          </a:p>
          <a:p>
            <a:pPr indent="0" lvl="0" marL="0" rtl="0" algn="l">
              <a:spcBef>
                <a:spcPts val="0"/>
              </a:spcBef>
              <a:spcAft>
                <a:spcPts val="0"/>
              </a:spcAft>
              <a:buNone/>
            </a:pPr>
            <a:r>
              <a:rPr lang="en-US"/>
              <a:t>ϕi​= contribución SHAP c/var; E[f(X)]= riesgo promedio (baseline)</a:t>
            </a:r>
            <a:endParaRPr/>
          </a:p>
          <a:p>
            <a:pPr indent="0" lvl="0" marL="0" rtl="0" algn="l">
              <a:spcBef>
                <a:spcPts val="0"/>
              </a:spcBef>
              <a:spcAft>
                <a:spcPts val="0"/>
              </a:spcAft>
              <a:buNone/>
            </a:pPr>
            <a:r>
              <a:rPr lang="en-US"/>
              <a:t>Descompone el riesgo predicho individual en contribuciones aditivas de cada covariable relativo al riesgo basal poblacional</a:t>
            </a:r>
            <a:endParaRPr/>
          </a:p>
        </p:txBody>
      </p:sp>
      <p:sp>
        <p:nvSpPr>
          <p:cNvPr id="589" name="Google Shape;589;g3c8e77668ec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c8e77668ec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g3c8e77668ec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edad explica la mayor parte de la variación en las predicciones individuales de mortalidad a 12 meses 👉 Son 0.05 puntos porcentuales de riesgo absoluto. dentro de la distribución de riesgos, la edad explica gran parte de la dispersión relativa (esa variable es responsable de gran parte de la variación del riesgo entre pacientes).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Local Waterfall plot</a:t>
            </a:r>
            <a:r>
              <a:rPr lang="en-US"/>
              <a:t>=  Baseline ≈ 4.43% ;  Predicción final ≈ 37.59% ; rojo= influyen hacia arriba</a:t>
            </a:r>
            <a:endParaRPr/>
          </a:p>
          <a:p>
            <a:pPr indent="0" lvl="0" marL="0" rtl="0" algn="l">
              <a:spcBef>
                <a:spcPts val="0"/>
              </a:spcBef>
              <a:spcAft>
                <a:spcPts val="0"/>
              </a:spcAft>
              <a:buNone/>
            </a:pPr>
            <a:r>
              <a:rPr lang="en-US"/>
              <a:t>f(x)=E[f(X)]+i∑​ϕi​  </a:t>
            </a:r>
            <a:endParaRPr/>
          </a:p>
          <a:p>
            <a:pPr indent="0" lvl="0" marL="0" rtl="0" algn="l">
              <a:spcBef>
                <a:spcPts val="0"/>
              </a:spcBef>
              <a:spcAft>
                <a:spcPts val="0"/>
              </a:spcAft>
              <a:buNone/>
            </a:pPr>
            <a:r>
              <a:rPr lang="en-US"/>
              <a:t>ϕi​= contribución SHAP c/var; E[f(X)]= riesgo promedio (baseline)</a:t>
            </a:r>
            <a:endParaRPr/>
          </a:p>
          <a:p>
            <a:pPr indent="0" lvl="0" marL="0" rtl="0" algn="l">
              <a:spcBef>
                <a:spcPts val="0"/>
              </a:spcBef>
              <a:spcAft>
                <a:spcPts val="0"/>
              </a:spcAft>
              <a:buNone/>
            </a:pPr>
            <a:r>
              <a:rPr lang="en-US"/>
              <a:t>Descompone el riesgo predicho individual en contribuciones aditivas de cada covariable relativo al riesgo basal poblacional</a:t>
            </a:r>
            <a:endParaRPr/>
          </a:p>
        </p:txBody>
      </p:sp>
      <p:sp>
        <p:nvSpPr>
          <p:cNvPr id="600" name="Google Shape;600;g3c8e77668ec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8e77668ec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c8e77668ec_0_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g3c8e77668ec_0_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941a8f286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941a8f2867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3941a8f2867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i="1" lang="en-US"/>
              <a:t>"While the discriminatory performance (C-index) of the DeepHit model was comparable to state-of-the-art gradient boosting methods, its primary contribution lies in its capacity to model </a:t>
            </a:r>
            <a:r>
              <a:rPr b="1" i="1" lang="en-US"/>
              <a:t>non-linear functional forms</a:t>
            </a:r>
            <a:r>
              <a:rPr i="1" lang="en-US"/>
              <a:t> and </a:t>
            </a:r>
            <a:r>
              <a:rPr b="1" i="1" lang="en-US"/>
              <a:t>time-varying covariate effects</a:t>
            </a:r>
            <a:r>
              <a:rPr i="1" lang="en-US"/>
              <a:t> without the restrictive linearity and proportional hazards assumptions required by traditional Cox regression. The discovered functional forms (e.g., the diminishing returns of treatment duration) provide actionable clinical insights that a simpler linear model would obscure."</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En la literatura médica, cuando un modelo lineal/penalizado supera a los algoritmos basados en árboles o redes neuronales, el mensaje biológico es claro: </a:t>
            </a:r>
            <a:r>
              <a:rPr b="1" lang="en-US" sz="1100">
                <a:latin typeface="Arial"/>
                <a:ea typeface="Arial"/>
                <a:cs typeface="Arial"/>
                <a:sym typeface="Arial"/>
              </a:rPr>
              <a:t>los factores de riesgo para la mortalidad en esta cohorte son predominantemente aditivos y lineales.</a:t>
            </a:r>
            <a:r>
              <a:rPr lang="en-US" sz="1100">
                <a:latin typeface="Arial"/>
                <a:ea typeface="Arial"/>
                <a:cs typeface="Arial"/>
                <a:sym typeface="Arial"/>
              </a:rPr>
              <a:t> Variables como la edad avanzada, las comorbilidades físicas graves o el uso de sustancias de alto riesgo suman riesgo de manera proporcional. No hay interacciones no-lineales secretas o complejas (ej. "si tiene X edad PERO usa Y sustancia ENTONCES el riesgo se dispara") que justifiquen la arquitectura de XGBoost o DeepSurv para este desenlace en particular. Tu veredicto en la tabla es 100% acertado.</a:t>
            </a:r>
            <a:endParaRPr sz="1100">
              <a:latin typeface="Arial"/>
              <a:ea typeface="Arial"/>
              <a:cs typeface="Arial"/>
              <a:sym typeface="Arial"/>
            </a:endParaRPr>
          </a:p>
          <a:p>
            <a:pPr indent="0" lvl="0" marL="0" rtl="0" algn="l">
              <a:spcBef>
                <a:spcPts val="1200"/>
              </a:spcBef>
              <a:spcAft>
                <a:spcPts val="0"/>
              </a:spcAft>
              <a:buNone/>
            </a:pPr>
            <a:r>
              <a:rPr b="1" lang="en-US"/>
              <a:t>Mortalidad</a:t>
            </a:r>
            <a:r>
              <a:rPr lang="en-US"/>
              <a:t>:</a:t>
            </a:r>
            <a:endParaRPr/>
          </a:p>
          <a:p>
            <a:pPr indent="-317500" lvl="0" marL="457200" rtl="0" algn="l">
              <a:spcBef>
                <a:spcPts val="0"/>
              </a:spcBef>
              <a:spcAft>
                <a:spcPts val="0"/>
              </a:spcAft>
              <a:buSzPts val="1400"/>
              <a:buChar char="●"/>
            </a:pPr>
            <a:r>
              <a:rPr lang="en-US"/>
              <a:t>Señal fuerte</a:t>
            </a:r>
            <a:endParaRPr/>
          </a:p>
          <a:p>
            <a:pPr indent="-317500" lvl="0" marL="457200" rtl="0" algn="l">
              <a:spcBef>
                <a:spcPts val="0"/>
              </a:spcBef>
              <a:spcAft>
                <a:spcPts val="0"/>
              </a:spcAft>
              <a:buSzPts val="1400"/>
              <a:buChar char="●"/>
            </a:pPr>
            <a:r>
              <a:rPr lang="en-US"/>
              <a:t>Menos ruido</a:t>
            </a:r>
            <a:endParaRPr/>
          </a:p>
          <a:p>
            <a:pPr indent="-317500" lvl="0" marL="457200" rtl="0" algn="l">
              <a:spcBef>
                <a:spcPts val="0"/>
              </a:spcBef>
              <a:spcAft>
                <a:spcPts val="0"/>
              </a:spcAft>
              <a:buSzPts val="1400"/>
              <a:buChar char="●"/>
            </a:pPr>
            <a:r>
              <a:rPr lang="en-US"/>
              <a:t>Más estructural</a:t>
            </a:r>
            <a:endParaRPr/>
          </a:p>
          <a:p>
            <a:pPr indent="0" lvl="0" marL="0" rtl="0" algn="l">
              <a:spcBef>
                <a:spcPts val="0"/>
              </a:spcBef>
              <a:spcAft>
                <a:spcPts val="0"/>
              </a:spcAft>
              <a:buNone/>
            </a:pPr>
            <a:r>
              <a:rPr b="1" lang="en-US"/>
              <a:t>Readmisión</a:t>
            </a:r>
            <a:r>
              <a:rPr lang="en-US"/>
              <a:t>:</a:t>
            </a:r>
            <a:endParaRPr/>
          </a:p>
          <a:p>
            <a:pPr indent="-317500" lvl="0" marL="457200" rtl="0" algn="l">
              <a:spcBef>
                <a:spcPts val="0"/>
              </a:spcBef>
              <a:spcAft>
                <a:spcPts val="0"/>
              </a:spcAft>
              <a:buSzPts val="1400"/>
              <a:buChar char="●"/>
            </a:pPr>
            <a:r>
              <a:rPr lang="en-US"/>
              <a:t>Mucha heterogeneidad</a:t>
            </a:r>
            <a:endParaRPr/>
          </a:p>
          <a:p>
            <a:pPr indent="-317500" lvl="0" marL="457200" rtl="0" algn="l">
              <a:spcBef>
                <a:spcPts val="0"/>
              </a:spcBef>
              <a:spcAft>
                <a:spcPts val="0"/>
              </a:spcAft>
              <a:buSzPts val="1400"/>
              <a:buChar char="●"/>
            </a:pPr>
            <a:r>
              <a:rPr lang="en-US"/>
              <a:t>Factor</a:t>
            </a:r>
            <a:r>
              <a:rPr lang="en-US"/>
              <a:t>e</a:t>
            </a:r>
            <a:r>
              <a:rPr lang="en-US"/>
              <a:t>s no observados</a:t>
            </a:r>
            <a:endParaRPr/>
          </a:p>
          <a:p>
            <a:pPr indent="-317500" lvl="0" marL="457200" rtl="0" algn="l">
              <a:spcBef>
                <a:spcPts val="0"/>
              </a:spcBef>
              <a:spcAft>
                <a:spcPts val="0"/>
              </a:spcAft>
              <a:buSzPts val="1400"/>
              <a:buChar char="●"/>
            </a:pPr>
            <a:r>
              <a:rPr lang="en-US"/>
              <a:t>Dinámicas sociales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Mortalidad ≈ 0.75 robusto. Mortalidad: 0.016 → excelente estabilidad</a:t>
            </a:r>
            <a:endParaRPr b="1"/>
          </a:p>
          <a:p>
            <a:pPr indent="0" lvl="0" marL="0" rtl="0" algn="l">
              <a:spcBef>
                <a:spcPts val="0"/>
              </a:spcBef>
              <a:spcAft>
                <a:spcPts val="0"/>
              </a:spcAft>
              <a:buNone/>
            </a:pPr>
            <a:r>
              <a:rPr b="1" lang="en-US"/>
              <a:t>Readmisión ≈ 0.60–0.63 robusto. Readmisión: ~0.04–0.05 → normal en modelos complejos</a:t>
            </a:r>
            <a:endParaRPr b="1"/>
          </a:p>
          <a:p>
            <a:pPr indent="0" lvl="0" marL="0" rtl="0" algn="l">
              <a:spcBef>
                <a:spcPts val="0"/>
              </a:spcBef>
              <a:spcAft>
                <a:spcPts val="0"/>
              </a:spcAft>
              <a:buNone/>
            </a:pPr>
            <a:r>
              <a:rPr b="1" lang="en-US"/>
              <a:t>Modelos complejos no superan estructuralmente a CoxNet.</a:t>
            </a:r>
            <a:endParaRPr b="1"/>
          </a:p>
        </p:txBody>
      </p:sp>
      <p:sp>
        <p:nvSpPr>
          <p:cNvPr id="629" name="Google Shape;62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958a2074a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958a2074a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g3958a2074a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c8fba5a38d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c8fba5a38d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g3c8fba5a38d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ca0fe0c763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ca0fe0c763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g3ca0fe0c763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7" name="Shape 27"/>
        <p:cNvGrpSpPr/>
        <p:nvPr/>
      </p:nvGrpSpPr>
      <p:grpSpPr>
        <a:xfrm>
          <a:off x="0" y="0"/>
          <a:ext cx="0" cy="0"/>
          <a:chOff x="0" y="0"/>
          <a:chExt cx="0" cy="0"/>
        </a:xfrm>
      </p:grpSpPr>
      <p:sp>
        <p:nvSpPr>
          <p:cNvPr id="28" name="Google Shape;28;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0" name="Google Shape;30;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1" name="Google Shape;3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1" name="Shape 41"/>
        <p:cNvGrpSpPr/>
        <p:nvPr/>
      </p:nvGrpSpPr>
      <p:grpSpPr>
        <a:xfrm>
          <a:off x="0" y="0"/>
          <a:ext cx="0" cy="0"/>
          <a:chOff x="0" y="0"/>
          <a:chExt cx="0" cy="0"/>
        </a:xfrm>
      </p:grpSpPr>
      <p:sp>
        <p:nvSpPr>
          <p:cNvPr id="42" name="Google Shape;42;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4" name="Google Shape;4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1" name="Shape 61"/>
        <p:cNvGrpSpPr/>
        <p:nvPr/>
      </p:nvGrpSpPr>
      <p:grpSpPr>
        <a:xfrm>
          <a:off x="0" y="0"/>
          <a:ext cx="0" cy="0"/>
          <a:chOff x="0" y="0"/>
          <a:chExt cx="0" cy="0"/>
        </a:xfrm>
      </p:grpSpPr>
      <p:sp>
        <p:nvSpPr>
          <p:cNvPr id="62" name="Google Shape;6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9"/>
          <p:cNvSpPr/>
          <p:nvPr>
            <p:ph idx="2" type="pic"/>
          </p:nvPr>
        </p:nvSpPr>
        <p:spPr>
          <a:xfrm>
            <a:off x="5183188" y="987425"/>
            <a:ext cx="6172200" cy="4873625"/>
          </a:xfrm>
          <a:prstGeom prst="rect">
            <a:avLst/>
          </a:prstGeom>
          <a:noFill/>
          <a:ln>
            <a:noFill/>
          </a:ln>
        </p:spPr>
      </p:sp>
      <p:sp>
        <p:nvSpPr>
          <p:cNvPr id="68" name="Google Shape;68;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g3ca0fe0c763_1_17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g3ca0fe0c763_1_1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g3ca0fe0c763_1_1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g3ca0fe0c763_1_17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g3ca0fe0c763_1_17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7" name="Google Shape;97;g3ca0fe0c763_1_17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g3ca0fe0c763_1_17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g3ca0fe0c763_1_1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g3ca0fe0c763_1_18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g3ca0fe0c763_1_18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g3ca0fe0c763_1_18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g3ca0fe0c763_1_1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ca0fe0c763_1_1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g3ca0fe0c763_1_19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g3ca0fe0c763_1_19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09" name="Google Shape;109;g3ca0fe0c763_1_19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g3ca0fe0c763_1_1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ca0fe0c763_1_1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g3ca0fe0c763_1_19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g3ca0fe0c763_1_197"/>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g3ca0fe0c763_1_197"/>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g3ca0fe0c763_1_19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ca0fe0c763_1_1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g3ca0fe0c763_1_1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g3ca0fe0c763_1_20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g3ca0fe0c763_1_20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2" name="Google Shape;122;g3ca0fe0c763_1_20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g3ca0fe0c763_1_20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4" name="Google Shape;124;g3ca0fe0c763_1_20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g3ca0fe0c763_1_20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g3ca0fe0c763_1_2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ca0fe0c763_1_2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g3ca0fe0c763_1_2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g3ca0fe0c763_1_2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ca0fe0c763_1_2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ca0fe0c763_1_2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g3ca0fe0c763_1_21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ca0fe0c763_1_218"/>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g3ca0fe0c763_1_218"/>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g3ca0fe0c763_1_2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ca0fe0c763_1_2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g3ca0fe0c763_1_2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g3ca0fe0c763_1_22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g3ca0fe0c763_1_225"/>
          <p:cNvSpPr/>
          <p:nvPr>
            <p:ph idx="2" type="pic"/>
          </p:nvPr>
        </p:nvSpPr>
        <p:spPr>
          <a:xfrm>
            <a:off x="5183188" y="987425"/>
            <a:ext cx="6172200" cy="4873500"/>
          </a:xfrm>
          <a:prstGeom prst="rect">
            <a:avLst/>
          </a:prstGeom>
          <a:noFill/>
          <a:ln>
            <a:noFill/>
          </a:ln>
        </p:spPr>
      </p:sp>
      <p:sp>
        <p:nvSpPr>
          <p:cNvPr id="143" name="Google Shape;143;g3ca0fe0c763_1_225"/>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g3ca0fe0c763_1_2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ca0fe0c763_1_2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ca0fe0c763_1_2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g3ca0fe0c763_1_2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g3ca0fe0c763_1_23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g3ca0fe0c763_1_2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g3ca0fe0c763_1_2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g3ca0fe0c763_1_2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g3ca0fe0c763_1_238"/>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g3ca0fe0c763_1_238"/>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g3ca0fe0c763_1_2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g3ca0fe0c763_1_2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g3ca0fe0c763_1_2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3ca0fe0c763_1_1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g3ca0fe0c763_1_16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7" name="Google Shape;87;g3ca0fe0c763_1_1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8" name="Google Shape;88;g3ca0fe0c763_1_1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g3ca0fe0c763_1_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757575"/>
                </a:solidFill>
                <a:latin typeface="Arial"/>
                <a:ea typeface="Arial"/>
                <a:cs typeface="Arial"/>
                <a:sym typeface="Arial"/>
              </a:defRPr>
            </a:lvl1pPr>
            <a:lvl2pPr indent="0" lvl="1" marL="0" marR="0" algn="r">
              <a:spcBef>
                <a:spcPts val="0"/>
              </a:spcBef>
              <a:buNone/>
              <a:defRPr b="0" i="0" sz="1200" u="none" cap="none" strike="noStrike">
                <a:solidFill>
                  <a:srgbClr val="757575"/>
                </a:solidFill>
                <a:latin typeface="Arial"/>
                <a:ea typeface="Arial"/>
                <a:cs typeface="Arial"/>
                <a:sym typeface="Arial"/>
              </a:defRPr>
            </a:lvl2pPr>
            <a:lvl3pPr indent="0" lvl="2" marL="0" marR="0" algn="r">
              <a:spcBef>
                <a:spcPts val="0"/>
              </a:spcBef>
              <a:buNone/>
              <a:defRPr b="0" i="0" sz="1200" u="none" cap="none" strike="noStrike">
                <a:solidFill>
                  <a:srgbClr val="757575"/>
                </a:solidFill>
                <a:latin typeface="Arial"/>
                <a:ea typeface="Arial"/>
                <a:cs typeface="Arial"/>
                <a:sym typeface="Arial"/>
              </a:defRPr>
            </a:lvl3pPr>
            <a:lvl4pPr indent="0" lvl="3" marL="0" marR="0" algn="r">
              <a:spcBef>
                <a:spcPts val="0"/>
              </a:spcBef>
              <a:buNone/>
              <a:defRPr b="0" i="0" sz="1200" u="none" cap="none" strike="noStrike">
                <a:solidFill>
                  <a:srgbClr val="757575"/>
                </a:solidFill>
                <a:latin typeface="Arial"/>
                <a:ea typeface="Arial"/>
                <a:cs typeface="Arial"/>
                <a:sym typeface="Arial"/>
              </a:defRPr>
            </a:lvl4pPr>
            <a:lvl5pPr indent="0" lvl="4" marL="0" marR="0" algn="r">
              <a:spcBef>
                <a:spcPts val="0"/>
              </a:spcBef>
              <a:buNone/>
              <a:defRPr b="0" i="0" sz="1200" u="none" cap="none" strike="noStrike">
                <a:solidFill>
                  <a:srgbClr val="757575"/>
                </a:solidFill>
                <a:latin typeface="Arial"/>
                <a:ea typeface="Arial"/>
                <a:cs typeface="Arial"/>
                <a:sym typeface="Arial"/>
              </a:defRPr>
            </a:lvl5pPr>
            <a:lvl6pPr indent="0" lvl="5" marL="0" marR="0" algn="r">
              <a:spcBef>
                <a:spcPts val="0"/>
              </a:spcBef>
              <a:buNone/>
              <a:defRPr b="0" i="0" sz="1200" u="none" cap="none" strike="noStrike">
                <a:solidFill>
                  <a:srgbClr val="757575"/>
                </a:solidFill>
                <a:latin typeface="Arial"/>
                <a:ea typeface="Arial"/>
                <a:cs typeface="Arial"/>
                <a:sym typeface="Arial"/>
              </a:defRPr>
            </a:lvl6pPr>
            <a:lvl7pPr indent="0" lvl="6" marL="0" marR="0" algn="r">
              <a:spcBef>
                <a:spcPts val="0"/>
              </a:spcBef>
              <a:buNone/>
              <a:defRPr b="0" i="0" sz="1200" u="none" cap="none" strike="noStrike">
                <a:solidFill>
                  <a:srgbClr val="757575"/>
                </a:solidFill>
                <a:latin typeface="Arial"/>
                <a:ea typeface="Arial"/>
                <a:cs typeface="Arial"/>
                <a:sym typeface="Arial"/>
              </a:defRPr>
            </a:lvl7pPr>
            <a:lvl8pPr indent="0" lvl="7" marL="0" marR="0" algn="r">
              <a:spcBef>
                <a:spcPts val="0"/>
              </a:spcBef>
              <a:buNone/>
              <a:defRPr b="0" i="0" sz="1200" u="none" cap="none" strike="noStrike">
                <a:solidFill>
                  <a:srgbClr val="757575"/>
                </a:solidFill>
                <a:latin typeface="Arial"/>
                <a:ea typeface="Arial"/>
                <a:cs typeface="Arial"/>
                <a:sym typeface="Arial"/>
              </a:defRPr>
            </a:lvl8pPr>
            <a:lvl9pPr indent="0" lvl="8" marL="0" marR="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olab.research.google.com/drive/1uDo7gRwwWroRP2lCNBS4rCLHvJTPDWxd#scrollTo=KTFzqNUg71jR" TargetMode="External"/><Relationship Id="rId4" Type="http://schemas.openxmlformats.org/officeDocument/2006/relationships/hyperlink" Target="https://github.com/FONDECYTACC/cons2025/blob/main/best_subset_based_on_disc_jan26.ipyn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link.springer.com/article/10.1186/s12874-017-0336-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agscl.github.io/DSPUCH/XGboost_readm_jan26.html" TargetMode="External"/><Relationship Id="rId4" Type="http://schemas.openxmlformats.org/officeDocument/2006/relationships/hyperlink" Target="https://agscl.github.io/DSPUCH/XGboost_death_jan26.html" TargetMode="External"/><Relationship Id="rId5" Type="http://schemas.openxmlformats.org/officeDocument/2006/relationships/hyperlink" Target="https://agscl.github.io/DSPUCH/XGboost_combined_jan26.html" TargetMode="External"/><Relationship Id="rId6" Type="http://schemas.openxmlformats.org/officeDocument/2006/relationships/image" Target="../media/image9.png"/><Relationship Id="rId7"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13.png"/><Relationship Id="rId6"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fondecytacc.github.io/cons2025/DeepHit_jan26.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4.png"/><Relationship Id="rId4" Type="http://schemas.openxmlformats.org/officeDocument/2006/relationships/image" Target="../media/image31.png"/><Relationship Id="rId5"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5.png"/><Relationship Id="rId4" Type="http://schemas.openxmlformats.org/officeDocument/2006/relationships/image" Target="../media/image32.png"/><Relationship Id="rId5" Type="http://schemas.openxmlformats.org/officeDocument/2006/relationships/image" Target="../media/image38.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fondecytacc.github.io/cons2025/DeepSurv2_feb26.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46.png"/><Relationship Id="rId5" Type="http://schemas.openxmlformats.org/officeDocument/2006/relationships/image" Target="../media/image5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5.png"/><Relationship Id="rId4" Type="http://schemas.openxmlformats.org/officeDocument/2006/relationships/image" Target="../media/image39.png"/><Relationship Id="rId5"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8.png"/><Relationship Id="rId4" Type="http://schemas.openxmlformats.org/officeDocument/2006/relationships/image" Target="../media/image57.png"/><Relationship Id="rId5" Type="http://schemas.openxmlformats.org/officeDocument/2006/relationships/image" Target="../media/image54.png"/><Relationship Id="rId6"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stats.stackexchange.com/users/4253/frank-harrell" TargetMode="External"/><Relationship Id="rId4" Type="http://schemas.openxmlformats.org/officeDocument/2006/relationships/hyperlink" Target="https://stats.stackexchange.com/users/4253/frank-harrell" TargetMode="External"/><Relationship Id="rId5" Type="http://schemas.openxmlformats.org/officeDocument/2006/relationships/hyperlink" Target="https://stats.stackexchange.com/questions/51275/what-is-the-difference-in-what-aic-and-c-statistic-auc-actually-measure-for-mo#comment100335_51278" TargetMode="External"/><Relationship Id="rId6" Type="http://schemas.openxmlformats.org/officeDocument/2006/relationships/hyperlink" Target="https://discourse.datamethods.org/t/is-harrells-concordance-index-not-proper-when-using-predicted-times/28290?utm_source=copilot.co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Avances y retrocesos</a:t>
            </a:r>
            <a:br>
              <a:rPr lang="en-US"/>
            </a:br>
            <a:r>
              <a:rPr lang="en-US"/>
              <a:t>Artículo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
          <p:cNvSpPr txBox="1"/>
          <p:nvPr>
            <p:ph type="title"/>
          </p:nvPr>
        </p:nvSpPr>
        <p:spPr>
          <a:xfrm>
            <a:off x="838200" y="19259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Recordatorio (objetivos)</a:t>
            </a:r>
            <a:endParaRPr/>
          </a:p>
        </p:txBody>
      </p:sp>
      <p:sp>
        <p:nvSpPr>
          <p:cNvPr id="169" name="Google Shape;169;p2"/>
          <p:cNvSpPr txBox="1"/>
          <p:nvPr>
            <p:ph idx="1" type="body"/>
          </p:nvPr>
        </p:nvSpPr>
        <p:spPr>
          <a:xfrm>
            <a:off x="838200" y="1509323"/>
            <a:ext cx="6400800" cy="502707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800"/>
              <a:buChar char="•"/>
            </a:pPr>
            <a:r>
              <a:rPr lang="en-US" sz="1800"/>
              <a:t>To identify potential prognostic factors of the risk and time-to-event of the first readmission to SUD treatment (i) and mortality (ii) of patients of working age (18-64) in Chilean SUD adult treatments between 2010-2020 at baseline, and quantifying the strength of association of these factors.</a:t>
            </a:r>
            <a:endParaRPr sz="1800"/>
          </a:p>
          <a:p>
            <a:pPr indent="-228600" lvl="0" marL="228600" rtl="0" algn="l">
              <a:lnSpc>
                <a:spcPct val="90000"/>
              </a:lnSpc>
              <a:spcBef>
                <a:spcPts val="1000"/>
              </a:spcBef>
              <a:spcAft>
                <a:spcPts val="0"/>
              </a:spcAft>
              <a:buClr>
                <a:schemeClr val="dk1"/>
              </a:buClr>
              <a:buSzPts val="1800"/>
              <a:buChar char="•"/>
            </a:pPr>
            <a:r>
              <a:rPr lang="en-US" sz="1800"/>
              <a:t>To identify the key set of predictors and interactions between them, including length of stay and alternative measures (different cut-offs or measurement scales) and treatment outcome, needed to predict the risk and time to event to the first readmission to SUD treatment (i) and mortality (ii) among patients aged 18-64 in Chilean SUD adult treatments from 2010-2020.</a:t>
            </a:r>
            <a:endParaRPr sz="1800"/>
          </a:p>
          <a:p>
            <a:pPr indent="-228600" lvl="0" marL="228600" rtl="0" algn="l">
              <a:lnSpc>
                <a:spcPct val="90000"/>
              </a:lnSpc>
              <a:spcBef>
                <a:spcPts val="1000"/>
              </a:spcBef>
              <a:spcAft>
                <a:spcPts val="0"/>
              </a:spcAft>
              <a:buClr>
                <a:schemeClr val="dk1"/>
              </a:buClr>
              <a:buSzPts val="1800"/>
              <a:buChar char="•"/>
            </a:pPr>
            <a:r>
              <a:rPr lang="en-US" sz="1800"/>
              <a:t>To estimate the probability of a patient being readmitted and alive, without readmission, and alive and dead, at 1, 3, and 5 years since admission, under different hypothetical baseline treatment lengths and outcomes and other covariate characteristics as well, of patients of working age (18-64) in Chilean SUD adult treatments between 2010-2020 at baseline.</a:t>
            </a:r>
            <a:endParaRPr sz="1800"/>
          </a:p>
        </p:txBody>
      </p:sp>
      <p:pic>
        <p:nvPicPr>
          <p:cNvPr id="170" name="Google Shape;170;p2"/>
          <p:cNvPicPr preferRelativeResize="0"/>
          <p:nvPr/>
        </p:nvPicPr>
        <p:blipFill rotWithShape="1">
          <a:blip r:embed="rId3">
            <a:alphaModFix/>
          </a:blip>
          <a:srcRect b="0" l="0" r="0" t="0"/>
          <a:stretch/>
        </p:blipFill>
        <p:spPr>
          <a:xfrm>
            <a:off x="7488853" y="0"/>
            <a:ext cx="4478694"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graphicFrame>
        <p:nvGraphicFramePr>
          <p:cNvPr id="175" name="Google Shape;175;p3"/>
          <p:cNvGraphicFramePr/>
          <p:nvPr/>
        </p:nvGraphicFramePr>
        <p:xfrm>
          <a:off x="4563115" y="522734"/>
          <a:ext cx="3000000" cy="3000000"/>
        </p:xfrm>
        <a:graphic>
          <a:graphicData uri="http://schemas.openxmlformats.org/drawingml/2006/table">
            <a:tbl>
              <a:tblPr bandRow="1" firstRow="1">
                <a:noFill/>
                <a:tableStyleId>{6655D387-744F-409C-A33C-9FA9267D86CA}</a:tableStyleId>
              </a:tblPr>
              <a:tblGrid>
                <a:gridCol w="2894425"/>
                <a:gridCol w="3848650"/>
              </a:tblGrid>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Variable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Label</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adm_age_rec3</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Admission age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porc_pobr</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Poverty index of commune of residence</a:t>
                      </a:r>
                      <a:endParaRPr/>
                    </a:p>
                  </a:txBody>
                  <a:tcPr marT="0" marB="0" marR="0" marL="0" anchor="ctr"/>
                </a:tc>
              </a:tr>
              <a:tr h="198975">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dit_m</a:t>
                      </a:r>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Length of stay in treatment (months)</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tenure_status_household</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Housing situation</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prim_sub_freq_rec</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Primary-substance use frequency at admission (simplified)</a:t>
                      </a:r>
                      <a:endParaRPr/>
                    </a:p>
                  </a:txBody>
                  <a:tcPr marT="0" marB="0" marR="0" marL="0" anchor="ctr"/>
                </a:tc>
              </a:tr>
              <a:tr h="44042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national_foreign</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Changed chilean as the reference value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urbanicity_cat</a:t>
                      </a:r>
                      <a:endParaRPr b="1" sz="1200" u="none" cap="none" strike="noStrike">
                        <a:solidFill>
                          <a:srgbClr val="FF0000"/>
                        </a:solidFill>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Urbanization level of commune of residence</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ed_attainment_corr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Educational attainment</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evaluacindelprocesoteraputico</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Assessment of the therapeutic process</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eva_consumo</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Evaluation of consumption pattern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eva_fam</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Family situation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eva_relinterp</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Interpersonal relations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eva_ocupacion</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Occupational situation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eva_sm</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Mental health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eva_fisica</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Physical health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eva_transgnorma</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Social norm transgression evaluation at discharge</a:t>
                      </a:r>
                      <a:endParaRPr/>
                    </a:p>
                  </a:txBody>
                  <a:tcPr marT="0" marB="0" marR="0" marL="0" anchor="ctr"/>
                </a:tc>
              </a:tr>
              <a:tr h="198975">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ethnicity</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Ethnicity (=1)</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dg_psiq_cie_10_instudy</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Psychiatric comorbidity (ICD-10, in-study)</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dg_psiq_cie_10_dg</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Psychiatric comorbidity (ICD-10, diagnosis record)</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dx_f3_mood</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Mood disorders (F3)</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dx_f6_personality</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Personality disorders (F6)</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dx_f_any_severe_mental</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 — </a:t>
                      </a:r>
                      <a:endParaRPr sz="1200" u="none" cap="none" strike="noStrike"/>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any_phys_dx</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 — </a:t>
                      </a:r>
                      <a:endParaRPr sz="1200" u="none" cap="none" strike="noStrike"/>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polysubstance_strict</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Polysubstance use (strict)</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sex_rec_woman</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Changed to reflect man as the reference value</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cohabitation_family_of_origin</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 status (harmonized)</a:t>
                      </a:r>
                      <a:endParaRPr/>
                    </a:p>
                  </a:txBody>
                  <a:tcPr marT="0" marB="0" marR="0" marL="0" anchor="ctr"/>
                </a:tc>
              </a:tr>
              <a:tr h="198975">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cohabitation_with_couple_children</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 status (harmonized)</a:t>
                      </a:r>
                      <a:endParaRPr/>
                    </a:p>
                  </a:txBody>
                  <a:tcPr marT="0" marB="0" marR="0" marL="0" anchor="ctr"/>
                </a:tc>
              </a:tr>
            </a:tbl>
          </a:graphicData>
        </a:graphic>
      </p:graphicFrame>
      <p:sp>
        <p:nvSpPr>
          <p:cNvPr id="176" name="Google Shape;176;p3"/>
          <p:cNvSpPr txBox="1"/>
          <p:nvPr/>
        </p:nvSpPr>
        <p:spPr>
          <a:xfrm>
            <a:off x="314476" y="1124856"/>
            <a:ext cx="440266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Variables seleccionadas para el análisis de desempeño:</a:t>
            </a:r>
            <a:endParaRPr/>
          </a:p>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Arial"/>
                <a:ea typeface="Arial"/>
                <a:cs typeface="Arial"/>
                <a:sym typeface="Arial"/>
              </a:rPr>
              <a:t>En </a:t>
            </a:r>
            <a:r>
              <a:rPr b="1" lang="en-US" sz="1800">
                <a:solidFill>
                  <a:srgbClr val="FF0000"/>
                </a:solidFill>
                <a:latin typeface="Arial"/>
                <a:ea typeface="Arial"/>
                <a:cs typeface="Arial"/>
                <a:sym typeface="Arial"/>
              </a:rPr>
              <a:t>rojo</a:t>
            </a:r>
            <a:r>
              <a:rPr lang="en-US" sz="1800">
                <a:solidFill>
                  <a:schemeClr val="dk1"/>
                </a:solidFill>
                <a:latin typeface="Arial"/>
                <a:ea typeface="Arial"/>
                <a:cs typeface="Arial"/>
                <a:sym typeface="Arial"/>
              </a:rPr>
              <a:t>, añadidas</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Arial"/>
                <a:ea typeface="Arial"/>
                <a:cs typeface="Arial"/>
                <a:sym typeface="Arial"/>
              </a:rPr>
              <a:t>En </a:t>
            </a:r>
            <a:r>
              <a:rPr b="1" lang="en-US" sz="1800">
                <a:solidFill>
                  <a:srgbClr val="43D658"/>
                </a:solidFill>
                <a:latin typeface="Arial"/>
                <a:ea typeface="Arial"/>
                <a:cs typeface="Arial"/>
                <a:sym typeface="Arial"/>
              </a:rPr>
              <a:t>verde</a:t>
            </a:r>
            <a:r>
              <a:rPr lang="en-US" sz="1800">
                <a:solidFill>
                  <a:schemeClr val="dk1"/>
                </a:solidFill>
                <a:latin typeface="Arial"/>
                <a:ea typeface="Arial"/>
                <a:cs typeface="Arial"/>
                <a:sym typeface="Arial"/>
              </a:rPr>
              <a:t>, predictores que se asume más importantes</a:t>
            </a:r>
            <a:endParaRPr sz="1800">
              <a:solidFill>
                <a:schemeClr val="dk1"/>
              </a:solidFill>
              <a:latin typeface="Arial"/>
              <a:ea typeface="Arial"/>
              <a:cs typeface="Arial"/>
              <a:sym typeface="Arial"/>
            </a:endParaRPr>
          </a:p>
          <a:p>
            <a:pPr indent="-285750" lvl="0" marL="285750" marR="0" rtl="0" algn="l">
              <a:spcBef>
                <a:spcPts val="0"/>
              </a:spcBef>
              <a:spcAft>
                <a:spcPts val="0"/>
              </a:spcAft>
              <a:buClr>
                <a:srgbClr val="1E5C96"/>
              </a:buClr>
              <a:buSzPts val="1800"/>
              <a:buFont typeface="Calibri"/>
              <a:buChar char="-"/>
            </a:pPr>
            <a:r>
              <a:rPr b="1" lang="en-US" sz="1800">
                <a:solidFill>
                  <a:srgbClr val="1E5C96"/>
                </a:solidFill>
                <a:latin typeface="Arial"/>
                <a:ea typeface="Arial"/>
                <a:cs typeface="Arial"/>
                <a:sym typeface="Arial"/>
              </a:rPr>
              <a:t>Azul</a:t>
            </a:r>
            <a:r>
              <a:rPr lang="en-US" sz="1800">
                <a:solidFill>
                  <a:schemeClr val="dk1"/>
                </a:solidFill>
                <a:latin typeface="Arial"/>
                <a:ea typeface="Arial"/>
                <a:cs typeface="Arial"/>
                <a:sym typeface="Arial"/>
              </a:rPr>
              <a:t>, supuestos estratificadores</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graphicFrame>
        <p:nvGraphicFramePr>
          <p:cNvPr id="181" name="Google Shape;181;p4"/>
          <p:cNvGraphicFramePr/>
          <p:nvPr/>
        </p:nvGraphicFramePr>
        <p:xfrm>
          <a:off x="1364197" y="256418"/>
          <a:ext cx="3000000" cy="3000000"/>
        </p:xfrm>
        <a:graphic>
          <a:graphicData uri="http://schemas.openxmlformats.org/drawingml/2006/table">
            <a:tbl>
              <a:tblPr bandRow="1" firstRow="1">
                <a:noFill/>
                <a:tableStyleId>{6655D387-744F-409C-A33C-9FA9267D86CA}</a:tableStyleId>
              </a:tblPr>
              <a:tblGrid>
                <a:gridCol w="4236325"/>
                <a:gridCol w="4912800"/>
              </a:tblGrid>
              <a:tr h="100000">
                <a:tc>
                  <a:txBody>
                    <a:bodyPr/>
                    <a:lstStyle/>
                    <a:p>
                      <a:pPr indent="0" lvl="0" marL="0" marR="0" rtl="0" algn="l">
                        <a:spcBef>
                          <a:spcPts val="0"/>
                        </a:spcBef>
                        <a:spcAft>
                          <a:spcPts val="0"/>
                        </a:spcAft>
                        <a:buClr>
                          <a:schemeClr val="dk1"/>
                        </a:buClr>
                        <a:buSzPts val="1200"/>
                        <a:buFont typeface="Arial"/>
                        <a:buNone/>
                      </a:pPr>
                      <a:r>
                        <a:rPr lang="en-US" sz="1200" u="none" cap="none" strike="noStrike"/>
                        <a:t>Variable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Label</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cohabitation_others</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Cohabitation status (harmonized)</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sub_dep_icd10_status_drug_dependence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SUD severity (ICD-10)</a:t>
                      </a:r>
                      <a:endParaRPr/>
                    </a:p>
                  </a:txBody>
                  <a:tcPr marT="0" marB="0" marR="0" marL="0" anchor="ctr"/>
                </a:tc>
              </a:tr>
              <a:tr h="166150">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any_violence_1_domestic_violence_sex_abuse</a:t>
                      </a:r>
                      <a:endParaRPr/>
                    </a:p>
                  </a:txBody>
                  <a:tcPr marT="0" marB="0" marR="0" marL="0" anchor="ctr"/>
                </a:tc>
                <a:tc>
                  <a:txBody>
                    <a:bodyPr/>
                    <a:lstStyle/>
                    <a:p>
                      <a:pPr indent="0" lvl="0" marL="0" marR="0" rtl="0" algn="l">
                        <a:spcBef>
                          <a:spcPts val="0"/>
                        </a:spcBef>
                        <a:spcAft>
                          <a:spcPts val="0"/>
                        </a:spcAft>
                        <a:buClr>
                          <a:srgbClr val="FF0000"/>
                        </a:buClr>
                        <a:buSzPts val="1200"/>
                        <a:buFont typeface="Arial"/>
                        <a:buNone/>
                      </a:pPr>
                      <a:r>
                        <a:rPr b="1" lang="en-US" sz="1200" u="none" cap="none" strike="noStrike">
                          <a:solidFill>
                            <a:srgbClr val="FF0000"/>
                          </a:solidFill>
                        </a:rPr>
                        <a:t>Domestic violence/Sexual abuse (mapped to any_violence)</a:t>
                      </a:r>
                      <a:endParaRPr/>
                    </a:p>
                  </a:txBody>
                  <a:tcPr marT="0" marB="0" marR="0" marL="0" anchor="ctr"/>
                </a:tc>
              </a:tr>
              <a:tr h="166150">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tr_outcome_referral</a:t>
                      </a:r>
                      <a:endParaRPr b="1" sz="1200" u="none" cap="none" strike="noStrike">
                        <a:solidFill>
                          <a:srgbClr val="00B050"/>
                        </a:solidFill>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Treatment outcome (subcategory: referral)</a:t>
                      </a:r>
                      <a:endParaRPr/>
                    </a:p>
                  </a:txBody>
                  <a:tcPr marT="0" marB="0" marR="0" marL="0" anchor="ctr"/>
                </a:tc>
              </a:tr>
              <a:tr h="166150">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tr_outcome_dropout</a:t>
                      </a:r>
                      <a:endParaRPr b="1" sz="1200" u="none" cap="none" strike="noStrike">
                        <a:solidFill>
                          <a:srgbClr val="00B050"/>
                        </a:solidFill>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Treatment outcome (subcategory: dropout)</a:t>
                      </a:r>
                      <a:endParaRPr/>
                    </a:p>
                  </a:txBody>
                  <a:tcPr marT="0" marB="0" marR="0" marL="0" anchor="ctr"/>
                </a:tc>
              </a:tr>
              <a:tr h="166150">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tr_outcome_adm_discharge_rule_violation_undet</a:t>
                      </a:r>
                      <a:endParaRPr b="1" sz="1200" u="none" cap="none" strike="noStrike">
                        <a:solidFill>
                          <a:srgbClr val="00B050"/>
                        </a:solidFill>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Treatment outcome (subcategory: adm discharge rule violation)</a:t>
                      </a:r>
                      <a:endParaRPr/>
                    </a:p>
                  </a:txBody>
                  <a:tcPr marT="0" marB="0" marR="0" marL="0" anchor="ctr"/>
                </a:tc>
              </a:tr>
              <a:tr h="166150">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tr_outcome_adm_discharge_adm_reasons</a:t>
                      </a:r>
                      <a:endParaRPr b="1" sz="1200" u="none" cap="none" strike="noStrike">
                        <a:solidFill>
                          <a:srgbClr val="00B050"/>
                        </a:solidFill>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Treatment outcome (subcategory: adm discharge reasons)</a:t>
                      </a:r>
                      <a:endParaRPr/>
                    </a:p>
                  </a:txBody>
                  <a:tcPr marT="0" marB="0" marR="0" marL="0" anchor="ctr"/>
                </a:tc>
              </a:tr>
              <a:tr h="166150">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tr_outcome_other</a:t>
                      </a:r>
                      <a:endParaRPr b="1" sz="1200" u="none" cap="none" strike="noStrike">
                        <a:solidFill>
                          <a:srgbClr val="00B050"/>
                        </a:solidFill>
                      </a:endParaRPr>
                    </a:p>
                  </a:txBody>
                  <a:tcPr marT="0" marB="0" marR="0" marL="0" anchor="ctr"/>
                </a:tc>
                <a:tc>
                  <a:txBody>
                    <a:bodyPr/>
                    <a:lstStyle/>
                    <a:p>
                      <a:pPr indent="0" lvl="0" marL="0" marR="0" rtl="0" algn="l">
                        <a:spcBef>
                          <a:spcPts val="0"/>
                        </a:spcBef>
                        <a:spcAft>
                          <a:spcPts val="0"/>
                        </a:spcAft>
                        <a:buClr>
                          <a:srgbClr val="00B050"/>
                        </a:buClr>
                        <a:buSzPts val="1200"/>
                        <a:buFont typeface="Arial"/>
                        <a:buNone/>
                      </a:pPr>
                      <a:r>
                        <a:rPr b="1" lang="en-US" sz="1200" u="none" cap="none" strike="noStrike">
                          <a:solidFill>
                            <a:srgbClr val="00B050"/>
                          </a:solidFill>
                        </a:rPr>
                        <a:t>Treatment outcome (subcategory: other)</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adm_motive_sanitary_sector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Admission motive (subcategory: sanitary sector)</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adm_motive_another_sud_facility_fonodrogas_senda_previene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Admission motive (other subcategory)</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adm_motive_justice_sector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Admission motive (subcategory: justice sector)</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adm_motive_other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Admission motive (subcategory: other)</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first_sub_used_alcohol</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First substance used (marijuana: ref)</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first_sub_used_cocaine_paste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First substance used (marijuana: ref)</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first_sub_used_cocaine_powder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First substance used (marijuana: ref)</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first_sub_used_other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First substance used (marijuana: ref)</a:t>
                      </a:r>
                      <a:endParaRPr/>
                    </a:p>
                  </a:txBody>
                  <a:tcPr marT="0" marB="0" marR="0" marL="0" anchor="ctr"/>
                </a:tc>
              </a:tr>
              <a:tr h="312750">
                <a:tc>
                  <a:txBody>
                    <a:bodyPr/>
                    <a:lstStyle/>
                    <a:p>
                      <a:pPr indent="0" lvl="0" marL="0" marR="0" rtl="0" algn="l">
                        <a:spcBef>
                          <a:spcPts val="0"/>
                        </a:spcBef>
                        <a:spcAft>
                          <a:spcPts val="0"/>
                        </a:spcAft>
                        <a:buClr>
                          <a:schemeClr val="dk1"/>
                        </a:buClr>
                        <a:buSzPts val="1200"/>
                        <a:buFont typeface="Arial"/>
                        <a:buNone/>
                      </a:pPr>
                      <a:r>
                        <a:rPr lang="en-US" sz="1200" u="none" cap="none" strike="noStrike"/>
                        <a:t>primary_sub_mod_cocaine_powder</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Primary substance of use (recoded to group hallucinogens, opioids, inhalants, tranquilizers, stimulants)</a:t>
                      </a:r>
                      <a:endParaRPr/>
                    </a:p>
                  </a:txBody>
                  <a:tcPr marT="0" marB="0" marR="0" marL="0" anchor="ctr"/>
                </a:tc>
              </a:tr>
              <a:tr h="312750">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primary_sub_mod_alcohol</a:t>
                      </a:r>
                      <a:endParaRPr b="1" sz="1200" u="none" cap="none" strike="noStrike">
                        <a:solidFill>
                          <a:srgbClr val="0070C0"/>
                        </a:solidFill>
                      </a:endParaRPr>
                    </a:p>
                  </a:txBody>
                  <a:tcPr marT="0" marB="0" marR="0" marL="0" anchor="ctr"/>
                </a:tc>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Primary substance of use (recoded to group hallucinogens, opioids, inhalants, tranquilizers, stimulants)</a:t>
                      </a:r>
                      <a:endParaRPr/>
                    </a:p>
                  </a:txBody>
                  <a:tcPr marT="0" marB="0" marR="0" marL="0" anchor="ctr"/>
                </a:tc>
              </a:tr>
              <a:tr h="312750">
                <a:tc>
                  <a:txBody>
                    <a:bodyPr/>
                    <a:lstStyle/>
                    <a:p>
                      <a:pPr indent="0" lvl="0" marL="0" marR="0" rtl="0" algn="l">
                        <a:spcBef>
                          <a:spcPts val="0"/>
                        </a:spcBef>
                        <a:spcAft>
                          <a:spcPts val="0"/>
                        </a:spcAft>
                        <a:buClr>
                          <a:schemeClr val="dk1"/>
                        </a:buClr>
                        <a:buSzPts val="1200"/>
                        <a:buFont typeface="Arial"/>
                        <a:buNone/>
                      </a:pPr>
                      <a:r>
                        <a:rPr lang="en-US" sz="1200" u="none" cap="none" strike="noStrike"/>
                        <a:t>primary_sub_mod_marijuana</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Primary substance of use (recoded to group hallucinogens, opioids, inhalants, tranquilizers, stimulants)</a:t>
                      </a:r>
                      <a:endParaRPr/>
                    </a:p>
                  </a:txBody>
                  <a:tcPr marT="0" marB="0" marR="0" marL="0" anchor="ctr"/>
                </a:tc>
              </a:tr>
              <a:tr h="312750">
                <a:tc>
                  <a:txBody>
                    <a:bodyPr/>
                    <a:lstStyle/>
                    <a:p>
                      <a:pPr indent="0" lvl="0" marL="0" marR="0" rtl="0" algn="l">
                        <a:spcBef>
                          <a:spcPts val="0"/>
                        </a:spcBef>
                        <a:spcAft>
                          <a:spcPts val="0"/>
                        </a:spcAft>
                        <a:buClr>
                          <a:schemeClr val="dk1"/>
                        </a:buClr>
                        <a:buSzPts val="1200"/>
                        <a:buFont typeface="Arial"/>
                        <a:buNone/>
                      </a:pPr>
                      <a:r>
                        <a:rPr lang="en-US" sz="1200" u="none" cap="none" strike="noStrike"/>
                        <a:t>primary_sub_mod_others</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Primary substance of use (recoded to group hallucinogens, opioids, inhalants, tranquilizers, stimulants)</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tipo_de_vivienda_rec2_other_unknown</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Housing type (recoded &amp; simplified)</a:t>
                      </a:r>
                      <a:endParaRPr/>
                    </a:p>
                  </a:txBody>
                  <a:tcPr marT="0" marB="0" marR="0" marL="0" anchor="ctr"/>
                </a:tc>
              </a:tr>
              <a:tr h="166150">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plan_type_corr_pg_pr</a:t>
                      </a:r>
                      <a:endParaRPr b="1" sz="1200" u="none" cap="none" strike="noStrike">
                        <a:solidFill>
                          <a:srgbClr val="0070C0"/>
                        </a:solidFill>
                      </a:endParaRPr>
                    </a:p>
                  </a:txBody>
                  <a:tcPr marT="0" marB="0" marR="0" marL="0" anchor="ctr"/>
                </a:tc>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Treatment modality (plan type, reference: basic ambulatory)</a:t>
                      </a:r>
                      <a:endParaRPr/>
                    </a:p>
                  </a:txBody>
                  <a:tcPr marT="0" marB="0" marR="0" marL="0" anchor="ctr"/>
                </a:tc>
              </a:tr>
              <a:tr h="166150">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plan_type_corr_m_pr</a:t>
                      </a:r>
                      <a:endParaRPr b="1" sz="1200" u="none" cap="none" strike="noStrike">
                        <a:solidFill>
                          <a:srgbClr val="0070C0"/>
                        </a:solidFill>
                      </a:endParaRPr>
                    </a:p>
                  </a:txBody>
                  <a:tcPr marT="0" marB="0" marR="0" marL="0" anchor="ctr"/>
                </a:tc>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Treatment modality (plan type</a:t>
                      </a:r>
                      <a:r>
                        <a:rPr b="1" i="0" lang="en-US" sz="1200" u="none" cap="none" strike="noStrike">
                          <a:solidFill>
                            <a:srgbClr val="0070C0"/>
                          </a:solidFill>
                          <a:latin typeface="Arial"/>
                          <a:ea typeface="Arial"/>
                          <a:cs typeface="Arial"/>
                          <a:sym typeface="Arial"/>
                        </a:rPr>
                        <a:t>, reference: basic ambulatory</a:t>
                      </a:r>
                      <a:r>
                        <a:rPr b="1" lang="en-US" sz="1200" u="none" cap="none" strike="noStrike">
                          <a:solidFill>
                            <a:srgbClr val="0070C0"/>
                          </a:solidFill>
                        </a:rPr>
                        <a:t>)</a:t>
                      </a:r>
                      <a:endParaRPr/>
                    </a:p>
                  </a:txBody>
                  <a:tcPr marT="0" marB="0" marR="0" marL="0" anchor="ctr"/>
                </a:tc>
              </a:tr>
              <a:tr h="166150">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plan_type_corr_pg_pai</a:t>
                      </a:r>
                      <a:endParaRPr b="1" sz="1200" u="none" cap="none" strike="noStrike">
                        <a:solidFill>
                          <a:srgbClr val="0070C0"/>
                        </a:solidFill>
                      </a:endParaRPr>
                    </a:p>
                  </a:txBody>
                  <a:tcPr marT="0" marB="0" marR="0" marL="0" anchor="ctr"/>
                </a:tc>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Treatment modality (plan type</a:t>
                      </a:r>
                      <a:r>
                        <a:rPr b="1" i="0" lang="en-US" sz="1200" u="none" cap="none" strike="noStrike">
                          <a:solidFill>
                            <a:srgbClr val="0070C0"/>
                          </a:solidFill>
                          <a:latin typeface="Arial"/>
                          <a:ea typeface="Arial"/>
                          <a:cs typeface="Arial"/>
                          <a:sym typeface="Arial"/>
                        </a:rPr>
                        <a:t>, reference: basic ambulatory</a:t>
                      </a:r>
                      <a:r>
                        <a:rPr b="1" lang="en-US" sz="1200" u="none" cap="none" strike="noStrike">
                          <a:solidFill>
                            <a:srgbClr val="0070C0"/>
                          </a:solidFill>
                        </a:rPr>
                        <a:t>)</a:t>
                      </a:r>
                      <a:endParaRPr/>
                    </a:p>
                  </a:txBody>
                  <a:tcPr marT="0" marB="0" marR="0" marL="0" anchor="ctr"/>
                </a:tc>
              </a:tr>
              <a:tr h="166150">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plan_type_corr_m_pai</a:t>
                      </a:r>
                      <a:endParaRPr b="1" sz="1200" u="none" cap="none" strike="noStrike">
                        <a:solidFill>
                          <a:srgbClr val="0070C0"/>
                        </a:solidFill>
                      </a:endParaRPr>
                    </a:p>
                  </a:txBody>
                  <a:tcPr marT="0" marB="0" marR="0" marL="0" anchor="ctr"/>
                </a:tc>
                <a:tc>
                  <a:txBody>
                    <a:bodyPr/>
                    <a:lstStyle/>
                    <a:p>
                      <a:pPr indent="0" lvl="0" marL="0" marR="0" rtl="0" algn="l">
                        <a:spcBef>
                          <a:spcPts val="0"/>
                        </a:spcBef>
                        <a:spcAft>
                          <a:spcPts val="0"/>
                        </a:spcAft>
                        <a:buClr>
                          <a:srgbClr val="0070C0"/>
                        </a:buClr>
                        <a:buSzPts val="1200"/>
                        <a:buFont typeface="Arial"/>
                        <a:buNone/>
                      </a:pPr>
                      <a:r>
                        <a:rPr b="1" lang="en-US" sz="1200" u="none" cap="none" strike="noStrike">
                          <a:solidFill>
                            <a:srgbClr val="0070C0"/>
                          </a:solidFill>
                        </a:rPr>
                        <a:t>Treatment modality (plan type</a:t>
                      </a:r>
                      <a:r>
                        <a:rPr b="1" i="0" lang="en-US" sz="1200" u="none" cap="none" strike="noStrike">
                          <a:solidFill>
                            <a:srgbClr val="0070C0"/>
                          </a:solidFill>
                          <a:latin typeface="Arial"/>
                          <a:ea typeface="Arial"/>
                          <a:cs typeface="Arial"/>
                          <a:sym typeface="Arial"/>
                        </a:rPr>
                        <a:t>, reference: basic ambulatory</a:t>
                      </a:r>
                      <a:r>
                        <a:rPr b="1" lang="en-US" sz="1200" u="none" cap="none" strike="noStrike">
                          <a:solidFill>
                            <a:srgbClr val="0070C0"/>
                          </a:solidFill>
                        </a:rPr>
                        <a:t>)</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occupation_condition_corr24_unemployed</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Employment status (subcategory: unemployed)</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occupation_condition_corr24_inactive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Employment status (subcategory: inactive)</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marital_status_rec_single</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Marital status (subcategory: single)</a:t>
                      </a:r>
                      <a:endParaRPr/>
                    </a:p>
                  </a:txBody>
                  <a:tcPr marT="0" marB="0" marR="0" marL="0" anchor="ctr"/>
                </a:tc>
              </a:tr>
              <a:tr h="166150">
                <a:tc>
                  <a:txBody>
                    <a:bodyPr/>
                    <a:lstStyle/>
                    <a:p>
                      <a:pPr indent="0" lvl="0" marL="0" marR="0" rtl="0" algn="l">
                        <a:spcBef>
                          <a:spcPts val="0"/>
                        </a:spcBef>
                        <a:spcAft>
                          <a:spcPts val="0"/>
                        </a:spcAft>
                        <a:buClr>
                          <a:schemeClr val="dk1"/>
                        </a:buClr>
                        <a:buSzPts val="1200"/>
                        <a:buFont typeface="Arial"/>
                        <a:buNone/>
                      </a:pPr>
                      <a:r>
                        <a:rPr lang="en-US" sz="1200" u="none" cap="none" strike="noStrike"/>
                        <a:t>marital_status_rec_separated_divorced_annulled_widowed</a:t>
                      </a:r>
                      <a:endParaRPr/>
                    </a:p>
                  </a:txBody>
                  <a:tcPr marT="0" marB="0" marR="0" marL="0" anchor="ctr"/>
                </a:tc>
                <a:tc>
                  <a:txBody>
                    <a:bodyPr/>
                    <a:lstStyle/>
                    <a:p>
                      <a:pPr indent="0" lvl="0" marL="0" marR="0" rtl="0" algn="l">
                        <a:spcBef>
                          <a:spcPts val="0"/>
                        </a:spcBef>
                        <a:spcAft>
                          <a:spcPts val="0"/>
                        </a:spcAft>
                        <a:buClr>
                          <a:schemeClr val="dk1"/>
                        </a:buClr>
                        <a:buSzPts val="1200"/>
                        <a:buFont typeface="Arial"/>
                        <a:buNone/>
                      </a:pPr>
                      <a:r>
                        <a:rPr lang="en-US" sz="1200" u="none" cap="none" strike="noStrike"/>
                        <a:t>Marital status (subcategory: separated/divorced/annulled/widowed)</a:t>
                      </a:r>
                      <a:endParaRPr/>
                    </a:p>
                  </a:txBody>
                  <a:tcPr marT="0" marB="0" marR="0" marL="0"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839788" y="457200"/>
            <a:ext cx="3932237" cy="5451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Recordatorio</a:t>
            </a:r>
            <a:endParaRPr/>
          </a:p>
        </p:txBody>
      </p:sp>
      <p:sp>
        <p:nvSpPr>
          <p:cNvPr id="188" name="Google Shape;188;p5"/>
          <p:cNvSpPr txBox="1"/>
          <p:nvPr>
            <p:ph idx="2" type="body"/>
          </p:nvPr>
        </p:nvSpPr>
        <p:spPr>
          <a:xfrm>
            <a:off x="376038" y="1104900"/>
            <a:ext cx="6737652" cy="5531432"/>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b="1" lang="en-US" sz="2000"/>
              <a:t>Previo)</a:t>
            </a:r>
            <a:endParaRPr/>
          </a:p>
          <a:p>
            <a:pPr indent="-285750" lvl="0" marL="285750" rtl="0" algn="l">
              <a:lnSpc>
                <a:spcPct val="90000"/>
              </a:lnSpc>
              <a:spcBef>
                <a:spcPts val="1000"/>
              </a:spcBef>
              <a:spcAft>
                <a:spcPts val="0"/>
              </a:spcAft>
              <a:buClr>
                <a:schemeClr val="dk1"/>
              </a:buClr>
              <a:buSzPct val="100000"/>
              <a:buFont typeface="Calibri"/>
              <a:buChar char="-"/>
            </a:pPr>
            <a:r>
              <a:rPr lang="en-US" sz="2000"/>
              <a:t>Aplicar one-hot encoding en features categóricas y transformar predictores numéricos</a:t>
            </a:r>
            <a:endParaRPr sz="2000"/>
          </a:p>
          <a:p>
            <a:pPr indent="-285750" lvl="0" marL="285750" rtl="0" algn="l">
              <a:lnSpc>
                <a:spcPct val="90000"/>
              </a:lnSpc>
              <a:spcBef>
                <a:spcPts val="1000"/>
              </a:spcBef>
              <a:spcAft>
                <a:spcPts val="0"/>
              </a:spcAft>
              <a:buClr>
                <a:schemeClr val="dk1"/>
              </a:buClr>
              <a:buSzPct val="100000"/>
              <a:buFont typeface="Calibri"/>
              <a:buChar char="-"/>
            </a:pPr>
            <a:r>
              <a:rPr lang="en-US" sz="2000"/>
              <a:t>Near-zero variance / sparse data bias (Kuhn &amp; Johnson 2013) </a:t>
            </a:r>
            <a:endParaRPr/>
          </a:p>
          <a:p>
            <a:pPr indent="-285750" lvl="0" marL="285750" rtl="0" algn="l">
              <a:lnSpc>
                <a:spcPct val="90000"/>
              </a:lnSpc>
              <a:spcBef>
                <a:spcPts val="1000"/>
              </a:spcBef>
              <a:spcAft>
                <a:spcPts val="0"/>
              </a:spcAft>
              <a:buClr>
                <a:schemeClr val="dk1"/>
              </a:buClr>
              <a:buSzPct val="100000"/>
              <a:buFont typeface="Calibri"/>
              <a:buChar char="-"/>
            </a:pPr>
            <a:r>
              <a:rPr b="1" lang="en-US" sz="2000"/>
              <a:t>PENDIENTE</a:t>
            </a:r>
            <a:r>
              <a:rPr lang="en-US" sz="2000"/>
              <a:t>=  Truncado adm. (0.2%) + tto. en curso(0.1%)</a:t>
            </a:r>
            <a:endParaRPr/>
          </a:p>
          <a:p>
            <a:pPr indent="0" lvl="0" marL="0" rtl="0" algn="l">
              <a:lnSpc>
                <a:spcPct val="90000"/>
              </a:lnSpc>
              <a:spcBef>
                <a:spcPts val="1000"/>
              </a:spcBef>
              <a:spcAft>
                <a:spcPts val="0"/>
              </a:spcAft>
              <a:buClr>
                <a:schemeClr val="dk1"/>
              </a:buClr>
              <a:buSzPct val="100000"/>
              <a:buNone/>
            </a:pPr>
            <a:r>
              <a:rPr b="1" lang="en-US" sz="2000"/>
              <a:t>1) Modelos predictivos para cada desenlace</a:t>
            </a:r>
            <a:endParaRPr b="1" sz="2000"/>
          </a:p>
          <a:p>
            <a:pPr indent="-285750" lvl="0" marL="285750" rtl="0" algn="l">
              <a:lnSpc>
                <a:spcPct val="90000"/>
              </a:lnSpc>
              <a:spcBef>
                <a:spcPts val="1000"/>
              </a:spcBef>
              <a:spcAft>
                <a:spcPts val="0"/>
              </a:spcAft>
              <a:buClr>
                <a:schemeClr val="dk1"/>
              </a:buClr>
              <a:buSzPct val="100000"/>
              <a:buFont typeface="Calibri"/>
              <a:buChar char="-"/>
            </a:pPr>
            <a:r>
              <a:rPr lang="en-US" sz="2000"/>
              <a:t>No-proporcionalidad?, no necesario en modelos predictivos (bootstrap como opción: Stensrud &amp; Hernán, 2020; Rashetnia, 2021, Jan 20)</a:t>
            </a:r>
            <a:endParaRPr/>
          </a:p>
          <a:p>
            <a:pPr indent="-285750" lvl="1" marL="742950" rtl="0" algn="l">
              <a:lnSpc>
                <a:spcPct val="90000"/>
              </a:lnSpc>
              <a:spcBef>
                <a:spcPts val="500"/>
              </a:spcBef>
              <a:spcAft>
                <a:spcPts val="0"/>
              </a:spcAft>
              <a:buClr>
                <a:schemeClr val="dk1"/>
              </a:buClr>
              <a:buSzPct val="100000"/>
              <a:buFont typeface="Calibri"/>
              <a:buChar char="-"/>
            </a:pPr>
            <a:r>
              <a:rPr lang="en-US" sz="1800"/>
              <a:t>Opatha, N. W., Jayasinghe, C. L., &amp; Silva, R. M. (2025). Impact of censoring proportion on the performance of machine learning and Bayesian survival analysis approaches: Simulated and real data study linked with maternal and child health. Communications in Statistics: Case Studies, Data Analysis and Applications, 1–17. https://doi.org/10.1080/23737484.2025.2573913</a:t>
            </a:r>
            <a:endParaRPr/>
          </a:p>
          <a:p>
            <a:pPr indent="-285750" lvl="2" marL="1200150" rtl="0" algn="l">
              <a:lnSpc>
                <a:spcPct val="90000"/>
              </a:lnSpc>
              <a:spcBef>
                <a:spcPts val="500"/>
              </a:spcBef>
              <a:spcAft>
                <a:spcPts val="0"/>
              </a:spcAft>
              <a:buClr>
                <a:schemeClr val="dk1"/>
              </a:buClr>
              <a:buSzPct val="100000"/>
              <a:buFont typeface="Calibri"/>
              <a:buChar char="-"/>
            </a:pPr>
            <a:r>
              <a:rPr lang="en-US" sz="1600"/>
              <a:t> Traditional survival models; Cox Proportional Hazard and Accelerated Failure Time models, performed well for larger sample sizes and low censoring rates, particularly under increasing hazard scenarios.</a:t>
            </a:r>
            <a:r>
              <a:rPr b="1" lang="en-US" sz="1600"/>
              <a:t> NO ES NECESARIO</a:t>
            </a:r>
            <a:endParaRPr/>
          </a:p>
          <a:p>
            <a:pPr indent="-285750" lvl="0" marL="285750" rtl="0" algn="l">
              <a:lnSpc>
                <a:spcPct val="90000"/>
              </a:lnSpc>
              <a:spcBef>
                <a:spcPts val="1000"/>
              </a:spcBef>
              <a:spcAft>
                <a:spcPts val="0"/>
              </a:spcAft>
              <a:buClr>
                <a:schemeClr val="dk1"/>
              </a:buClr>
              <a:buSzPct val="100000"/>
              <a:buFont typeface="Calibri"/>
              <a:buChar char="-"/>
            </a:pPr>
            <a:r>
              <a:rPr lang="en-US" sz="2000"/>
              <a:t>MI PMM, M=5 , menor sesgo modelos multiestado , MAR (Curnow, et al., 2024)</a:t>
            </a:r>
            <a:endParaRPr sz="2000"/>
          </a:p>
          <a:p>
            <a:pPr indent="-285750" lvl="1" marL="742950" rtl="0" algn="l">
              <a:lnSpc>
                <a:spcPct val="90000"/>
              </a:lnSpc>
              <a:spcBef>
                <a:spcPts val="500"/>
              </a:spcBef>
              <a:spcAft>
                <a:spcPts val="0"/>
              </a:spcAft>
              <a:buClr>
                <a:schemeClr val="dk1"/>
              </a:buClr>
              <a:buSzPct val="100000"/>
              <a:buFont typeface="Courier New"/>
              <a:buChar char="o"/>
            </a:pPr>
            <a:r>
              <a:rPr lang="en-US" sz="1800"/>
              <a:t>15 donantes, 200 árboles, 5 bases, 10 iteraciones</a:t>
            </a:r>
            <a:endParaRPr sz="1800"/>
          </a:p>
          <a:p>
            <a:pPr indent="0" lvl="1" marL="457200" rtl="0" algn="l">
              <a:lnSpc>
                <a:spcPct val="90000"/>
              </a:lnSpc>
              <a:spcBef>
                <a:spcPts val="500"/>
              </a:spcBef>
              <a:spcAft>
                <a:spcPts val="0"/>
              </a:spcAft>
              <a:buClr>
                <a:schemeClr val="dk1"/>
              </a:buClr>
              <a:buSzPct val="100000"/>
              <a:buNone/>
            </a:pPr>
            <a:r>
              <a:rPr lang="en-US" sz="1800"/>
              <a:t>(Stekhoven, &amp; Buehlmann, 2012)</a:t>
            </a:r>
            <a:endParaRPr/>
          </a:p>
          <a:p>
            <a:pPr indent="-285750" lvl="0" marL="285750" rtl="0" algn="l">
              <a:lnSpc>
                <a:spcPct val="90000"/>
              </a:lnSpc>
              <a:spcBef>
                <a:spcPts val="1000"/>
              </a:spcBef>
              <a:spcAft>
                <a:spcPts val="0"/>
              </a:spcAft>
              <a:buClr>
                <a:schemeClr val="dk1"/>
              </a:buClr>
              <a:buSzPct val="100000"/>
              <a:buFont typeface="Calibri"/>
              <a:buChar char="-"/>
            </a:pPr>
            <a:r>
              <a:rPr lang="en-US" sz="2000"/>
              <a:t>Cox (Billichová et al., 2024)</a:t>
            </a:r>
            <a:endParaRPr sz="2000"/>
          </a:p>
          <a:p>
            <a:pPr indent="-285750" lvl="1" marL="914400" rtl="0" algn="l">
              <a:lnSpc>
                <a:spcPct val="90000"/>
              </a:lnSpc>
              <a:spcBef>
                <a:spcPts val="500"/>
              </a:spcBef>
              <a:spcAft>
                <a:spcPts val="0"/>
              </a:spcAft>
              <a:buClr>
                <a:schemeClr val="dk1"/>
              </a:buClr>
              <a:buSzPct val="100000"/>
              <a:buFont typeface="Courier New"/>
              <a:buChar char="o"/>
            </a:pPr>
            <a:r>
              <a:rPr lang="en-US" sz="2000"/>
              <a:t>Interpretación fácil- transparente y simple</a:t>
            </a:r>
            <a:endParaRPr/>
          </a:p>
          <a:p>
            <a:pPr indent="-285750" lvl="1" marL="914400" rtl="0" algn="l">
              <a:lnSpc>
                <a:spcPct val="90000"/>
              </a:lnSpc>
              <a:spcBef>
                <a:spcPts val="500"/>
              </a:spcBef>
              <a:spcAft>
                <a:spcPts val="0"/>
              </a:spcAft>
              <a:buClr>
                <a:schemeClr val="dk1"/>
              </a:buClr>
              <a:buSzPct val="100000"/>
              <a:buFont typeface="Courier New"/>
              <a:buChar char="o"/>
            </a:pPr>
            <a:r>
              <a:rPr lang="en-US" sz="2000"/>
              <a:t>Menor precisión </a:t>
            </a:r>
            <a:endParaRPr/>
          </a:p>
          <a:p>
            <a:pPr indent="-285750" lvl="1" marL="914400" rtl="0" algn="l">
              <a:lnSpc>
                <a:spcPct val="90000"/>
              </a:lnSpc>
              <a:spcBef>
                <a:spcPts val="500"/>
              </a:spcBef>
              <a:spcAft>
                <a:spcPts val="0"/>
              </a:spcAft>
              <a:buClr>
                <a:schemeClr val="dk1"/>
              </a:buClr>
              <a:buSzPct val="100000"/>
              <a:buFont typeface="Courier New"/>
              <a:buChar char="o"/>
            </a:pPr>
            <a:r>
              <a:rPr lang="en-US" sz="2000"/>
              <a:t>Inclusión de efectos no lineales debe ser incorporada manualmente</a:t>
            </a:r>
            <a:endParaRPr sz="2000"/>
          </a:p>
        </p:txBody>
      </p:sp>
      <p:pic>
        <p:nvPicPr>
          <p:cNvPr id="189" name="Google Shape;189;p5"/>
          <p:cNvPicPr preferRelativeResize="0"/>
          <p:nvPr>
            <p:ph idx="1" type="body"/>
          </p:nvPr>
        </p:nvPicPr>
        <p:blipFill rotWithShape="1">
          <a:blip r:embed="rId3">
            <a:alphaModFix/>
          </a:blip>
          <a:srcRect b="0" l="0" r="0" t="0"/>
          <a:stretch/>
        </p:blipFill>
        <p:spPr>
          <a:xfrm>
            <a:off x="7116682" y="91603"/>
            <a:ext cx="4683369" cy="67349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txBox="1"/>
          <p:nvPr>
            <p:ph type="title"/>
          </p:nvPr>
        </p:nvSpPr>
        <p:spPr>
          <a:xfrm>
            <a:off x="862200" y="255494"/>
            <a:ext cx="3932237" cy="70880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Lo que estoy haciendo</a:t>
            </a:r>
            <a:endParaRPr/>
          </a:p>
        </p:txBody>
      </p:sp>
      <p:sp>
        <p:nvSpPr>
          <p:cNvPr id="196" name="Google Shape;196;p6"/>
          <p:cNvSpPr txBox="1"/>
          <p:nvPr>
            <p:ph idx="2" type="body"/>
          </p:nvPr>
        </p:nvSpPr>
        <p:spPr>
          <a:xfrm>
            <a:off x="347998" y="978410"/>
            <a:ext cx="5398726" cy="5677980"/>
          </a:xfrm>
          <a:prstGeom prst="rect">
            <a:avLst/>
          </a:prstGeom>
          <a:noFill/>
          <a:ln>
            <a:noFill/>
          </a:ln>
        </p:spPr>
        <p:txBody>
          <a:bodyPr anchorCtr="0" anchor="ctr"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sz="2000"/>
              <a:t>Descartamos variables</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Varianza cercana a 0</a:t>
            </a:r>
            <a:endParaRPr/>
          </a:p>
          <a:p>
            <a:pPr indent="-285750" lvl="2" marL="1200150" rtl="0" algn="l">
              <a:lnSpc>
                <a:spcPct val="90000"/>
              </a:lnSpc>
              <a:spcBef>
                <a:spcPts val="500"/>
              </a:spcBef>
              <a:spcAft>
                <a:spcPts val="0"/>
              </a:spcAft>
              <a:buClr>
                <a:schemeClr val="dk1"/>
              </a:buClr>
              <a:buSzPct val="100000"/>
              <a:buFont typeface="Noto Sans Symbols"/>
              <a:buChar char="▪"/>
            </a:pPr>
            <a:r>
              <a:rPr lang="en-US" sz="1600"/>
              <a:t>Violencia doméstica + Abuso sex (los indicadores separados, el combinado lo dejamos).</a:t>
            </a:r>
            <a:endParaRPr/>
          </a:p>
          <a:p>
            <a:pPr indent="-285750" lvl="2" marL="1200150" rtl="0" algn="l">
              <a:lnSpc>
                <a:spcPct val="90000"/>
              </a:lnSpc>
              <a:spcBef>
                <a:spcPts val="500"/>
              </a:spcBef>
              <a:spcAft>
                <a:spcPts val="0"/>
              </a:spcAft>
              <a:buClr>
                <a:schemeClr val="dk1"/>
              </a:buClr>
              <a:buSzPct val="100000"/>
              <a:buFont typeface="Noto Sans Symbols"/>
              <a:buChar char="▪"/>
            </a:pPr>
            <a:r>
              <a:rPr lang="en-US" sz="1600"/>
              <a:t>Tipo de vivienda (de 5 categorías, simplificada a 2)</a:t>
            </a:r>
            <a:endParaRPr/>
          </a:p>
          <a:p>
            <a:pPr indent="-285750" lvl="2" marL="1200150" rtl="0" algn="l">
              <a:lnSpc>
                <a:spcPct val="90000"/>
              </a:lnSpc>
              <a:spcBef>
                <a:spcPts val="500"/>
              </a:spcBef>
              <a:spcAft>
                <a:spcPts val="0"/>
              </a:spcAft>
              <a:buClr>
                <a:schemeClr val="dk1"/>
              </a:buClr>
              <a:buSzPct val="100000"/>
              <a:buFont typeface="Noto Sans Symbols"/>
              <a:buChar char="▪"/>
            </a:pPr>
            <a:r>
              <a:rPr lang="en-US" sz="1600"/>
              <a:t>Usuario tribunal trat de drogas</a:t>
            </a:r>
            <a:endParaRPr sz="1600"/>
          </a:p>
          <a:p>
            <a:pPr indent="-285750" lvl="2" marL="1200150" rtl="0" algn="l">
              <a:lnSpc>
                <a:spcPct val="90000"/>
              </a:lnSpc>
              <a:spcBef>
                <a:spcPts val="500"/>
              </a:spcBef>
              <a:spcAft>
                <a:spcPts val="0"/>
              </a:spcAft>
              <a:buClr>
                <a:schemeClr val="dk1"/>
              </a:buClr>
              <a:buSzPct val="100000"/>
              <a:buFont typeface="Noto Sans Symbols"/>
              <a:buChar char="▪"/>
            </a:pPr>
            <a:r>
              <a:rPr lang="en-US" sz="1600"/>
              <a:t>Diagnósticos psiquiátricos por códigos (ej., f4_anxiety_stress_somatoform, f8_9_neurodevelopment_child)</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De la fase de imputaciones, descartamos: Alta incertidumbre imputaciones: </a:t>
            </a:r>
            <a:endParaRPr/>
          </a:p>
          <a:p>
            <a:pPr indent="-285750" lvl="2" marL="1200150" rtl="0" algn="l">
              <a:lnSpc>
                <a:spcPct val="90000"/>
              </a:lnSpc>
              <a:spcBef>
                <a:spcPts val="500"/>
              </a:spcBef>
              <a:spcAft>
                <a:spcPts val="0"/>
              </a:spcAft>
              <a:buClr>
                <a:schemeClr val="dk1"/>
              </a:buClr>
              <a:buSzPct val="100000"/>
              <a:buFont typeface="Noto Sans Symbols"/>
              <a:buChar char="▪"/>
            </a:pPr>
            <a:r>
              <a:rPr lang="en-US" sz="1600"/>
              <a:t>Edad de inicio consumo</a:t>
            </a:r>
            <a:endParaRPr sz="1600"/>
          </a:p>
          <a:p>
            <a:pPr indent="-285750" lvl="2" marL="1200150" rtl="0" algn="l">
              <a:lnSpc>
                <a:spcPct val="90000"/>
              </a:lnSpc>
              <a:spcBef>
                <a:spcPts val="500"/>
              </a:spcBef>
              <a:spcAft>
                <a:spcPts val="0"/>
              </a:spcAft>
              <a:buClr>
                <a:schemeClr val="dk1"/>
              </a:buClr>
              <a:buSzPct val="100000"/>
              <a:buFont typeface="Noto Sans Symbols"/>
              <a:buChar char="▪"/>
            </a:pPr>
            <a:r>
              <a:rPr lang="en-US" sz="1600"/>
              <a:t>Diagnóstico físico (en estudio)</a:t>
            </a:r>
            <a:endParaRPr/>
          </a:p>
          <a:p>
            <a:pPr indent="-285750" lvl="2" marL="1200150" rtl="0" algn="l">
              <a:lnSpc>
                <a:spcPct val="90000"/>
              </a:lnSpc>
              <a:spcBef>
                <a:spcPts val="500"/>
              </a:spcBef>
              <a:spcAft>
                <a:spcPts val="0"/>
              </a:spcAft>
              <a:buClr>
                <a:schemeClr val="dk1"/>
              </a:buClr>
              <a:buSzPct val="100000"/>
              <a:buFont typeface="Noto Sans Symbols"/>
              <a:buChar char="▪"/>
            </a:pPr>
            <a:r>
              <a:rPr lang="en-US" sz="1600"/>
              <a:t>Núm. Reportado de ttos. Previos</a:t>
            </a:r>
            <a:endParaRPr sz="2000"/>
          </a:p>
          <a:p>
            <a:pPr indent="-285750" lvl="0" marL="285750" rtl="0" algn="l">
              <a:lnSpc>
                <a:spcPct val="90000"/>
              </a:lnSpc>
              <a:spcBef>
                <a:spcPts val="1000"/>
              </a:spcBef>
              <a:spcAft>
                <a:spcPts val="0"/>
              </a:spcAft>
              <a:buClr>
                <a:schemeClr val="dk1"/>
              </a:buClr>
              <a:buSzPct val="100000"/>
              <a:buFont typeface="Arial"/>
              <a:buChar char="•"/>
            </a:pPr>
            <a:r>
              <a:rPr lang="en-US" sz="2000"/>
              <a:t>Un modelo Cox no converge. De todas formas </a:t>
            </a:r>
            <a:endParaRPr/>
          </a:p>
          <a:p>
            <a:pPr indent="-285750" lvl="0" marL="285750" rtl="0" algn="l">
              <a:lnSpc>
                <a:spcPct val="90000"/>
              </a:lnSpc>
              <a:spcBef>
                <a:spcPts val="1000"/>
              </a:spcBef>
              <a:spcAft>
                <a:spcPts val="0"/>
              </a:spcAft>
              <a:buClr>
                <a:schemeClr val="dk1"/>
              </a:buClr>
              <a:buSzPct val="100000"/>
              <a:buFont typeface="Arial"/>
              <a:buChar char="•"/>
            </a:pPr>
            <a:r>
              <a:rPr lang="en-US" sz="2000"/>
              <a:t>Elastic Net </a:t>
            </a:r>
            <a:r>
              <a:rPr lang="en-US" sz="2000">
                <a:latin typeface="Arial"/>
                <a:ea typeface="Arial"/>
                <a:cs typeface="Arial"/>
                <a:sym typeface="Arial"/>
              </a:rPr>
              <a:t>λ ( α Σ |βⱼ|    +   (1 − α) Σ βⱼ² )</a:t>
            </a:r>
            <a:endParaRPr sz="2000">
              <a:latin typeface="Arial"/>
              <a:ea typeface="Arial"/>
              <a:cs typeface="Arial"/>
              <a:sym typeface="Arial"/>
            </a:endParaRPr>
          </a:p>
          <a:p>
            <a:pPr indent="-285750" lvl="1" marL="742950" rtl="0" algn="l">
              <a:lnSpc>
                <a:spcPct val="90000"/>
              </a:lnSpc>
              <a:spcBef>
                <a:spcPts val="500"/>
              </a:spcBef>
              <a:spcAft>
                <a:spcPts val="0"/>
              </a:spcAft>
              <a:buClr>
                <a:schemeClr val="dk1"/>
              </a:buClr>
              <a:buSzPct val="100000"/>
              <a:buFont typeface="Courier New"/>
              <a:buChar char="o"/>
            </a:pPr>
            <a:r>
              <a:rPr lang="en-US" sz="1800"/>
              <a:t>Incorporar intercepto (fx de supervivencia basal)</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Α= .1 (Predominio Ridge</a:t>
            </a:r>
            <a:endParaRPr sz="1800"/>
          </a:p>
          <a:p>
            <a:pPr indent="-285750" lvl="1" marL="742950" rtl="0" algn="l">
              <a:lnSpc>
                <a:spcPct val="90000"/>
              </a:lnSpc>
              <a:spcBef>
                <a:spcPts val="500"/>
              </a:spcBef>
              <a:spcAft>
                <a:spcPts val="0"/>
              </a:spcAft>
              <a:buClr>
                <a:schemeClr val="dk1"/>
              </a:buClr>
              <a:buSzPct val="100000"/>
              <a:buFont typeface="Courier New"/>
              <a:buChar char="o"/>
            </a:pPr>
            <a:r>
              <a:rPr lang="en-US" sz="1800"/>
              <a:t>Punto de operación: λ = 0.1</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Validación interna (Royston and Altman, 2013), división aleatoria k= 5 (readm) y k=10 (mort)</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Para cada imputación m ∈ {1,…,M} y cada fold k ∈ {1,…,K}</a:t>
            </a:r>
            <a:endParaRPr/>
          </a:p>
          <a:p>
            <a:pPr indent="-285750" lvl="1" marL="742950" rtl="0" algn="l">
              <a:lnSpc>
                <a:spcPct val="90000"/>
              </a:lnSpc>
              <a:spcBef>
                <a:spcPts val="500"/>
              </a:spcBef>
              <a:spcAft>
                <a:spcPts val="0"/>
              </a:spcAft>
              <a:buClr>
                <a:schemeClr val="dk1"/>
              </a:buClr>
              <a:buSzPct val="100000"/>
              <a:buFont typeface="Courier New"/>
              <a:buChar char="o"/>
            </a:pPr>
            <a:r>
              <a:rPr lang="en-US" sz="1800"/>
              <a:t>A partir del índice 49 (idx), con un 1% de la máxima penalización (min_ratio= .001), lo más parecido a un Cox estándar, pero estabilizado por especificar 50 pasos (n_alphas=50)</a:t>
            </a:r>
            <a:endParaRPr/>
          </a:p>
        </p:txBody>
      </p:sp>
      <p:sp>
        <p:nvSpPr>
          <p:cNvPr id="197" name="Google Shape;197;p6"/>
          <p:cNvSpPr txBox="1"/>
          <p:nvPr/>
        </p:nvSpPr>
        <p:spPr>
          <a:xfrm>
            <a:off x="6025403" y="257067"/>
            <a:ext cx="5945066" cy="6396847"/>
          </a:xfrm>
          <a:prstGeom prst="rect">
            <a:avLst/>
          </a:prstGeom>
          <a:noFill/>
          <a:ln>
            <a:noFill/>
          </a:ln>
        </p:spPr>
        <p:txBody>
          <a:bodyPr anchorCtr="0" anchor="ctr" bIns="45700" lIns="91425" spcFirstLastPara="1" rIns="91425" wrap="square" tIns="45700">
            <a:normAutofit lnSpcReduction="10000"/>
          </a:bodyPr>
          <a:lstStyle/>
          <a:p>
            <a:pPr indent="-158750" lvl="0" marL="285750" marR="0" rtl="0" algn="l">
              <a:lnSpc>
                <a:spcPct val="90000"/>
              </a:lnSpc>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1900"/>
              <a:buFont typeface="Arial"/>
              <a:buChar char="•"/>
            </a:pPr>
            <a:r>
              <a:rPr lang="en-US" sz="1900">
                <a:solidFill>
                  <a:schemeClr val="dk1"/>
                </a:solidFill>
                <a:latin typeface="Arial"/>
                <a:ea typeface="Arial"/>
                <a:cs typeface="Arial"/>
                <a:sym typeface="Arial"/>
              </a:rPr>
              <a:t>Grillas de tiempo-al-evento, para evaluación</a:t>
            </a:r>
            <a:endParaRPr sz="1900">
              <a:solidFill>
                <a:schemeClr val="dk1"/>
              </a:solidFill>
              <a:latin typeface="Arial"/>
              <a:ea typeface="Arial"/>
              <a:cs typeface="Arial"/>
              <a:sym typeface="Arial"/>
            </a:endParaRPr>
          </a:p>
          <a:p>
            <a:pPr indent="-285750" lvl="1" marL="742950" marR="0" rtl="0" algn="l">
              <a:lnSpc>
                <a:spcPct val="90000"/>
              </a:lnSpc>
              <a:spcBef>
                <a:spcPts val="500"/>
              </a:spcBef>
              <a:spcAft>
                <a:spcPts val="0"/>
              </a:spcAft>
              <a:buClr>
                <a:schemeClr val="dk1"/>
              </a:buClr>
              <a:buSzPts val="1700"/>
              <a:buFont typeface="Arial"/>
              <a:buChar char="o"/>
            </a:pPr>
            <a:r>
              <a:rPr b="0" i="0" lang="en-US" sz="1700" u="none" cap="none" strike="noStrike">
                <a:solidFill>
                  <a:schemeClr val="dk1"/>
                </a:solidFill>
                <a:latin typeface="Arial"/>
                <a:ea typeface="Arial"/>
                <a:cs typeface="Arial"/>
                <a:sym typeface="Arial"/>
              </a:rPr>
              <a:t>50 cuantiles entre el 5% y el 95% de los tiempos</a:t>
            </a:r>
            <a:endParaRPr b="0" i="0" sz="1400" u="none" cap="none" strike="noStrike">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Reformateamos readmisiones</a:t>
            </a:r>
            <a:endParaRPr sz="1600">
              <a:solidFill>
                <a:schemeClr val="dk1"/>
              </a:solidFill>
              <a:latin typeface="Arial"/>
              <a:ea typeface="Arial"/>
              <a:cs typeface="Arial"/>
              <a:sym typeface="Arial"/>
            </a:endParaRPr>
          </a:p>
          <a:p>
            <a:pPr indent="-285750" lvl="1" marL="742950" marR="0" rtl="0" algn="l">
              <a:lnSpc>
                <a:spcPct val="90000"/>
              </a:lnSpc>
              <a:spcBef>
                <a:spcPts val="500"/>
              </a:spcBef>
              <a:spcAft>
                <a:spcPts val="0"/>
              </a:spcAft>
              <a:buClr>
                <a:schemeClr val="dk1"/>
              </a:buClr>
              <a:buSzPts val="1800"/>
              <a:buFont typeface="Courier New"/>
              <a:buChar char="o"/>
            </a:pPr>
            <a:r>
              <a:rPr b="0" i="0" lang="en-US" sz="1800" u="none" cap="none" strike="noStrike">
                <a:solidFill>
                  <a:schemeClr val="dk1"/>
                </a:solidFill>
                <a:latin typeface="Arial"/>
                <a:ea typeface="Arial"/>
                <a:cs typeface="Arial"/>
                <a:sym typeface="Arial"/>
              </a:rPr>
              <a:t>Sesgo de tiempo inmortal (fallecidos  que aparecen sin readmisión)</a:t>
            </a:r>
            <a:endParaRPr/>
          </a:p>
          <a:p>
            <a:pPr indent="-285750" lvl="1" marL="1371600" marR="0" rtl="0" algn="l">
              <a:lnSpc>
                <a:spcPct val="90000"/>
              </a:lnSpc>
              <a:spcBef>
                <a:spcPts val="500"/>
              </a:spcBef>
              <a:spcAft>
                <a:spcPts val="0"/>
              </a:spcAft>
              <a:buClr>
                <a:schemeClr val="dk1"/>
              </a:buClr>
              <a:buSzPts val="1400"/>
              <a:buFont typeface="Arial"/>
              <a:buChar char="o"/>
            </a:pPr>
            <a:r>
              <a:rPr b="0" i="0" lang="en-US" sz="1400" u="none" cap="none" strike="noStrike">
                <a:solidFill>
                  <a:schemeClr val="dk1"/>
                </a:solidFill>
                <a:latin typeface="Arial"/>
                <a:ea typeface="Arial"/>
                <a:cs typeface="Arial"/>
                <a:sym typeface="Arial"/>
              </a:rPr>
              <a:t>Para RSF/Coxnet, censurar en 0 es la aproximación más correcta</a:t>
            </a:r>
            <a:endParaRPr b="0" i="0" sz="1400" u="none" cap="none" strike="noStrike">
              <a:solidFill>
                <a:schemeClr val="dk1"/>
              </a:solidFill>
              <a:latin typeface="Arial"/>
              <a:ea typeface="Arial"/>
              <a:cs typeface="Arial"/>
              <a:sym typeface="Arial"/>
            </a:endParaRPr>
          </a:p>
          <a:p>
            <a:pPr indent="-285750" lvl="1" marL="1371600" marR="0" rtl="0" algn="l">
              <a:lnSpc>
                <a:spcPct val="90000"/>
              </a:lnSpc>
              <a:spcBef>
                <a:spcPts val="500"/>
              </a:spcBef>
              <a:spcAft>
                <a:spcPts val="0"/>
              </a:spcAft>
              <a:buClr>
                <a:schemeClr val="dk1"/>
              </a:buClr>
              <a:buSzPts val="1400"/>
              <a:buFont typeface="Arial"/>
              <a:buChar char="o"/>
            </a:pPr>
            <a:r>
              <a:rPr b="1" i="0" lang="en-US" sz="1400" u="none" cap="none" strike="noStrike">
                <a:solidFill>
                  <a:schemeClr val="dk1"/>
                </a:solidFill>
                <a:latin typeface="Arial"/>
                <a:ea typeface="Arial"/>
                <a:cs typeface="Arial"/>
                <a:sym typeface="Arial"/>
              </a:rPr>
              <a:t>Para Fine-Gray, codificar como evento alternativo</a:t>
            </a:r>
            <a:endParaRPr b="1" i="0" sz="1400" u="none" cap="none" strike="noStrike">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Analizar desempeño</a:t>
            </a:r>
            <a:endParaRPr sz="2000">
              <a:solidFill>
                <a:schemeClr val="dk1"/>
              </a:solidFill>
              <a:latin typeface="Arial"/>
              <a:ea typeface="Arial"/>
              <a:cs typeface="Arial"/>
              <a:sym typeface="Arial"/>
            </a:endParaRPr>
          </a:p>
          <a:p>
            <a:pPr indent="-342900" lvl="1" marL="742950" marR="0" rtl="0" algn="l">
              <a:lnSpc>
                <a:spcPct val="90000"/>
              </a:lnSpc>
              <a:spcBef>
                <a:spcPts val="500"/>
              </a:spcBef>
              <a:spcAft>
                <a:spcPts val="0"/>
              </a:spcAft>
              <a:buClr>
                <a:schemeClr val="dk1"/>
              </a:buClr>
              <a:buSzPts val="1800"/>
              <a:buFont typeface="Arial"/>
              <a:buChar char="o"/>
            </a:pPr>
            <a:r>
              <a:rPr b="0" i="0" lang="en-US" sz="1800" u="sng" cap="none" strike="noStrike">
                <a:solidFill>
                  <a:schemeClr val="dk1"/>
                </a:solidFill>
                <a:latin typeface="Arial"/>
                <a:ea typeface="Arial"/>
                <a:cs typeface="Arial"/>
                <a:sym typeface="Arial"/>
                <a:hlinkClick r:id="rId3">
                  <a:extLst>
                    <a:ext uri="{A12FA001-AC4F-418D-AE19-62706E023703}">
                      <ahyp:hlinkClr val="tx"/>
                    </a:ext>
                  </a:extLst>
                </a:hlinkClick>
              </a:rPr>
              <a:t>best_subset_based_on_calib_jan26</a:t>
            </a:r>
            <a:r>
              <a:rPr b="0" i="0" lang="en-US" sz="1800" u="none" cap="none" strike="noStrike">
                <a:solidFill>
                  <a:schemeClr val="dk1"/>
                </a:solidFill>
                <a:latin typeface="Arial"/>
                <a:ea typeface="Arial"/>
                <a:cs typeface="Arial"/>
                <a:sym typeface="Arial"/>
              </a:rPr>
              <a:t>.ipynb</a:t>
            </a:r>
            <a:endParaRPr/>
          </a:p>
          <a:p>
            <a:pPr indent="-342900" lvl="1" marL="742950" marR="0" rtl="0" algn="l">
              <a:lnSpc>
                <a:spcPct val="90000"/>
              </a:lnSpc>
              <a:spcBef>
                <a:spcPts val="500"/>
              </a:spcBef>
              <a:spcAft>
                <a:spcPts val="0"/>
              </a:spcAft>
              <a:buClr>
                <a:schemeClr val="dk1"/>
              </a:buClr>
              <a:buSzPts val="1900"/>
              <a:buFont typeface="Arial"/>
              <a:buChar char="o"/>
            </a:pPr>
            <a:r>
              <a:rPr b="0" i="0" lang="en-US" sz="1900" u="sng" cap="none" strike="noStrike">
                <a:solidFill>
                  <a:schemeClr val="dk1"/>
                </a:solidFill>
                <a:latin typeface="Arial"/>
                <a:ea typeface="Arial"/>
                <a:cs typeface="Arial"/>
                <a:sym typeface="Arial"/>
                <a:hlinkClick r:id="rId4">
                  <a:extLst>
                    <a:ext uri="{A12FA001-AC4F-418D-AE19-62706E023703}">
                      <ahyp:hlinkClr val="tx"/>
                    </a:ext>
                  </a:extLst>
                </a:hlinkClick>
              </a:rPr>
              <a:t>best_subset_based_on_disc_jan26</a:t>
            </a:r>
            <a:r>
              <a:rPr b="0" i="0" lang="en-US" sz="1900" u="none" cap="none" strike="noStrike">
                <a:solidFill>
                  <a:schemeClr val="dk1"/>
                </a:solidFill>
                <a:latin typeface="Arial"/>
                <a:ea typeface="Arial"/>
                <a:cs typeface="Arial"/>
                <a:sym typeface="Arial"/>
              </a:rPr>
              <a:t>.ipynb </a:t>
            </a:r>
            <a:endParaRPr b="0" i="0" sz="1400" u="none" cap="none" strike="noStrike">
              <a:solidFill>
                <a:schemeClr val="dk1"/>
              </a:solidFill>
              <a:latin typeface="Arial"/>
              <a:ea typeface="Arial"/>
              <a:cs typeface="Arial"/>
              <a:sym typeface="Arial"/>
            </a:endParaRPr>
          </a:p>
          <a:p>
            <a:pPr indent="-342900" lvl="2" marL="1200150" marR="0" rtl="0" algn="l">
              <a:lnSpc>
                <a:spcPct val="90000"/>
              </a:lnSpc>
              <a:spcBef>
                <a:spcPts val="50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Permutación por variable (p=20):</a:t>
            </a:r>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Toma datos de prueba, </a:t>
            </a:r>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Cambia valores de cada variable, mezcla aleatoriamente</a:t>
            </a:r>
            <a:endParaRPr b="0" i="0" sz="1400" u="none" cap="none" strike="noStrike">
              <a:solidFill>
                <a:schemeClr val="dk1"/>
              </a:solidFill>
              <a:latin typeface="Arial"/>
              <a:ea typeface="Arial"/>
              <a:cs typeface="Arial"/>
              <a:sym typeface="Arial"/>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Calcula IBS</a:t>
            </a:r>
            <a:endParaRPr/>
          </a:p>
          <a:p>
            <a:pPr indent="-285750" lvl="2" marL="1200150" marR="0" rtl="0" algn="l">
              <a:lnSpc>
                <a:spcPct val="90000"/>
              </a:lnSpc>
              <a:spcBef>
                <a:spcPts val="50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Repito permutación por m y k</a:t>
            </a:r>
            <a:endParaRPr/>
          </a:p>
          <a:p>
            <a:pPr indent="-285750" lvl="2" marL="1200150" marR="0" rtl="0" algn="l">
              <a:lnSpc>
                <a:spcPct val="90000"/>
              </a:lnSpc>
              <a:spcBef>
                <a:spcPts val="50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Contribución marginal de cada covariable a la precisión predictiva (calibración global)</a:t>
            </a:r>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Score shifting: calcular sobre el cambio</a:t>
            </a:r>
            <a:endParaRPr b="0" i="0" sz="1400" u="none" cap="none" strike="noStrike">
              <a:solidFill>
                <a:schemeClr val="dk1"/>
              </a:solidFill>
              <a:latin typeface="Arial"/>
              <a:ea typeface="Arial"/>
              <a:cs typeface="Arial"/>
              <a:sym typeface="Arial"/>
            </a:endParaRPr>
          </a:p>
          <a:p>
            <a:pPr indent="-342900" lvl="2" marL="1200150" marR="0" rtl="0" algn="l">
              <a:lnSpc>
                <a:spcPct val="90000"/>
              </a:lnSpc>
              <a:spcBef>
                <a:spcPts val="50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Prueba de Cox PH sin regularización</a:t>
            </a:r>
            <a:endParaRPr b="0" i="0" sz="1600" u="none" cap="none" strike="noStrike">
              <a:solidFill>
                <a:schemeClr val="dk1"/>
              </a:solidFill>
              <a:latin typeface="Arial"/>
              <a:ea typeface="Arial"/>
              <a:cs typeface="Arial"/>
              <a:sym typeface="Arial"/>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Ver señal predictiva</a:t>
            </a:r>
            <a:endParaRPr b="0" i="0" sz="1400" u="none" cap="none" strike="noStrike">
              <a:solidFill>
                <a:schemeClr val="dk1"/>
              </a:solidFill>
              <a:latin typeface="Arial"/>
              <a:ea typeface="Arial"/>
              <a:cs typeface="Arial"/>
              <a:sym typeface="Arial"/>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Coeficientes</a:t>
            </a:r>
            <a:endParaRPr b="0" i="0" sz="1400" u="none" cap="none" strike="noStrike">
              <a:solidFill>
                <a:schemeClr val="dk1"/>
              </a:solidFill>
              <a:latin typeface="Arial"/>
              <a:ea typeface="Arial"/>
              <a:cs typeface="Arial"/>
              <a:sym typeface="Arial"/>
            </a:endParaRPr>
          </a:p>
          <a:p>
            <a:pPr indent="-342900" lvl="3" marL="1657350" marR="0" rtl="0" algn="l">
              <a:lnSpc>
                <a:spcPct val="90000"/>
              </a:lnSpc>
              <a:spcBef>
                <a:spcPts val="5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Comparación base con Coxnet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7"/>
          <p:cNvSpPr txBox="1"/>
          <p:nvPr>
            <p:ph type="title"/>
          </p:nvPr>
        </p:nvSpPr>
        <p:spPr>
          <a:xfrm>
            <a:off x="839788" y="457200"/>
            <a:ext cx="3932237" cy="1600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Hallazgos preliminares (exploratorio)</a:t>
            </a:r>
            <a:endParaRPr/>
          </a:p>
        </p:txBody>
      </p:sp>
      <p:sp>
        <p:nvSpPr>
          <p:cNvPr id="203" name="Google Shape;203;p7"/>
          <p:cNvSpPr txBox="1"/>
          <p:nvPr>
            <p:ph idx="2" type="body"/>
          </p:nvPr>
        </p:nvSpPr>
        <p:spPr>
          <a:xfrm>
            <a:off x="839788" y="2057400"/>
            <a:ext cx="3932237" cy="3811588"/>
          </a:xfrm>
          <a:prstGeom prst="rect">
            <a:avLst/>
          </a:prstGeom>
          <a:noFill/>
          <a:ln>
            <a:noFill/>
          </a:ln>
        </p:spPr>
        <p:txBody>
          <a:bodyPr anchorCtr="0" anchor="ctr"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1600"/>
              <a:buFont typeface="Calibri"/>
              <a:buChar char="-"/>
            </a:pPr>
            <a:r>
              <a:rPr lang="en-US"/>
              <a:t>Desempeño (k x m)</a:t>
            </a:r>
            <a:endParaRPr/>
          </a:p>
          <a:p>
            <a:pPr indent="-285750" lvl="1" marL="742950" rtl="0" algn="l">
              <a:lnSpc>
                <a:spcPct val="90000"/>
              </a:lnSpc>
              <a:spcBef>
                <a:spcPts val="500"/>
              </a:spcBef>
              <a:spcAft>
                <a:spcPts val="0"/>
              </a:spcAft>
              <a:buClr>
                <a:schemeClr val="dk1"/>
              </a:buClr>
              <a:buSzPts val="1400"/>
              <a:buFont typeface="Courier New"/>
              <a:buChar char="o"/>
            </a:pPr>
            <a:r>
              <a:rPr lang="en-US"/>
              <a:t>Lasso (90%)</a:t>
            </a:r>
            <a:endParaRPr/>
          </a:p>
          <a:p>
            <a:pPr indent="-285750" lvl="1" marL="742950" rtl="0" algn="l">
              <a:lnSpc>
                <a:spcPct val="90000"/>
              </a:lnSpc>
              <a:spcBef>
                <a:spcPts val="500"/>
              </a:spcBef>
              <a:spcAft>
                <a:spcPts val="0"/>
              </a:spcAft>
              <a:buClr>
                <a:schemeClr val="dk1"/>
              </a:buClr>
              <a:buSzPts val="1400"/>
              <a:buFont typeface="Courier New"/>
              <a:buChar char="o"/>
            </a:pPr>
            <a:r>
              <a:rPr lang="en-US"/>
              <a:t>50 trayectorias de valores (n_alpha)</a:t>
            </a:r>
            <a:endParaRPr/>
          </a:p>
          <a:p>
            <a:pPr indent="-285750" lvl="1" marL="742950" rtl="0" algn="l">
              <a:lnSpc>
                <a:spcPct val="90000"/>
              </a:lnSpc>
              <a:spcBef>
                <a:spcPts val="500"/>
              </a:spcBef>
              <a:spcAft>
                <a:spcPts val="0"/>
              </a:spcAft>
              <a:buClr>
                <a:schemeClr val="dk1"/>
              </a:buClr>
              <a:buSzPts val="1400"/>
              <a:buFont typeface="Courier New"/>
              <a:buChar char="o"/>
            </a:pPr>
            <a:r>
              <a:rPr lang="en-US"/>
              <a:t>Alpha mediano (25)= ni tan simple, ni tan complejo</a:t>
            </a:r>
            <a:endParaRPr/>
          </a:p>
          <a:p>
            <a:pPr indent="-285750" lvl="1" marL="742950" rtl="0" algn="l">
              <a:lnSpc>
                <a:spcPct val="90000"/>
              </a:lnSpc>
              <a:spcBef>
                <a:spcPts val="500"/>
              </a:spcBef>
              <a:spcAft>
                <a:spcPts val="0"/>
              </a:spcAft>
              <a:buClr>
                <a:schemeClr val="dk1"/>
              </a:buClr>
              <a:buSzPts val="1400"/>
              <a:buFont typeface="Courier New"/>
              <a:buChar char="o"/>
            </a:pPr>
            <a:r>
              <a:rPr lang="en-US"/>
              <a:t>Readmission (CV, mean ± SD / IBS ): 0.608 ± 0.000 / 0.1317± 0.000</a:t>
            </a:r>
            <a:endParaRPr/>
          </a:p>
          <a:p>
            <a:pPr indent="-285750" lvl="1" marL="742950" rtl="0" algn="l">
              <a:lnSpc>
                <a:spcPct val="90000"/>
              </a:lnSpc>
              <a:spcBef>
                <a:spcPts val="500"/>
              </a:spcBef>
              <a:spcAft>
                <a:spcPts val="0"/>
              </a:spcAft>
              <a:buClr>
                <a:schemeClr val="dk1"/>
              </a:buClr>
              <a:buSzPts val="1400"/>
              <a:buFont typeface="Courier New"/>
              <a:buChar char="o"/>
            </a:pPr>
            <a:r>
              <a:rPr lang="en-US"/>
              <a:t>Death (CV, mean ± SD): 0.742 ± 0.001 / 0.0321 ± 0.000 </a:t>
            </a:r>
            <a:endParaRPr/>
          </a:p>
          <a:p>
            <a:pPr indent="-285750" lvl="0" marL="285750" rtl="0" algn="l">
              <a:lnSpc>
                <a:spcPct val="90000"/>
              </a:lnSpc>
              <a:spcBef>
                <a:spcPts val="1000"/>
              </a:spcBef>
              <a:spcAft>
                <a:spcPts val="0"/>
              </a:spcAft>
              <a:buClr>
                <a:schemeClr val="dk1"/>
              </a:buClr>
              <a:buSzPts val="1600"/>
              <a:buFont typeface="Arial"/>
              <a:buChar char="•"/>
            </a:pPr>
            <a:r>
              <a:rPr lang="en-US"/>
              <a:t>Por centro</a:t>
            </a:r>
            <a:endParaRPr/>
          </a:p>
          <a:p>
            <a:pPr indent="-285750" lvl="1" marL="742950" rtl="0" algn="l">
              <a:lnSpc>
                <a:spcPct val="90000"/>
              </a:lnSpc>
              <a:spcBef>
                <a:spcPts val="500"/>
              </a:spcBef>
              <a:spcAft>
                <a:spcPts val="0"/>
              </a:spcAft>
              <a:buClr>
                <a:schemeClr val="dk1"/>
              </a:buClr>
              <a:buSzPts val="1400"/>
              <a:buFont typeface="Courier New"/>
              <a:buChar char="o"/>
            </a:pPr>
            <a:r>
              <a:rPr lang="en-US"/>
              <a:t>Uno C-index: 0.591 ± 0.080</a:t>
            </a:r>
            <a:endParaRPr/>
          </a:p>
          <a:p>
            <a:pPr indent="-285750" lvl="1" marL="742950" rtl="0" algn="l">
              <a:lnSpc>
                <a:spcPct val="90000"/>
              </a:lnSpc>
              <a:spcBef>
                <a:spcPts val="500"/>
              </a:spcBef>
              <a:spcAft>
                <a:spcPts val="0"/>
              </a:spcAft>
              <a:buClr>
                <a:schemeClr val="dk1"/>
              </a:buClr>
              <a:buSzPts val="1400"/>
              <a:buFont typeface="Courier New"/>
              <a:buChar char="o"/>
            </a:pPr>
            <a:r>
              <a:rPr lang="en-US"/>
              <a:t>IBS: 0.1476 ± 0.0522</a:t>
            </a:r>
            <a:endParaRPr/>
          </a:p>
        </p:txBody>
      </p:sp>
      <p:pic>
        <p:nvPicPr>
          <p:cNvPr id="204" name="Google Shape;204;p7"/>
          <p:cNvPicPr preferRelativeResize="0"/>
          <p:nvPr/>
        </p:nvPicPr>
        <p:blipFill rotWithShape="1">
          <a:blip r:embed="rId3">
            <a:alphaModFix/>
          </a:blip>
          <a:srcRect b="0" l="0" r="0" t="0"/>
          <a:stretch/>
        </p:blipFill>
        <p:spPr>
          <a:xfrm>
            <a:off x="5005387" y="686360"/>
            <a:ext cx="6943725" cy="2739839"/>
          </a:xfrm>
          <a:prstGeom prst="rect">
            <a:avLst/>
          </a:prstGeom>
          <a:noFill/>
          <a:ln>
            <a:noFill/>
          </a:ln>
        </p:spPr>
      </p:pic>
      <p:pic>
        <p:nvPicPr>
          <p:cNvPr id="205" name="Google Shape;205;p7"/>
          <p:cNvPicPr preferRelativeResize="0"/>
          <p:nvPr/>
        </p:nvPicPr>
        <p:blipFill rotWithShape="1">
          <a:blip r:embed="rId4">
            <a:alphaModFix/>
          </a:blip>
          <a:srcRect b="0" l="0" r="0" t="0"/>
          <a:stretch/>
        </p:blipFill>
        <p:spPr>
          <a:xfrm>
            <a:off x="4938152" y="3555067"/>
            <a:ext cx="7078196" cy="27510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422845" y="457200"/>
            <a:ext cx="3213370" cy="1600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Hallazgos </a:t>
            </a:r>
            <a:br>
              <a:rPr lang="en-US"/>
            </a:br>
            <a:r>
              <a:rPr lang="en-US"/>
              <a:t>preliminares, Elastic Net Ridge (90%)</a:t>
            </a:r>
            <a:br>
              <a:rPr lang="en-US"/>
            </a:br>
            <a:r>
              <a:rPr lang="en-US"/>
              <a:t>(permutación)</a:t>
            </a:r>
            <a:endParaRPr/>
          </a:p>
        </p:txBody>
      </p:sp>
      <p:sp>
        <p:nvSpPr>
          <p:cNvPr id="211" name="Google Shape;211;p8"/>
          <p:cNvSpPr txBox="1"/>
          <p:nvPr>
            <p:ph idx="2" type="body"/>
          </p:nvPr>
        </p:nvSpPr>
        <p:spPr>
          <a:xfrm>
            <a:off x="422845" y="2057400"/>
            <a:ext cx="3213370" cy="3811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b="1" lang="en-US"/>
              <a:t>Readmisión (k x m x p = 1,250)</a:t>
            </a:r>
            <a:endParaRPr/>
          </a:p>
          <a:p>
            <a:pPr indent="-101600" lvl="0" marL="0" rtl="0" algn="l">
              <a:lnSpc>
                <a:spcPct val="90000"/>
              </a:lnSpc>
              <a:spcBef>
                <a:spcPts val="1000"/>
              </a:spcBef>
              <a:spcAft>
                <a:spcPts val="0"/>
              </a:spcAft>
              <a:buClr>
                <a:schemeClr val="dk1"/>
              </a:buClr>
              <a:buSzPts val="1600"/>
              <a:buFont typeface="Arial"/>
              <a:buChar char="•"/>
            </a:pPr>
            <a:r>
              <a:rPr lang="en-US"/>
              <a:t>Mean ± SD: 0.1340 ± 0.0016</a:t>
            </a:r>
            <a:endParaRPr/>
          </a:p>
          <a:p>
            <a:pPr indent="-101600" lvl="0" marL="0" rtl="0" algn="l">
              <a:lnSpc>
                <a:spcPct val="90000"/>
              </a:lnSpc>
              <a:spcBef>
                <a:spcPts val="1000"/>
              </a:spcBef>
              <a:spcAft>
                <a:spcPts val="0"/>
              </a:spcAft>
              <a:buClr>
                <a:schemeClr val="dk1"/>
              </a:buClr>
              <a:buSzPts val="1600"/>
              <a:buFont typeface="Arial"/>
              <a:buChar char="•"/>
            </a:pPr>
            <a:r>
              <a:rPr lang="en-US"/>
              <a:t>Range: [0.1322, 0.1360]</a:t>
            </a:r>
            <a:endParaRPr/>
          </a:p>
          <a:p>
            <a:pPr indent="-101600" lvl="0" marL="0" rtl="0" algn="l">
              <a:lnSpc>
                <a:spcPct val="90000"/>
              </a:lnSpc>
              <a:spcBef>
                <a:spcPts val="1000"/>
              </a:spcBef>
              <a:spcAft>
                <a:spcPts val="0"/>
              </a:spcAft>
              <a:buClr>
                <a:srgbClr val="FF0000"/>
              </a:buClr>
              <a:buSzPts val="1600"/>
              <a:buFont typeface="Arial"/>
              <a:buChar char="•"/>
            </a:pPr>
            <a:r>
              <a:rPr b="1" lang="en-US">
                <a:solidFill>
                  <a:srgbClr val="FF0000"/>
                </a:solidFill>
              </a:rPr>
              <a:t>Null (KM) IBS: 0.1351</a:t>
            </a:r>
            <a:endParaRPr/>
          </a:p>
          <a:p>
            <a:pPr indent="0" lvl="0" marL="0" rtl="0" algn="l">
              <a:lnSpc>
                <a:spcPct val="90000"/>
              </a:lnSpc>
              <a:spcBef>
                <a:spcPts val="1000"/>
              </a:spcBef>
              <a:spcAft>
                <a:spcPts val="0"/>
              </a:spcAft>
              <a:buClr>
                <a:schemeClr val="dk1"/>
              </a:buClr>
              <a:buSzPts val="1600"/>
              <a:buNone/>
            </a:pPr>
            <a:r>
              <a:t/>
            </a:r>
            <a:endParaRPr/>
          </a:p>
          <a:p>
            <a:pPr indent="0" lvl="0" marL="0" rtl="0" algn="l">
              <a:lnSpc>
                <a:spcPct val="90000"/>
              </a:lnSpc>
              <a:spcBef>
                <a:spcPts val="1000"/>
              </a:spcBef>
              <a:spcAft>
                <a:spcPts val="0"/>
              </a:spcAft>
              <a:buClr>
                <a:schemeClr val="dk1"/>
              </a:buClr>
              <a:buSzPts val="1600"/>
              <a:buNone/>
            </a:pPr>
            <a:r>
              <a:rPr b="1" lang="en-US"/>
              <a:t>Mortalidad (k x m x p= 2,500)</a:t>
            </a:r>
            <a:endParaRPr/>
          </a:p>
          <a:p>
            <a:pPr indent="-101600" lvl="0" marL="0" rtl="0" algn="l">
              <a:lnSpc>
                <a:spcPct val="90000"/>
              </a:lnSpc>
              <a:spcBef>
                <a:spcPts val="1000"/>
              </a:spcBef>
              <a:spcAft>
                <a:spcPts val="0"/>
              </a:spcAft>
              <a:buClr>
                <a:schemeClr val="dk1"/>
              </a:buClr>
              <a:buSzPts val="1600"/>
              <a:buFont typeface="Arial"/>
              <a:buChar char="•"/>
            </a:pPr>
            <a:r>
              <a:rPr lang="en-US"/>
              <a:t>Mean ± SD: 0.0319 ± 0.0010</a:t>
            </a:r>
            <a:endParaRPr/>
          </a:p>
          <a:p>
            <a:pPr indent="-101600" lvl="0" marL="0" rtl="0" algn="l">
              <a:lnSpc>
                <a:spcPct val="90000"/>
              </a:lnSpc>
              <a:spcBef>
                <a:spcPts val="1000"/>
              </a:spcBef>
              <a:spcAft>
                <a:spcPts val="0"/>
              </a:spcAft>
              <a:buClr>
                <a:schemeClr val="dk1"/>
              </a:buClr>
              <a:buSzPts val="1600"/>
              <a:buFont typeface="Arial"/>
              <a:buChar char="•"/>
            </a:pPr>
            <a:r>
              <a:rPr lang="en-US"/>
              <a:t>Range: [0.0298, 0.0338]</a:t>
            </a:r>
            <a:endParaRPr/>
          </a:p>
          <a:p>
            <a:pPr indent="-101600" lvl="0" marL="0" rtl="0" algn="l">
              <a:lnSpc>
                <a:spcPct val="90000"/>
              </a:lnSpc>
              <a:spcBef>
                <a:spcPts val="1000"/>
              </a:spcBef>
              <a:spcAft>
                <a:spcPts val="0"/>
              </a:spcAft>
              <a:buClr>
                <a:srgbClr val="FF0000"/>
              </a:buClr>
              <a:buSzPts val="1600"/>
              <a:buFont typeface="Arial"/>
              <a:buChar char="•"/>
            </a:pPr>
            <a:r>
              <a:rPr b="1" lang="en-US">
                <a:solidFill>
                  <a:srgbClr val="FF0000"/>
                </a:solidFill>
              </a:rPr>
              <a:t>Null IBS:   0.0335</a:t>
            </a:r>
            <a:endParaRPr b="1">
              <a:solidFill>
                <a:srgbClr val="FF0000"/>
              </a:solidFill>
            </a:endParaRPr>
          </a:p>
        </p:txBody>
      </p:sp>
      <p:graphicFrame>
        <p:nvGraphicFramePr>
          <p:cNvPr id="212" name="Google Shape;212;p8"/>
          <p:cNvGraphicFramePr/>
          <p:nvPr/>
        </p:nvGraphicFramePr>
        <p:xfrm>
          <a:off x="3783301" y="977662"/>
          <a:ext cx="3000000" cy="3000000"/>
        </p:xfrm>
        <a:graphic>
          <a:graphicData uri="http://schemas.openxmlformats.org/drawingml/2006/table">
            <a:tbl>
              <a:tblPr bandRow="1">
                <a:noFill/>
                <a:tableStyleId>{F1669FD7-B0F3-41A0-B53D-9F496732C592}</a:tableStyleId>
              </a:tblPr>
              <a:tblGrid>
                <a:gridCol w="3175000"/>
                <a:gridCol w="685800"/>
                <a:gridCol w="685800"/>
                <a:gridCol w="2222500"/>
                <a:gridCol w="685800"/>
                <a:gridCol w="685800"/>
              </a:tblGrid>
              <a:tr h="762000">
                <a:tc>
                  <a:txBody>
                    <a:bodyPr/>
                    <a:lstStyle/>
                    <a:p>
                      <a:pPr indent="0" lvl="0" marL="0" marR="0" rtl="0" algn="l">
                        <a:spcBef>
                          <a:spcPts val="0"/>
                        </a:spcBef>
                        <a:spcAft>
                          <a:spcPts val="0"/>
                        </a:spcAft>
                        <a:buClr>
                          <a:schemeClr val="dk1"/>
                        </a:buClr>
                        <a:buSzPts val="1000"/>
                        <a:buFont typeface="Arial"/>
                        <a:buNone/>
                      </a:pPr>
                      <a:r>
                        <a:rPr b="1" lang="en-US" sz="1000" u="none" cap="none" strike="noStrike"/>
                        <a:t>Característica</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Incremento medio IBS</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Desviación estándar IBS</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Característica</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Incremento medio IBS</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Desviación estándar IBS</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dit_m</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0.000539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0.000095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adm_age_rec3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0,002701</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0,000236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sex_rec_woman</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0.000510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0.000080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primary_sub_mod_alcohol</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8,96E-05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1,75E-05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adm_age_rec3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0.000383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0.000133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dit_m</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6,56E-05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3,97E-05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plan_type_corr_m_pr</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0.000227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eva_ocupacion</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4,41E-05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2,36E-05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plan_type_corr_pg_pr</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0.000155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0.000042</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eva_fisica</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4,03E-05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1,9E-05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ethnicity</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0.000139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0.000024</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prim_sub_freq_rec</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3,07E-05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1,25E-05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dg_psiq_cie_10_dg</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0.000118</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0.000028</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tenure_status_household</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1,6E-05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1,59E-05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primary_sub_mod_alcohol</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0.000108</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0.000040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cohabitation_with_couple_children</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9,84E-06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4,04E-06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prim_sub_freq_rec</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0.000108</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0.000032</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eva_sm</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5,74E-06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5,31E-06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sub_dep_icd10_status_drug_dependence</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0.000077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evaluacindelprocesoteraputico</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2,79E-06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2,91E-06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occupation_condition_corr24_unemployed</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0.000059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0.000022</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any_phys_dx</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2,47E-06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1,29E-06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primary_sub_mod_marijuana</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0.000056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0.000009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eva_consumo</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2,27E-06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2,25E-06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eva_ocupacion</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0.000053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0.000037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eva_fam</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1,13E-07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5,16E-07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ed_attainment_corr</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0.000045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urbanicity_cat</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eva_consumo</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0.000028</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ed_attainment_corr</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plan_type_corr_pg_pai</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0.000021</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0.000016</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porc_pobr</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tr_outcome_adm_discharge_rule_violation_undet</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0.000011</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eva_transgnorma</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any_violence_1_domestic_violence_sex_abuse</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0.000017</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0.000011</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ethnicity</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dx_f6_personality</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0.000009</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0.000004</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dg_psiq_cie_10_dg</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0975">
                <a:tc>
                  <a:txBody>
                    <a:bodyPr/>
                    <a:lstStyle/>
                    <a:p>
                      <a:pPr indent="0" lvl="0" marL="0" marR="0" rtl="0" algn="l">
                        <a:spcBef>
                          <a:spcPts val="0"/>
                        </a:spcBef>
                        <a:spcAft>
                          <a:spcPts val="0"/>
                        </a:spcAft>
                        <a:buClr>
                          <a:schemeClr val="dk1"/>
                        </a:buClr>
                        <a:buSzPts val="1000"/>
                        <a:buFont typeface="Arial"/>
                        <a:buNone/>
                      </a:pPr>
                      <a:r>
                        <a:rPr lang="en-US" sz="1000" u="none" cap="none" strike="noStrike"/>
                        <a:t>tr_outcome_referral</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0.000002</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0.000003</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dg_psiq_cie_10_instudy</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0</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9"/>
          <p:cNvSpPr txBox="1"/>
          <p:nvPr>
            <p:ph type="title"/>
          </p:nvPr>
        </p:nvSpPr>
        <p:spPr>
          <a:xfrm>
            <a:off x="156229" y="165847"/>
            <a:ext cx="3932237" cy="98387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TIME-SPECIFIC EVALUATION (Elastic net)</a:t>
            </a:r>
            <a:endParaRPr/>
          </a:p>
        </p:txBody>
      </p:sp>
      <p:sp>
        <p:nvSpPr>
          <p:cNvPr id="218" name="Google Shape;218;p9"/>
          <p:cNvSpPr txBox="1"/>
          <p:nvPr>
            <p:ph idx="2" type="body"/>
          </p:nvPr>
        </p:nvSpPr>
        <p:spPr>
          <a:xfrm>
            <a:off x="10553" y="1149724"/>
            <a:ext cx="5030414" cy="2672604"/>
          </a:xfrm>
          <a:prstGeom prst="rect">
            <a:avLst/>
          </a:prstGeom>
          <a:noFill/>
          <a:ln>
            <a:noFill/>
          </a:ln>
        </p:spPr>
        <p:txBody>
          <a:bodyPr anchorCtr="0" anchor="t" bIns="45700" lIns="91425" spcFirstLastPara="1" rIns="91425" wrap="square" tIns="45700">
            <a:normAutofit fontScale="92500" lnSpcReduction="10000"/>
          </a:bodyPr>
          <a:lstStyle/>
          <a:p>
            <a:pPr indent="-93980" lvl="0" marL="0" rtl="0" algn="l">
              <a:lnSpc>
                <a:spcPct val="90000"/>
              </a:lnSpc>
              <a:spcBef>
                <a:spcPts val="0"/>
              </a:spcBef>
              <a:spcAft>
                <a:spcPts val="0"/>
              </a:spcAft>
              <a:buClr>
                <a:schemeClr val="dk1"/>
              </a:buClr>
              <a:buSzPct val="100000"/>
              <a:buFont typeface="Arial"/>
              <a:buChar char="•"/>
            </a:pPr>
            <a:r>
              <a:rPr b="1" lang="en-US"/>
              <a:t>IBS (Integrated Brier Score):  0.1530 ± 0.0011 IBS Range: [0.1521, 0.1551] / C-index: 0.5852 ± 0.0029 Mean AUC(t):   0.6888 ± 0.1001</a:t>
            </a:r>
            <a:endParaRPr b="1"/>
          </a:p>
          <a:p>
            <a:pPr indent="-285750" lvl="0" marL="285750" rtl="0" algn="l">
              <a:lnSpc>
                <a:spcPct val="90000"/>
              </a:lnSpc>
              <a:spcBef>
                <a:spcPts val="1000"/>
              </a:spcBef>
              <a:spcAft>
                <a:spcPts val="0"/>
              </a:spcAft>
              <a:buClr>
                <a:schemeClr val="dk1"/>
              </a:buClr>
              <a:buSzPct val="100000"/>
              <a:buFont typeface="Calibri"/>
              <a:buChar char="-"/>
            </a:pPr>
            <a:r>
              <a:rPr lang="en-US"/>
              <a:t>CALIB= Woman, days in treatment, plan type (residential), ethnicity, ICD-10 psych diagnosis, admission age, primary substance frequency</a:t>
            </a:r>
            <a:endParaRPr/>
          </a:p>
          <a:p>
            <a:pPr indent="-285750" lvl="0" marL="285750" rtl="0" algn="l">
              <a:lnSpc>
                <a:spcPct val="90000"/>
              </a:lnSpc>
              <a:spcBef>
                <a:spcPts val="1000"/>
              </a:spcBef>
              <a:spcAft>
                <a:spcPts val="0"/>
              </a:spcAft>
              <a:buClr>
                <a:schemeClr val="dk1"/>
              </a:buClr>
              <a:buSzPct val="100000"/>
              <a:buFont typeface="Calibri"/>
              <a:buChar char="-"/>
            </a:pPr>
            <a:r>
              <a:rPr lang="en-US"/>
              <a:t>DISC= Admission age, woman, plan type (residential), days in treatment,  plan type (residential-WO), ethnicity, ICD-10 psych diagnosis, primary substance (alcohol), ICD-10 drug dependence, primary substance use frequency, primary substance use (marijuana), occupational condition (unemployed)</a:t>
            </a:r>
            <a:endParaRPr/>
          </a:p>
        </p:txBody>
      </p:sp>
      <p:pic>
        <p:nvPicPr>
          <p:cNvPr id="219" name="Google Shape;219;p9"/>
          <p:cNvPicPr preferRelativeResize="0"/>
          <p:nvPr/>
        </p:nvPicPr>
        <p:blipFill rotWithShape="1">
          <a:blip r:embed="rId3">
            <a:alphaModFix/>
          </a:blip>
          <a:srcRect b="0" l="0" r="0" t="0"/>
          <a:stretch/>
        </p:blipFill>
        <p:spPr>
          <a:xfrm>
            <a:off x="5106654" y="161759"/>
            <a:ext cx="6925754" cy="3448769"/>
          </a:xfrm>
          <a:prstGeom prst="rect">
            <a:avLst/>
          </a:prstGeom>
          <a:noFill/>
          <a:ln>
            <a:noFill/>
          </a:ln>
        </p:spPr>
      </p:pic>
      <p:graphicFrame>
        <p:nvGraphicFramePr>
          <p:cNvPr id="220" name="Google Shape;220;p9"/>
          <p:cNvGraphicFramePr/>
          <p:nvPr/>
        </p:nvGraphicFramePr>
        <p:xfrm>
          <a:off x="156229" y="3755648"/>
          <a:ext cx="3000000" cy="3000000"/>
        </p:xfrm>
        <a:graphic>
          <a:graphicData uri="http://schemas.openxmlformats.org/drawingml/2006/table">
            <a:tbl>
              <a:tblPr bandRow="1">
                <a:noFill/>
                <a:tableStyleId>{F1669FD7-B0F3-41A0-B53D-9F496732C592}</a:tableStyleId>
              </a:tblPr>
              <a:tblGrid>
                <a:gridCol w="1093900"/>
                <a:gridCol w="737425"/>
                <a:gridCol w="717750"/>
                <a:gridCol w="766925"/>
                <a:gridCol w="766925"/>
                <a:gridCol w="1461100"/>
              </a:tblGrid>
              <a:tr h="546350">
                <a:tc>
                  <a:txBody>
                    <a:bodyPr/>
                    <a:lstStyle/>
                    <a:p>
                      <a:pPr indent="0" lvl="0" marL="0" marR="0" rtl="0" algn="l">
                        <a:spcBef>
                          <a:spcPts val="0"/>
                        </a:spcBef>
                        <a:spcAft>
                          <a:spcPts val="0"/>
                        </a:spcAft>
                        <a:buClr>
                          <a:schemeClr val="dk1"/>
                        </a:buClr>
                        <a:buSzPts val="1000"/>
                        <a:buFont typeface="Arial"/>
                        <a:buNone/>
                      </a:pPr>
                      <a:r>
                        <a:rPr b="1" lang="en-US" sz="1000" u="none" cap="none" strike="noStrike"/>
                        <a:t>Etiqueta de tiempo</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AUC</a:t>
                      </a:r>
                      <a:br>
                        <a:rPr b="1" lang="en-US" sz="1000" u="none" cap="none" strike="noStrike"/>
                      </a:br>
                      <a:r>
                        <a:rPr b="1" lang="en-US" sz="1000" u="none" cap="none" strike="noStrike"/>
                        <a:t>promedio</a:t>
                      </a:r>
                      <a:endParaRPr b="1"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AUC </a:t>
                      </a:r>
                      <a:br>
                        <a:rPr b="1" lang="en-US" sz="1000" u="none" cap="none" strike="noStrike"/>
                      </a:br>
                      <a:r>
                        <a:rPr b="1" lang="en-US" sz="1000" u="none" cap="none" strike="noStrike"/>
                        <a:t>desv est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Media BS bootstrap</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Desviación estándar bootstrap</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Número de evaluaciones</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394600">
                <a:tc>
                  <a:txBody>
                    <a:bodyPr/>
                    <a:lstStyle/>
                    <a:p>
                      <a:pPr indent="0" lvl="0" marL="0" marR="0" rtl="0" algn="l">
                        <a:spcBef>
                          <a:spcPts val="0"/>
                        </a:spcBef>
                        <a:spcAft>
                          <a:spcPts val="0"/>
                        </a:spcAft>
                        <a:buClr>
                          <a:schemeClr val="dk1"/>
                        </a:buClr>
                        <a:buSzPts val="1000"/>
                        <a:buFont typeface="Arial"/>
                        <a:buNone/>
                      </a:pPr>
                      <a:r>
                        <a:rPr lang="en-US" sz="1000" u="none" cap="none" strike="noStrike"/>
                        <a:t>2 semanas (2wk)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0.764389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0.073513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0.000441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0.000156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42825">
                <a:tc>
                  <a:txBody>
                    <a:bodyPr/>
                    <a:lstStyle/>
                    <a:p>
                      <a:pPr indent="0" lvl="0" marL="0" marR="0" rtl="0" algn="l">
                        <a:spcBef>
                          <a:spcPts val="0"/>
                        </a:spcBef>
                        <a:spcAft>
                          <a:spcPts val="0"/>
                        </a:spcAft>
                        <a:buClr>
                          <a:schemeClr val="dk1"/>
                        </a:buClr>
                        <a:buSzPts val="1000"/>
                        <a:buFont typeface="Arial"/>
                        <a:buNone/>
                      </a:pPr>
                      <a:r>
                        <a:rPr lang="en-US" sz="1000" u="none" cap="none" strike="noStrike"/>
                        <a:t>1 mes (1mo)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0.796113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0.049126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0.001378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0.000369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4600">
                <a:tc>
                  <a:txBody>
                    <a:bodyPr/>
                    <a:lstStyle/>
                    <a:p>
                      <a:pPr indent="0" lvl="0" marL="0" marR="0" rtl="0" algn="l">
                        <a:spcBef>
                          <a:spcPts val="0"/>
                        </a:spcBef>
                        <a:spcAft>
                          <a:spcPts val="0"/>
                        </a:spcAft>
                        <a:buClr>
                          <a:schemeClr val="dk1"/>
                        </a:buClr>
                        <a:buSzPts val="1000"/>
                        <a:buFont typeface="Arial"/>
                        <a:buNone/>
                      </a:pPr>
                      <a:r>
                        <a:rPr lang="en-US" sz="1000" u="none" cap="none" strike="noStrike"/>
                        <a:t>3 meses (3mo)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0.776517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0.027678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0.007091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0.000321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4600">
                <a:tc>
                  <a:txBody>
                    <a:bodyPr/>
                    <a:lstStyle/>
                    <a:p>
                      <a:pPr indent="0" lvl="0" marL="0" marR="0" rtl="0" algn="l">
                        <a:spcBef>
                          <a:spcPts val="0"/>
                        </a:spcBef>
                        <a:spcAft>
                          <a:spcPts val="0"/>
                        </a:spcAft>
                        <a:buClr>
                          <a:schemeClr val="dk1"/>
                        </a:buClr>
                        <a:buSzPts val="1000"/>
                        <a:buFont typeface="Arial"/>
                        <a:buNone/>
                      </a:pPr>
                      <a:r>
                        <a:rPr lang="en-US" sz="1000" u="none" cap="none" strike="noStrike"/>
                        <a:t>6 meses (6mo)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0.751451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0.006827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0.022060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0.001076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42825">
                <a:tc>
                  <a:txBody>
                    <a:bodyPr/>
                    <a:lstStyle/>
                    <a:p>
                      <a:pPr indent="0" lvl="0" marL="0" marR="0" rtl="0" algn="l">
                        <a:spcBef>
                          <a:spcPts val="0"/>
                        </a:spcBef>
                        <a:spcAft>
                          <a:spcPts val="0"/>
                        </a:spcAft>
                        <a:buClr>
                          <a:schemeClr val="dk1"/>
                        </a:buClr>
                        <a:buSzPts val="1000"/>
                        <a:buFont typeface="Arial"/>
                        <a:buNone/>
                      </a:pPr>
                      <a:r>
                        <a:rPr lang="en-US" sz="1000" u="none" cap="none" strike="noStrike"/>
                        <a:t>1 año (1yr)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0.696899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0.006419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0.059455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0.001705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42825">
                <a:tc>
                  <a:txBody>
                    <a:bodyPr/>
                    <a:lstStyle/>
                    <a:p>
                      <a:pPr indent="0" lvl="0" marL="0" marR="0" rtl="0" algn="l">
                        <a:spcBef>
                          <a:spcPts val="0"/>
                        </a:spcBef>
                        <a:spcAft>
                          <a:spcPts val="0"/>
                        </a:spcAft>
                        <a:buClr>
                          <a:schemeClr val="dk1"/>
                        </a:buClr>
                        <a:buSzPts val="1000"/>
                        <a:buFont typeface="Arial"/>
                        <a:buNone/>
                      </a:pPr>
                      <a:r>
                        <a:rPr lang="en-US" sz="1000" u="none" cap="none" strike="noStrike"/>
                        <a:t>3 años (3yr)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0.613649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0.007426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0.143035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0.002852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42825">
                <a:tc>
                  <a:txBody>
                    <a:bodyPr/>
                    <a:lstStyle/>
                    <a:p>
                      <a:pPr indent="0" lvl="0" marL="0" marR="0" rtl="0" algn="l">
                        <a:spcBef>
                          <a:spcPts val="0"/>
                        </a:spcBef>
                        <a:spcAft>
                          <a:spcPts val="0"/>
                        </a:spcAft>
                        <a:buClr>
                          <a:schemeClr val="dk1"/>
                        </a:buClr>
                        <a:buSzPts val="1000"/>
                        <a:buFont typeface="Arial"/>
                        <a:buNone/>
                      </a:pPr>
                      <a:r>
                        <a:rPr lang="en-US" sz="1000" u="none" cap="none" strike="noStrike"/>
                        <a:t>5 años (5yr)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0.580468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0.177174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0.177174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0.001576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4600">
                <a:tc>
                  <a:txBody>
                    <a:bodyPr/>
                    <a:lstStyle/>
                    <a:p>
                      <a:pPr indent="0" lvl="0" marL="0" marR="0" rtl="0" algn="l">
                        <a:spcBef>
                          <a:spcPts val="0"/>
                        </a:spcBef>
                        <a:spcAft>
                          <a:spcPts val="0"/>
                        </a:spcAft>
                        <a:buClr>
                          <a:schemeClr val="dk1"/>
                        </a:buClr>
                        <a:buSzPts val="1000"/>
                        <a:buFont typeface="Arial"/>
                        <a:buNone/>
                      </a:pPr>
                      <a:r>
                        <a:rPr lang="en-US" sz="1000" u="none" cap="none" strike="noStrike"/>
                        <a:t>10 años (10yr)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0.531187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0.013521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0.213420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0.002054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21" name="Google Shape;221;p9"/>
          <p:cNvPicPr preferRelativeResize="0"/>
          <p:nvPr/>
        </p:nvPicPr>
        <p:blipFill rotWithShape="1">
          <a:blip r:embed="rId4">
            <a:alphaModFix/>
          </a:blip>
          <a:srcRect b="1709" l="0" r="0" t="0"/>
          <a:stretch/>
        </p:blipFill>
        <p:spPr>
          <a:xfrm>
            <a:off x="5022273" y="3801899"/>
            <a:ext cx="7088910" cy="26600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aphicFrame>
        <p:nvGraphicFramePr>
          <p:cNvPr id="226" name="Google Shape;226;p10"/>
          <p:cNvGraphicFramePr/>
          <p:nvPr/>
        </p:nvGraphicFramePr>
        <p:xfrm>
          <a:off x="184727" y="3931729"/>
          <a:ext cx="3000000" cy="3000000"/>
        </p:xfrm>
        <a:graphic>
          <a:graphicData uri="http://schemas.openxmlformats.org/drawingml/2006/table">
            <a:tbl>
              <a:tblPr bandRow="1">
                <a:noFill/>
                <a:tableStyleId>{F1669FD7-B0F3-41A0-B53D-9F496732C592}</a:tableStyleId>
              </a:tblPr>
              <a:tblGrid>
                <a:gridCol w="1004975"/>
                <a:gridCol w="727575"/>
                <a:gridCol w="717750"/>
                <a:gridCol w="711975"/>
                <a:gridCol w="790575"/>
                <a:gridCol w="790575"/>
              </a:tblGrid>
              <a:tr h="445900">
                <a:tc>
                  <a:txBody>
                    <a:bodyPr/>
                    <a:lstStyle/>
                    <a:p>
                      <a:pPr indent="0" lvl="0" marL="0" marR="0" rtl="0" algn="l">
                        <a:spcBef>
                          <a:spcPts val="0"/>
                        </a:spcBef>
                        <a:spcAft>
                          <a:spcPts val="0"/>
                        </a:spcAft>
                        <a:buClr>
                          <a:schemeClr val="dk1"/>
                        </a:buClr>
                        <a:buSzPts val="1000"/>
                        <a:buFont typeface="Arial"/>
                        <a:buNone/>
                      </a:pPr>
                      <a:r>
                        <a:rPr b="1" lang="en-US" sz="1000" u="none" cap="none" strike="noStrike"/>
                        <a:t>Etiqueta de tiempo</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AUC</a:t>
                      </a:r>
                      <a:br>
                        <a:rPr b="1" lang="en-US" sz="1000" u="none" cap="none" strike="noStrike"/>
                      </a:br>
                      <a:r>
                        <a:rPr b="1" lang="en-US" sz="1000" u="none" cap="none" strike="noStrike"/>
                        <a:t>promedio</a:t>
                      </a:r>
                      <a:endParaRPr b="1"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AUC </a:t>
                      </a:r>
                      <a:br>
                        <a:rPr b="1" lang="en-US" sz="1000" u="none" cap="none" strike="noStrike"/>
                      </a:br>
                      <a:r>
                        <a:rPr b="1" lang="en-US" sz="1000" u="none" cap="none" strike="noStrike"/>
                        <a:t>desv est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Media BS bootstrap</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Desviación estándar bootstrap</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b="1" lang="en-US" sz="1000" u="none" cap="none" strike="noStrike"/>
                        <a:t>Número de evaluaciones</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2 semanas (2wk)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0.720098</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0.159546</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0.000124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0.000148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1 mes (1mo)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0.758296</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0.101050</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0.000328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0.000129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3 meses (3mo)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0.747555</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0.052906</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0.001428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0.000395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6 meses (6mo)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0.724674</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0.048674</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0.003483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0.000526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1 año (1yr)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0.735512</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0.029726</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0.007036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0.000897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3 años (3yr)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0.735603</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0.015290</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0.022802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0.000909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5 años (5yr)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0.745161</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0.012540</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0.037846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0.001255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225">
                <a:tc>
                  <a:txBody>
                    <a:bodyPr/>
                    <a:lstStyle/>
                    <a:p>
                      <a:pPr indent="0" lvl="0" marL="0" marR="0" rtl="0" algn="l">
                        <a:spcBef>
                          <a:spcPts val="0"/>
                        </a:spcBef>
                        <a:spcAft>
                          <a:spcPts val="0"/>
                        </a:spcAft>
                        <a:buClr>
                          <a:schemeClr val="dk1"/>
                        </a:buClr>
                        <a:buSzPts val="1000"/>
                        <a:buFont typeface="Arial"/>
                        <a:buNone/>
                      </a:pPr>
                      <a:r>
                        <a:rPr lang="en-US" sz="1000" u="none" cap="none" strike="noStrike"/>
                        <a:t>10 años (10yr)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0.744511</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0.016312</a:t>
                      </a:r>
                      <a:endParaRPr sz="10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0.069244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0.003704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27" name="Google Shape;227;p10"/>
          <p:cNvPicPr preferRelativeResize="0"/>
          <p:nvPr/>
        </p:nvPicPr>
        <p:blipFill rotWithShape="1">
          <a:blip r:embed="rId3">
            <a:alphaModFix/>
          </a:blip>
          <a:srcRect b="0" l="0" r="0" t="0"/>
          <a:stretch/>
        </p:blipFill>
        <p:spPr>
          <a:xfrm>
            <a:off x="4559689" y="259691"/>
            <a:ext cx="7443339" cy="3693184"/>
          </a:xfrm>
          <a:prstGeom prst="rect">
            <a:avLst/>
          </a:prstGeom>
          <a:noFill/>
          <a:ln>
            <a:noFill/>
          </a:ln>
        </p:spPr>
      </p:pic>
      <p:pic>
        <p:nvPicPr>
          <p:cNvPr id="228" name="Google Shape;228;p10"/>
          <p:cNvPicPr preferRelativeResize="0"/>
          <p:nvPr/>
        </p:nvPicPr>
        <p:blipFill rotWithShape="1">
          <a:blip r:embed="rId4">
            <a:alphaModFix/>
          </a:blip>
          <a:srcRect b="0" l="0" r="0" t="0"/>
          <a:stretch/>
        </p:blipFill>
        <p:spPr>
          <a:xfrm>
            <a:off x="4897485" y="3956754"/>
            <a:ext cx="7109788" cy="2626735"/>
          </a:xfrm>
          <a:prstGeom prst="rect">
            <a:avLst/>
          </a:prstGeom>
          <a:noFill/>
          <a:ln>
            <a:noFill/>
          </a:ln>
        </p:spPr>
      </p:pic>
      <p:sp>
        <p:nvSpPr>
          <p:cNvPr id="229" name="Google Shape;229;p10"/>
          <p:cNvSpPr txBox="1"/>
          <p:nvPr/>
        </p:nvSpPr>
        <p:spPr>
          <a:xfrm>
            <a:off x="156229" y="165847"/>
            <a:ext cx="3932237" cy="983877"/>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l">
              <a:lnSpc>
                <a:spcPct val="90000"/>
              </a:lnSpc>
              <a:spcBef>
                <a:spcPts val="0"/>
              </a:spcBef>
              <a:spcAft>
                <a:spcPts val="0"/>
              </a:spcAft>
              <a:buClr>
                <a:schemeClr val="dk1"/>
              </a:buClr>
              <a:buSzPct val="100000"/>
              <a:buFont typeface="Play"/>
              <a:buNone/>
            </a:pPr>
            <a:r>
              <a:rPr lang="en-US" sz="3200">
                <a:solidFill>
                  <a:schemeClr val="dk1"/>
                </a:solidFill>
                <a:latin typeface="Play"/>
                <a:ea typeface="Play"/>
                <a:cs typeface="Play"/>
                <a:sym typeface="Play"/>
              </a:rPr>
              <a:t>TIME-SPECIFIC EVALUATION (Elastic net)</a:t>
            </a:r>
            <a:endParaRPr/>
          </a:p>
        </p:txBody>
      </p:sp>
      <p:sp>
        <p:nvSpPr>
          <p:cNvPr id="230" name="Google Shape;230;p10"/>
          <p:cNvSpPr txBox="1"/>
          <p:nvPr/>
        </p:nvSpPr>
        <p:spPr>
          <a:xfrm>
            <a:off x="10553" y="1149724"/>
            <a:ext cx="5030414" cy="2672604"/>
          </a:xfrm>
          <a:prstGeom prst="rect">
            <a:avLst/>
          </a:prstGeom>
          <a:noFill/>
          <a:ln>
            <a:noFill/>
          </a:ln>
        </p:spPr>
        <p:txBody>
          <a:bodyPr anchorCtr="0" anchor="t" bIns="45700" lIns="91425" spcFirstLastPara="1" rIns="91425" wrap="square" tIns="45700">
            <a:normAutofit fontScale="92500"/>
          </a:bodyPr>
          <a:lstStyle/>
          <a:p>
            <a:pPr indent="-93980" lvl="0" marL="0" marR="0" rtl="0" algn="l">
              <a:lnSpc>
                <a:spcPct val="90000"/>
              </a:lnSpc>
              <a:spcBef>
                <a:spcPts val="0"/>
              </a:spcBef>
              <a:spcAft>
                <a:spcPts val="0"/>
              </a:spcAft>
              <a:buClr>
                <a:schemeClr val="dk1"/>
              </a:buClr>
              <a:buSzPct val="100000"/>
              <a:buFont typeface="Arial"/>
              <a:buChar char="•"/>
            </a:pPr>
            <a:r>
              <a:rPr b="1" lang="en-US" sz="1600">
                <a:solidFill>
                  <a:schemeClr val="dk1"/>
                </a:solidFill>
                <a:latin typeface="Arial"/>
                <a:ea typeface="Arial"/>
                <a:cs typeface="Arial"/>
                <a:sym typeface="Arial"/>
              </a:rPr>
              <a:t>IBS (Integrated Brier Score):  0.0363 ± 0.0013 IBS Range: [0.0338, 0.0386] / C-index: 0.7106 ± 0.0174 Mean AUC(t):   0.7399 ± 0.0653</a:t>
            </a:r>
            <a:endParaRPr b="1" sz="1600">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ct val="100000"/>
              <a:buFont typeface="Calibri"/>
              <a:buChar char="-"/>
            </a:pPr>
            <a:r>
              <a:rPr lang="en-US" sz="1600">
                <a:solidFill>
                  <a:schemeClr val="dk1"/>
                </a:solidFill>
                <a:latin typeface="Arial"/>
                <a:ea typeface="Arial"/>
                <a:cs typeface="Arial"/>
                <a:sym typeface="Arial"/>
              </a:rPr>
              <a:t>CALIB= Admission age, primary substance at admission (alcohol), days in treatment, physical evaluation at discharge, occupational condition at discharge, primeray substance use frequency, tenure status of household</a:t>
            </a:r>
            <a:endParaRPr/>
          </a:p>
          <a:p>
            <a:pPr indent="-285750" lvl="0" marL="285750" marR="0" rtl="0" algn="l">
              <a:lnSpc>
                <a:spcPct val="90000"/>
              </a:lnSpc>
              <a:spcBef>
                <a:spcPts val="1000"/>
              </a:spcBef>
              <a:spcAft>
                <a:spcPts val="0"/>
              </a:spcAft>
              <a:buClr>
                <a:schemeClr val="dk1"/>
              </a:buClr>
              <a:buSzPct val="100000"/>
              <a:buFont typeface="Calibri"/>
              <a:buChar char="-"/>
            </a:pPr>
            <a:r>
              <a:rPr lang="en-US" sz="1600">
                <a:solidFill>
                  <a:schemeClr val="dk1"/>
                </a:solidFill>
                <a:latin typeface="Arial"/>
                <a:ea typeface="Arial"/>
                <a:cs typeface="Arial"/>
                <a:sym typeface="Arial"/>
              </a:rPr>
              <a:t>DISC= Admission age, primary substance at admission (alcohol), occupational condition at discharge, primary substance use frequency, physical evaluation at discharge, days in treatment, tenure status of household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type="title"/>
          </p:nvPr>
        </p:nvSpPr>
        <p:spPr>
          <a:xfrm>
            <a:off x="422845" y="457200"/>
            <a:ext cx="3213370"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Cox PH sin regularización, MI &amp; CV</a:t>
            </a:r>
            <a:endParaRPr/>
          </a:p>
        </p:txBody>
      </p:sp>
      <p:sp>
        <p:nvSpPr>
          <p:cNvPr id="236" name="Google Shape;236;p11"/>
          <p:cNvSpPr txBox="1"/>
          <p:nvPr>
            <p:ph idx="2" type="body"/>
          </p:nvPr>
        </p:nvSpPr>
        <p:spPr>
          <a:xfrm>
            <a:off x="422845" y="2057400"/>
            <a:ext cx="3213370" cy="2057551"/>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b="1" lang="en-US"/>
              <a:t>READMISION</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C-index:       0.6094 ± 0.0055</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Mean AUC(t):   0.6710 ± 0.0751</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IBS:           0.1528 ± 0.0014</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Imputations: 5, CV folds: 5</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Features: 56, Samples: 88504</a:t>
            </a:r>
            <a:endParaRPr/>
          </a:p>
          <a:p>
            <a:pPr indent="-285750" lvl="0" marL="285750" rtl="0" algn="l">
              <a:lnSpc>
                <a:spcPct val="100000"/>
              </a:lnSpc>
              <a:spcBef>
                <a:spcPts val="500"/>
              </a:spcBef>
              <a:spcAft>
                <a:spcPts val="0"/>
              </a:spcAft>
              <a:buClr>
                <a:schemeClr val="dk1"/>
              </a:buClr>
              <a:buSzPct val="100000"/>
              <a:buFont typeface="Noto Sans Symbols"/>
              <a:buChar char="▪"/>
            </a:pPr>
            <a:r>
              <a:rPr lang="en-US"/>
              <a:t>Time points: 8</a:t>
            </a:r>
            <a:endParaRPr/>
          </a:p>
        </p:txBody>
      </p:sp>
      <p:pic>
        <p:nvPicPr>
          <p:cNvPr id="237" name="Google Shape;237;p11"/>
          <p:cNvPicPr preferRelativeResize="0"/>
          <p:nvPr/>
        </p:nvPicPr>
        <p:blipFill rotWithShape="1">
          <a:blip r:embed="rId3">
            <a:alphaModFix/>
          </a:blip>
          <a:srcRect b="0" l="0" r="0" t="0"/>
          <a:stretch/>
        </p:blipFill>
        <p:spPr>
          <a:xfrm>
            <a:off x="3853741" y="43132"/>
            <a:ext cx="6066027" cy="4040039"/>
          </a:xfrm>
          <a:prstGeom prst="rect">
            <a:avLst/>
          </a:prstGeom>
          <a:noFill/>
          <a:ln>
            <a:noFill/>
          </a:ln>
        </p:spPr>
      </p:pic>
      <p:pic>
        <p:nvPicPr>
          <p:cNvPr id="238" name="Google Shape;238;p11"/>
          <p:cNvPicPr preferRelativeResize="0"/>
          <p:nvPr/>
        </p:nvPicPr>
        <p:blipFill rotWithShape="1">
          <a:blip r:embed="rId4">
            <a:alphaModFix/>
          </a:blip>
          <a:srcRect b="0" l="0" r="0" t="0"/>
          <a:stretch/>
        </p:blipFill>
        <p:spPr>
          <a:xfrm>
            <a:off x="6881906" y="4111924"/>
            <a:ext cx="4754229" cy="2659813"/>
          </a:xfrm>
          <a:prstGeom prst="rect">
            <a:avLst/>
          </a:prstGeom>
          <a:noFill/>
          <a:ln>
            <a:noFill/>
          </a:ln>
        </p:spPr>
      </p:pic>
      <p:graphicFrame>
        <p:nvGraphicFramePr>
          <p:cNvPr id="239" name="Google Shape;239;p11"/>
          <p:cNvGraphicFramePr/>
          <p:nvPr/>
        </p:nvGraphicFramePr>
        <p:xfrm>
          <a:off x="694764" y="4224617"/>
          <a:ext cx="3000000" cy="3000000"/>
        </p:xfrm>
        <a:graphic>
          <a:graphicData uri="http://schemas.openxmlformats.org/drawingml/2006/table">
            <a:tbl>
              <a:tblPr bandRow="1">
                <a:noFill/>
                <a:tableStyleId>{F1669FD7-B0F3-41A0-B53D-9F496732C592}</a:tableStyleId>
              </a:tblPr>
              <a:tblGrid>
                <a:gridCol w="1052625"/>
                <a:gridCol w="818700"/>
                <a:gridCol w="701750"/>
                <a:gridCol w="818700"/>
                <a:gridCol w="818700"/>
                <a:gridCol w="818700"/>
              </a:tblGrid>
              <a:tr h="182875">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label</a:t>
                      </a:r>
                      <a:endParaRPr b="1" i="0" sz="10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AUC</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mean</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AUC </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sd</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BS</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mean</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BS</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sd</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n_evals</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28575">
                      <a:solidFill>
                        <a:schemeClr val="dk1"/>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2 semanas (2wk)</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0,7047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0,0757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0,0004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0,0002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1 mes (1mo)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0,7568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0,0563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0,0014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0,0004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3 meses (3mo)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0,7297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0,0327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0,0071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0,0003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6 meses (6mo)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0,7112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0,0077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0,0219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0,0011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1 año (1yr)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0,6819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0,0066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0,0589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0,0017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3 años (3yr)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0,6320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0,0038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0,1413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0,0027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5 años (5yr)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0,6041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0,0063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0,1759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0,0014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a:txBody>
                    <a:bodyPr/>
                    <a:lstStyle/>
                    <a:p>
                      <a:pPr indent="0" lvl="0" marL="0" marR="0" rtl="0" algn="l">
                        <a:spcBef>
                          <a:spcPts val="0"/>
                        </a:spcBef>
                        <a:spcAft>
                          <a:spcPts val="0"/>
                        </a:spcAft>
                        <a:buClr>
                          <a:schemeClr val="dk1"/>
                        </a:buClr>
                        <a:buSzPts val="1000"/>
                        <a:buFont typeface="Arial"/>
                        <a:buNone/>
                      </a:pPr>
                      <a:r>
                        <a:rPr lang="en-US" sz="1000" u="none" cap="none" strike="noStrike"/>
                        <a:t>10 años (10yr)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0,5478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0,0174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0,2159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50"/>
                        <a:buFont typeface="Arial"/>
                        <a:buNone/>
                      </a:pPr>
                      <a:r>
                        <a:rPr lang="en-US" sz="1050" u="none" cap="none" strike="noStrike"/>
                        <a:t>     0,0024 </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50"/>
                        <a:buFont typeface="Arial"/>
                        <a:buNone/>
                      </a:pPr>
                      <a:r>
                        <a:rPr lang="en-US" sz="1050" u="none" cap="none" strike="noStrike"/>
                        <a:t>25</a:t>
                      </a:r>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2"/>
          <p:cNvSpPr txBox="1"/>
          <p:nvPr>
            <p:ph type="title"/>
          </p:nvPr>
        </p:nvSpPr>
        <p:spPr>
          <a:xfrm>
            <a:off x="422845" y="457200"/>
            <a:ext cx="3213370"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Cox PH sin regularización, MI &amp; CV</a:t>
            </a:r>
            <a:endParaRPr/>
          </a:p>
        </p:txBody>
      </p:sp>
      <p:sp>
        <p:nvSpPr>
          <p:cNvPr id="245" name="Google Shape;245;p12"/>
          <p:cNvSpPr txBox="1"/>
          <p:nvPr>
            <p:ph idx="2" type="body"/>
          </p:nvPr>
        </p:nvSpPr>
        <p:spPr>
          <a:xfrm>
            <a:off x="422845" y="2057400"/>
            <a:ext cx="3213370" cy="205755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None/>
            </a:pPr>
            <a:r>
              <a:rPr b="1" lang="en-US"/>
              <a:t>MORTALIDAD</a:t>
            </a:r>
            <a:endParaRPr/>
          </a:p>
          <a:p>
            <a:pPr indent="-285750" lvl="0" marL="285750" rtl="0" algn="l">
              <a:lnSpc>
                <a:spcPct val="100000"/>
              </a:lnSpc>
              <a:spcBef>
                <a:spcPts val="500"/>
              </a:spcBef>
              <a:spcAft>
                <a:spcPts val="0"/>
              </a:spcAft>
              <a:buClr>
                <a:schemeClr val="dk1"/>
              </a:buClr>
              <a:buSzPts val="1600"/>
              <a:buFont typeface="Noto Sans Symbols"/>
              <a:buChar char="▪"/>
            </a:pPr>
            <a:r>
              <a:rPr lang="en-US"/>
              <a:t>C-index:       0.6094 ± 0.0055</a:t>
            </a:r>
            <a:endParaRPr/>
          </a:p>
          <a:p>
            <a:pPr indent="-285750" lvl="0" marL="285750" rtl="0" algn="l">
              <a:lnSpc>
                <a:spcPct val="100000"/>
              </a:lnSpc>
              <a:spcBef>
                <a:spcPts val="500"/>
              </a:spcBef>
              <a:spcAft>
                <a:spcPts val="0"/>
              </a:spcAft>
              <a:buClr>
                <a:schemeClr val="dk1"/>
              </a:buClr>
              <a:buSzPts val="1600"/>
              <a:buFont typeface="Noto Sans Symbols"/>
              <a:buChar char="▪"/>
            </a:pPr>
            <a:r>
              <a:rPr lang="en-US"/>
              <a:t>IBS:           0.1528 ± 0.0014</a:t>
            </a:r>
            <a:endParaRPr/>
          </a:p>
          <a:p>
            <a:pPr indent="-285750" lvl="0" marL="285750" rtl="0" algn="l">
              <a:lnSpc>
                <a:spcPct val="100000"/>
              </a:lnSpc>
              <a:spcBef>
                <a:spcPts val="500"/>
              </a:spcBef>
              <a:spcAft>
                <a:spcPts val="0"/>
              </a:spcAft>
              <a:buClr>
                <a:schemeClr val="dk1"/>
              </a:buClr>
              <a:buSzPts val="1600"/>
              <a:buFont typeface="Noto Sans Symbols"/>
              <a:buChar char="▪"/>
            </a:pPr>
            <a:r>
              <a:rPr lang="en-US"/>
              <a:t>Imputations: 5, CV folds: 5</a:t>
            </a:r>
            <a:endParaRPr/>
          </a:p>
          <a:p>
            <a:pPr indent="-285750" lvl="0" marL="285750" rtl="0" algn="l">
              <a:lnSpc>
                <a:spcPct val="100000"/>
              </a:lnSpc>
              <a:spcBef>
                <a:spcPts val="500"/>
              </a:spcBef>
              <a:spcAft>
                <a:spcPts val="0"/>
              </a:spcAft>
              <a:buClr>
                <a:schemeClr val="dk1"/>
              </a:buClr>
              <a:buSzPts val="1600"/>
              <a:buFont typeface="Noto Sans Symbols"/>
              <a:buChar char="▪"/>
            </a:pPr>
            <a:r>
              <a:rPr lang="en-US"/>
              <a:t>Features: 56, Samples: 88504</a:t>
            </a:r>
            <a:endParaRPr/>
          </a:p>
          <a:p>
            <a:pPr indent="-285750" lvl="0" marL="285750" rtl="0" algn="l">
              <a:lnSpc>
                <a:spcPct val="100000"/>
              </a:lnSpc>
              <a:spcBef>
                <a:spcPts val="500"/>
              </a:spcBef>
              <a:spcAft>
                <a:spcPts val="0"/>
              </a:spcAft>
              <a:buClr>
                <a:schemeClr val="dk1"/>
              </a:buClr>
              <a:buSzPts val="1600"/>
              <a:buFont typeface="Noto Sans Symbols"/>
              <a:buChar char="▪"/>
            </a:pPr>
            <a:r>
              <a:rPr lang="en-US"/>
              <a:t>Time points: 8</a:t>
            </a:r>
            <a:endParaRPr/>
          </a:p>
        </p:txBody>
      </p:sp>
      <p:pic>
        <p:nvPicPr>
          <p:cNvPr id="246" name="Google Shape;246;p12"/>
          <p:cNvPicPr preferRelativeResize="0"/>
          <p:nvPr/>
        </p:nvPicPr>
        <p:blipFill rotWithShape="1">
          <a:blip r:embed="rId3">
            <a:alphaModFix/>
          </a:blip>
          <a:srcRect b="0" l="0" r="0" t="0"/>
          <a:stretch/>
        </p:blipFill>
        <p:spPr>
          <a:xfrm>
            <a:off x="4519053" y="140074"/>
            <a:ext cx="5888131" cy="3843618"/>
          </a:xfrm>
          <a:prstGeom prst="rect">
            <a:avLst/>
          </a:prstGeom>
          <a:noFill/>
          <a:ln>
            <a:noFill/>
          </a:ln>
        </p:spPr>
      </p:pic>
      <p:pic>
        <p:nvPicPr>
          <p:cNvPr id="247" name="Google Shape;247;p12"/>
          <p:cNvPicPr preferRelativeResize="0"/>
          <p:nvPr/>
        </p:nvPicPr>
        <p:blipFill rotWithShape="1">
          <a:blip r:embed="rId4">
            <a:alphaModFix/>
          </a:blip>
          <a:srcRect b="0" l="0" r="0" t="0"/>
          <a:stretch/>
        </p:blipFill>
        <p:spPr>
          <a:xfrm>
            <a:off x="6675904" y="3962680"/>
            <a:ext cx="5193927" cy="2899522"/>
          </a:xfrm>
          <a:prstGeom prst="rect">
            <a:avLst/>
          </a:prstGeom>
          <a:noFill/>
          <a:ln>
            <a:noFill/>
          </a:ln>
        </p:spPr>
      </p:pic>
      <p:graphicFrame>
        <p:nvGraphicFramePr>
          <p:cNvPr id="248" name="Google Shape;248;p12"/>
          <p:cNvGraphicFramePr/>
          <p:nvPr/>
        </p:nvGraphicFramePr>
        <p:xfrm>
          <a:off x="515470" y="4146176"/>
          <a:ext cx="3000000" cy="3000000"/>
        </p:xfrm>
        <a:graphic>
          <a:graphicData uri="http://schemas.openxmlformats.org/drawingml/2006/table">
            <a:tbl>
              <a:tblPr bandRow="1">
                <a:noFill/>
                <a:tableStyleId>{F1669FD7-B0F3-41A0-B53D-9F496732C592}</a:tableStyleId>
              </a:tblPr>
              <a:tblGrid>
                <a:gridCol w="1116350"/>
                <a:gridCol w="760600"/>
                <a:gridCol w="743125"/>
                <a:gridCol w="752675"/>
                <a:gridCol w="965375"/>
                <a:gridCol w="965375"/>
              </a:tblGrid>
              <a:tr h="268450">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time_label</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AUC</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mean</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AUC </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sd</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BS</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mean</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BS</a:t>
                      </a:r>
                      <a:br>
                        <a:rPr b="0" i="0" lang="en-US" sz="1000" u="none" cap="none" strike="noStrike">
                          <a:solidFill>
                            <a:srgbClr val="000000"/>
                          </a:solidFill>
                          <a:latin typeface="Arial"/>
                          <a:ea typeface="Arial"/>
                          <a:cs typeface="Arial"/>
                          <a:sym typeface="Arial"/>
                        </a:rPr>
                      </a:br>
                      <a:r>
                        <a:rPr b="1" i="0" lang="en-US" sz="1000" u="none" cap="none" strike="noStrike">
                          <a:solidFill>
                            <a:srgbClr val="000000"/>
                          </a:solidFill>
                          <a:latin typeface="Arial"/>
                          <a:ea typeface="Arial"/>
                          <a:cs typeface="Arial"/>
                          <a:sym typeface="Arial"/>
                        </a:rPr>
                        <a:t>sd</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35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n_evals</a:t>
                      </a:r>
                      <a:endParaRPr b="0" i="0" sz="1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2 semanas (2wk)</a:t>
                      </a:r>
                      <a:endParaRPr b="0" i="0" sz="10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0,8760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0,0299</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0,0001</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0,0001</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1 mes (1mo)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0,8775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0,0583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0,0001</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3 meses (3mo)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0,8638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0,0633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0,0014</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0,0002</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6 meses (6mo)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0,8216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0,0261</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0,0034</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1 año (1yr)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0,8111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0,0293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0,0068</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0,0006</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3 años (3yr)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0,7819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0,0064</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0,0219</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0,0003</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5 años (5yr)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0,7823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0,0078</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0,0360</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0,0005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72175">
                <a:tc>
                  <a:txBody>
                    <a:bodyPr/>
                    <a:lstStyle/>
                    <a:p>
                      <a:pPr indent="0" lvl="0" marL="0" marR="0" rtl="0" algn="l">
                        <a:spcBef>
                          <a:spcPts val="0"/>
                        </a:spcBef>
                        <a:spcAft>
                          <a:spcPts val="0"/>
                        </a:spcAft>
                        <a:buClr>
                          <a:schemeClr val="dk1"/>
                        </a:buClr>
                        <a:buSzPts val="1000"/>
                        <a:buFont typeface="Arial"/>
                        <a:buNone/>
                      </a:pPr>
                      <a:r>
                        <a:rPr lang="en-US" sz="1000" u="none" cap="none" strike="noStrike"/>
                        <a:t>10 años (10yr)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0,7743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0,0099</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0,0651</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0,0012</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r">
                        <a:lnSpc>
                          <a:spcPct val="13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Retroalimentación ACC 2026-01-23</a:t>
            </a:r>
            <a:endParaRPr/>
          </a:p>
        </p:txBody>
      </p:sp>
      <p:sp>
        <p:nvSpPr>
          <p:cNvPr id="254" name="Google Shape;254;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Generar indicadores de especificidad y sensibilidad</a:t>
            </a:r>
            <a:endParaRPr/>
          </a:p>
          <a:p>
            <a:pPr indent="-228600" lvl="0" marL="228600" rtl="0" algn="l">
              <a:lnSpc>
                <a:spcPct val="90000"/>
              </a:lnSpc>
              <a:spcBef>
                <a:spcPts val="1000"/>
              </a:spcBef>
              <a:spcAft>
                <a:spcPts val="0"/>
              </a:spcAft>
              <a:buClr>
                <a:schemeClr val="dk1"/>
              </a:buClr>
              <a:buSzPct val="100000"/>
              <a:buChar char="•"/>
            </a:pPr>
            <a:r>
              <a:rPr lang="en-US"/>
              <a:t>PP y PPN, valores predictivos</a:t>
            </a:r>
            <a:endParaRPr/>
          </a:p>
          <a:p>
            <a:pPr indent="-228600" lvl="0" marL="228600" rtl="0" algn="l">
              <a:lnSpc>
                <a:spcPct val="90000"/>
              </a:lnSpc>
              <a:spcBef>
                <a:spcPts val="1000"/>
              </a:spcBef>
              <a:spcAft>
                <a:spcPts val="0"/>
              </a:spcAft>
              <a:buClr>
                <a:schemeClr val="dk1"/>
              </a:buClr>
              <a:buSzPct val="100000"/>
              <a:buChar char="•"/>
            </a:pPr>
            <a:r>
              <a:rPr lang="en-US"/>
              <a:t>Al año, readmission</a:t>
            </a:r>
            <a:endParaRPr/>
          </a:p>
          <a:p>
            <a:pPr indent="-228600" lvl="0" marL="228600" rtl="0" algn="l">
              <a:lnSpc>
                <a:spcPct val="90000"/>
              </a:lnSpc>
              <a:spcBef>
                <a:spcPts val="1000"/>
              </a:spcBef>
              <a:spcAft>
                <a:spcPts val="0"/>
              </a:spcAft>
              <a:buClr>
                <a:schemeClr val="dk1"/>
              </a:buClr>
              <a:buSzPct val="100000"/>
              <a:buChar char="•"/>
            </a:pPr>
            <a:r>
              <a:rPr lang="en-US"/>
              <a:t>Privilegiar variables modificables </a:t>
            </a:r>
            <a:r>
              <a:rPr b="1" lang="en-US"/>
              <a:t>intervenibles</a:t>
            </a:r>
            <a:endParaRPr b="1"/>
          </a:p>
        </p:txBody>
      </p:sp>
      <p:sp>
        <p:nvSpPr>
          <p:cNvPr id="255" name="Google Shape;255;p13"/>
          <p:cNvSpPr txBox="1"/>
          <p:nvPr>
            <p:ph idx="2" type="body"/>
          </p:nvPr>
        </p:nvSpPr>
        <p:spPr>
          <a:xfrm>
            <a:off x="6172200" y="1825624"/>
            <a:ext cx="5181600" cy="4746625"/>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REFLEXION MIA:</a:t>
            </a:r>
            <a:endParaRPr/>
          </a:p>
          <a:p>
            <a:pPr indent="-228600" lvl="0" marL="228600" rtl="0" algn="l">
              <a:lnSpc>
                <a:spcPct val="90000"/>
              </a:lnSpc>
              <a:spcBef>
                <a:spcPts val="1000"/>
              </a:spcBef>
              <a:spcAft>
                <a:spcPts val="0"/>
              </a:spcAft>
              <a:buClr>
                <a:schemeClr val="dk1"/>
              </a:buClr>
              <a:buSzPct val="100000"/>
              <a:buChar char="•"/>
            </a:pPr>
            <a:r>
              <a:rPr lang="en-US"/>
              <a:t>violencia basada en género (VBG): abuso sexual, violencia doméstica y acoso sexual</a:t>
            </a:r>
            <a:endParaRPr/>
          </a:p>
          <a:p>
            <a:pPr indent="-228600" lvl="0" marL="228600" rtl="0" algn="l">
              <a:lnSpc>
                <a:spcPct val="90000"/>
              </a:lnSpc>
              <a:spcBef>
                <a:spcPts val="1000"/>
              </a:spcBef>
              <a:spcAft>
                <a:spcPts val="0"/>
              </a:spcAft>
              <a:buClr>
                <a:schemeClr val="dk1"/>
              </a:buClr>
              <a:buSzPct val="100000"/>
              <a:buChar char="•"/>
            </a:pPr>
            <a:r>
              <a:rPr lang="en-US"/>
              <a:t>condiciones de habitabilidad de menor a mayor grado de mejora </a:t>
            </a:r>
            <a:endParaRPr/>
          </a:p>
          <a:p>
            <a:pPr indent="-228600" lvl="0" marL="228600" rtl="0" algn="l">
              <a:lnSpc>
                <a:spcPct val="90000"/>
              </a:lnSpc>
              <a:spcBef>
                <a:spcPts val="1000"/>
              </a:spcBef>
              <a:spcAft>
                <a:spcPts val="0"/>
              </a:spcAft>
              <a:buClr>
                <a:schemeClr val="dk1"/>
              </a:buClr>
              <a:buSzPct val="100000"/>
              <a:buChar char="•"/>
            </a:pPr>
            <a:r>
              <a:rPr lang="en-US"/>
              <a:t>Abrir a estratos adicionales si hay modificación del efecto fuerte</a:t>
            </a:r>
            <a:endParaRPr/>
          </a:p>
          <a:p>
            <a:pPr indent="-228600" lvl="1" marL="685800" rtl="0" algn="l">
              <a:lnSpc>
                <a:spcPct val="90000"/>
              </a:lnSpc>
              <a:spcBef>
                <a:spcPts val="500"/>
              </a:spcBef>
              <a:spcAft>
                <a:spcPts val="0"/>
              </a:spcAft>
              <a:buClr>
                <a:schemeClr val="dk1"/>
              </a:buClr>
              <a:buSzPct val="100000"/>
              <a:buFont typeface="Courier New"/>
              <a:buChar char="o"/>
            </a:pPr>
            <a:r>
              <a:rPr lang="en-US"/>
              <a:t>Delta c-indez +0.01</a:t>
            </a:r>
            <a:endParaRPr/>
          </a:p>
          <a:p>
            <a:pPr indent="-228600" lvl="1" marL="685800" rtl="0" algn="l">
              <a:lnSpc>
                <a:spcPct val="90000"/>
              </a:lnSpc>
              <a:spcBef>
                <a:spcPts val="500"/>
              </a:spcBef>
              <a:spcAft>
                <a:spcPts val="0"/>
              </a:spcAft>
              <a:buClr>
                <a:schemeClr val="dk1"/>
              </a:buClr>
              <a:buSzPct val="100000"/>
              <a:buFont typeface="Courier New"/>
              <a:buChar char="o"/>
            </a:pPr>
            <a:r>
              <a:rPr lang="en-US"/>
              <a:t>LRT &lt;0.01</a:t>
            </a:r>
            <a:endParaRPr/>
          </a:p>
          <a:p>
            <a:pPr indent="-228600" lvl="1" marL="685800" rtl="0" algn="l">
              <a:lnSpc>
                <a:spcPct val="90000"/>
              </a:lnSpc>
              <a:spcBef>
                <a:spcPts val="500"/>
              </a:spcBef>
              <a:spcAft>
                <a:spcPts val="0"/>
              </a:spcAft>
              <a:buClr>
                <a:schemeClr val="dk1"/>
              </a:buClr>
              <a:buSzPct val="100000"/>
              <a:buFont typeface="Courier New"/>
              <a:buChar char="o"/>
            </a:pPr>
            <a:r>
              <a:rPr lang="en-US"/>
              <a:t>Mejora IBS</a:t>
            </a:r>
            <a:endParaRPr/>
          </a:p>
          <a:p>
            <a:pPr indent="-228600" lvl="0" marL="228600" rtl="0" algn="l">
              <a:lnSpc>
                <a:spcPct val="90000"/>
              </a:lnSpc>
              <a:spcBef>
                <a:spcPts val="1000"/>
              </a:spcBef>
              <a:spcAft>
                <a:spcPts val="0"/>
              </a:spcAft>
              <a:buClr>
                <a:schemeClr val="dk1"/>
              </a:buClr>
              <a:buSzPct val="100000"/>
              <a:buChar char="•"/>
            </a:pPr>
            <a:r>
              <a:rPr lang="en-US"/>
              <a:t>Licit/ilicit-completa/nocompleta-modalidad= 20 modelos distintos</a:t>
            </a:r>
            <a:endParaRPr/>
          </a:p>
          <a:p>
            <a:pPr indent="-228600" lvl="0" marL="228600" rtl="0" algn="l">
              <a:lnSpc>
                <a:spcPct val="90000"/>
              </a:lnSpc>
              <a:spcBef>
                <a:spcPts val="1000"/>
              </a:spcBef>
              <a:spcAft>
                <a:spcPts val="0"/>
              </a:spcAft>
              <a:buClr>
                <a:schemeClr val="dk1"/>
              </a:buClr>
              <a:buSzPct val="100000"/>
              <a:buChar char="•"/>
            </a:pPr>
            <a:r>
              <a:rPr lang="en-US"/>
              <a:t>No es factible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Figure 2" id="260" name="Google Shape;260;p14"/>
          <p:cNvPicPr preferRelativeResize="0"/>
          <p:nvPr/>
        </p:nvPicPr>
        <p:blipFill rotWithShape="1">
          <a:blip r:embed="rId3">
            <a:alphaModFix/>
          </a:blip>
          <a:srcRect b="0" l="0" r="0" t="0"/>
          <a:stretch/>
        </p:blipFill>
        <p:spPr>
          <a:xfrm>
            <a:off x="3867150" y="318253"/>
            <a:ext cx="8255000" cy="6221493"/>
          </a:xfrm>
          <a:prstGeom prst="rect">
            <a:avLst/>
          </a:prstGeom>
          <a:noFill/>
          <a:ln>
            <a:noFill/>
          </a:ln>
        </p:spPr>
      </p:pic>
      <p:sp>
        <p:nvSpPr>
          <p:cNvPr id="261" name="Google Shape;261;p14"/>
          <p:cNvSpPr txBox="1"/>
          <p:nvPr/>
        </p:nvSpPr>
        <p:spPr>
          <a:xfrm>
            <a:off x="146050" y="112693"/>
            <a:ext cx="364490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22222"/>
              </a:buClr>
              <a:buSzPts val="1400"/>
              <a:buFont typeface="Arial"/>
              <a:buNone/>
            </a:pPr>
            <a:r>
              <a:rPr b="1" i="0" lang="en-US" sz="1400">
                <a:solidFill>
                  <a:srgbClr val="222222"/>
                </a:solidFill>
                <a:latin typeface="Arial"/>
                <a:ea typeface="Arial"/>
                <a:cs typeface="Arial"/>
                <a:sym typeface="Arial"/>
              </a:rPr>
              <a:t>Liu, X., Morelli, D., Littlejohns, T.J. </a:t>
            </a:r>
            <a:r>
              <a:rPr b="1" i="1" lang="en-US" sz="1400">
                <a:solidFill>
                  <a:srgbClr val="222222"/>
                </a:solidFill>
                <a:latin typeface="Arial"/>
                <a:ea typeface="Arial"/>
                <a:cs typeface="Arial"/>
                <a:sym typeface="Arial"/>
              </a:rPr>
              <a:t>et al.</a:t>
            </a:r>
            <a:r>
              <a:rPr b="1" i="0" lang="en-US" sz="1400">
                <a:solidFill>
                  <a:srgbClr val="222222"/>
                </a:solidFill>
                <a:latin typeface="Arial"/>
                <a:ea typeface="Arial"/>
                <a:cs typeface="Arial"/>
                <a:sym typeface="Arial"/>
              </a:rPr>
              <a:t> Combining machine learning with Cox models to identify predictors for incident post-menopausal breast cancer in the UK Biobank. </a:t>
            </a:r>
            <a:r>
              <a:rPr b="1" i="1" lang="en-US" sz="1400">
                <a:solidFill>
                  <a:srgbClr val="222222"/>
                </a:solidFill>
                <a:latin typeface="Arial"/>
                <a:ea typeface="Arial"/>
                <a:cs typeface="Arial"/>
                <a:sym typeface="Arial"/>
              </a:rPr>
              <a:t>Sci Rep</a:t>
            </a:r>
            <a:r>
              <a:rPr b="1" i="0" lang="en-US" sz="1400">
                <a:solidFill>
                  <a:srgbClr val="222222"/>
                </a:solidFill>
                <a:latin typeface="Arial"/>
                <a:ea typeface="Arial"/>
                <a:cs typeface="Arial"/>
                <a:sym typeface="Arial"/>
              </a:rPr>
              <a:t> 13, 9221 (2023). https://doi.org/10.1038/s41598-023-36214-0</a:t>
            </a:r>
            <a:endParaRPr b="1" sz="1400">
              <a:solidFill>
                <a:schemeClr val="dk1"/>
              </a:solidFill>
              <a:latin typeface="Arial"/>
              <a:ea typeface="Arial"/>
              <a:cs typeface="Arial"/>
              <a:sym typeface="Arial"/>
            </a:endParaRPr>
          </a:p>
        </p:txBody>
      </p:sp>
      <p:sp>
        <p:nvSpPr>
          <p:cNvPr id="262" name="Google Shape;262;p14"/>
          <p:cNvSpPr txBox="1"/>
          <p:nvPr/>
        </p:nvSpPr>
        <p:spPr>
          <a:xfrm>
            <a:off x="22224" y="1636767"/>
            <a:ext cx="3768600" cy="4710000"/>
          </a:xfrm>
          <a:prstGeom prst="rect">
            <a:avLst/>
          </a:prstGeom>
          <a:noFill/>
          <a:ln>
            <a:noFill/>
          </a:ln>
        </p:spPr>
        <p:txBody>
          <a:bodyPr anchorCtr="0" anchor="t" bIns="45700" lIns="91425" spcFirstLastPara="1" rIns="91425" wrap="square" tIns="45700">
            <a:spAutoFit/>
          </a:bodyPr>
          <a:lstStyle/>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with pre-specified interest in the role of polygenic risk scores (PRS) for risk prediction= PERMITE A MI DEJAR COMO INTERES EL DIT Y EL RESULTADO DE TTO</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 “extreme gradient boosting” (XGBoost)</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We then removed features with missing rate &gt;30%, and those where all participants had the same value (such as rare diseases which no participants were affected by at baseline) which were of no discriminative utility</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We performed multiple imputation using the mice package in R49 to impute the missing data under the assumption of missing at random (MAR).</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Multicollinearity was assessed by computing the variance inflation factor (VIF); values less than 10 were considered acceptable</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Shapley feature-importance measures were used for feature selection among 1.7 k features</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compared the “augmented” Cox model (incorporating the two PRS, known and novel predictors) with a “baseline” Cox model</a:t>
            </a:r>
            <a:endParaRPr sz="1300"/>
          </a:p>
          <a:p>
            <a:pPr indent="-279400" lvl="0" marL="285750" marR="0" rtl="0" algn="l">
              <a:spcBef>
                <a:spcPts val="0"/>
              </a:spcBef>
              <a:spcAft>
                <a:spcPts val="0"/>
              </a:spcAft>
              <a:buClr>
                <a:srgbClr val="222222"/>
              </a:buClr>
              <a:buSzPts val="1200"/>
              <a:buFont typeface="Arial"/>
              <a:buChar char="•"/>
            </a:pPr>
            <a:r>
              <a:rPr b="0" i="0" lang="en-US" sz="1200">
                <a:solidFill>
                  <a:srgbClr val="222222"/>
                </a:solidFill>
                <a:latin typeface="Arial"/>
                <a:ea typeface="Arial"/>
                <a:cs typeface="Arial"/>
                <a:sym typeface="Arial"/>
              </a:rPr>
              <a:t>Risk discrimination was maintained in the augmented Cox model, yielding C-index 0.673 vs 0.667 (baseline Cox model)</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5"/>
          <p:cNvSpPr txBox="1"/>
          <p:nvPr>
            <p:ph idx="1" type="body"/>
          </p:nvPr>
        </p:nvSpPr>
        <p:spPr>
          <a:xfrm>
            <a:off x="161924" y="1692274"/>
            <a:ext cx="7000875" cy="4727575"/>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lang="en-US" sz="1400"/>
              <a:t>SHAP summary plots according to the XGBoost machine: (</a:t>
            </a:r>
            <a:r>
              <a:rPr b="1" lang="en-US" sz="1400"/>
              <a:t>a</a:t>
            </a:r>
            <a:r>
              <a:rPr lang="en-US" sz="1400"/>
              <a:t>) bar plot showing global SHAP values, and (</a:t>
            </a:r>
            <a:r>
              <a:rPr b="1" lang="en-US" sz="1400"/>
              <a:t>b</a:t>
            </a:r>
            <a:r>
              <a:rPr lang="en-US" sz="1400"/>
              <a:t>) beeswarm plot showing local SHAP values. The top 20 features for the risk of breast cancer were shown. Noticeably, both BrCa PRS are deemed of much higher importance than the remaining phenotypic features.</a:t>
            </a:r>
            <a:endParaRPr/>
          </a:p>
          <a:p>
            <a:pPr indent="-228600" lvl="0" marL="228600" rtl="0" algn="l">
              <a:lnSpc>
                <a:spcPct val="90000"/>
              </a:lnSpc>
              <a:spcBef>
                <a:spcPts val="1000"/>
              </a:spcBef>
              <a:spcAft>
                <a:spcPts val="0"/>
              </a:spcAft>
              <a:buClr>
                <a:schemeClr val="dk1"/>
              </a:buClr>
              <a:buSzPts val="1400"/>
              <a:buChar char="•"/>
            </a:pPr>
            <a:r>
              <a:rPr lang="en-US" sz="1400"/>
              <a:t>The x-axis corresponds to the SHAP value, with vertical dispersion/jitter indicating a high density of points. The colour gradient indicates the relative magnitude of each feature (not SHAP values) with red indicating high values of the feature (e.g. older age) and blue (e.g. younger age) the opposite.</a:t>
            </a:r>
            <a:endParaRPr/>
          </a:p>
          <a:p>
            <a:pPr indent="-228600" lvl="0" marL="228600" rtl="0" algn="l">
              <a:lnSpc>
                <a:spcPct val="90000"/>
              </a:lnSpc>
              <a:spcBef>
                <a:spcPts val="1000"/>
              </a:spcBef>
              <a:spcAft>
                <a:spcPts val="0"/>
              </a:spcAft>
              <a:buClr>
                <a:schemeClr val="dk1"/>
              </a:buClr>
              <a:buSzPts val="1400"/>
              <a:buChar char="•"/>
            </a:pPr>
            <a:r>
              <a:rPr lang="en-US" sz="1400"/>
              <a:t>The SHAP beeswarm plot shows the impact of the underlying values of each feature on model outputs, which is the change in the relative hazard (i.e. ) of developing breast cancer. It is informative in three ways: (1) the ranking indicates the relative importance of features; (2) the gradient of colour indicates the direction of effects; (3) the dispersion of points indicates whether the relationship of each feature with the outcome is linear (details below).</a:t>
            </a:r>
            <a:endParaRPr/>
          </a:p>
          <a:p>
            <a:pPr indent="-228600" lvl="0" marL="228600" rtl="0" algn="l">
              <a:lnSpc>
                <a:spcPct val="90000"/>
              </a:lnSpc>
              <a:spcBef>
                <a:spcPts val="1000"/>
              </a:spcBef>
              <a:spcAft>
                <a:spcPts val="0"/>
              </a:spcAft>
              <a:buClr>
                <a:schemeClr val="dk1"/>
              </a:buClr>
              <a:buSzPts val="1400"/>
              <a:buChar char="•"/>
            </a:pPr>
            <a:r>
              <a:rPr lang="en-US" sz="1400"/>
              <a:t>The colour gradient in the SHAP beeswarm plot indicates that there were five features (plasma urea, aspartate aminotransferase, plasma phosphate, alkaline phosphatase, and physical activity) that had higher values (i.e. red points) with negative SHAP values (i.e. decrease in relative hazard). This suggests potential protective effect of these features on developing breast cancer (i.e. higher values are associated with lower risk of breast cancer).</a:t>
            </a:r>
            <a:endParaRPr/>
          </a:p>
          <a:p>
            <a:pPr indent="-228600" lvl="0" marL="228600" rtl="0" algn="l">
              <a:lnSpc>
                <a:spcPct val="90000"/>
              </a:lnSpc>
              <a:spcBef>
                <a:spcPts val="1000"/>
              </a:spcBef>
              <a:spcAft>
                <a:spcPts val="0"/>
              </a:spcAft>
              <a:buClr>
                <a:schemeClr val="dk1"/>
              </a:buClr>
              <a:buSzPts val="1400"/>
              <a:buChar char="•"/>
            </a:pPr>
            <a:r>
              <a:rPr lang="en-US" sz="1400"/>
              <a:t>The symmetry in the range of the positive and negative SHAP values in the SHAP beeswarm plot suggests a linear relationship between the feature and the outcome. If the range of the positive SHAP values are longer than that of the negative SHAP values (or vice versa), this may suggest a non-linear relationship.</a:t>
            </a:r>
            <a:endParaRPr/>
          </a:p>
        </p:txBody>
      </p:sp>
      <p:pic>
        <p:nvPicPr>
          <p:cNvPr descr="figure 4" id="268" name="Google Shape;268;p15"/>
          <p:cNvPicPr preferRelativeResize="0"/>
          <p:nvPr/>
        </p:nvPicPr>
        <p:blipFill rotWithShape="1">
          <a:blip r:embed="rId3">
            <a:alphaModFix/>
          </a:blip>
          <a:srcRect b="0" l="0" r="0" t="0"/>
          <a:stretch/>
        </p:blipFill>
        <p:spPr>
          <a:xfrm>
            <a:off x="7281863" y="0"/>
            <a:ext cx="3838575" cy="6858000"/>
          </a:xfrm>
          <a:prstGeom prst="rect">
            <a:avLst/>
          </a:prstGeom>
          <a:noFill/>
          <a:ln>
            <a:noFill/>
          </a:ln>
        </p:spPr>
      </p:pic>
      <p:sp>
        <p:nvSpPr>
          <p:cNvPr id="269" name="Google Shape;269;p15"/>
          <p:cNvSpPr txBox="1"/>
          <p:nvPr/>
        </p:nvSpPr>
        <p:spPr>
          <a:xfrm>
            <a:off x="614362" y="95161"/>
            <a:ext cx="6096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22222"/>
              </a:buClr>
              <a:buSzPts val="1800"/>
              <a:buFont typeface="Arial"/>
              <a:buNone/>
            </a:pPr>
            <a:r>
              <a:rPr b="1" i="0" lang="en-US" sz="1800">
                <a:solidFill>
                  <a:srgbClr val="222222"/>
                </a:solidFill>
                <a:latin typeface="Arial"/>
                <a:ea typeface="Arial"/>
                <a:cs typeface="Arial"/>
                <a:sym typeface="Arial"/>
              </a:rPr>
              <a:t>Liu, X., Morelli, D., Littlejohns, T.J. </a:t>
            </a:r>
            <a:r>
              <a:rPr b="1" i="1" lang="en-US" sz="1800">
                <a:solidFill>
                  <a:srgbClr val="222222"/>
                </a:solidFill>
                <a:latin typeface="Arial"/>
                <a:ea typeface="Arial"/>
                <a:cs typeface="Arial"/>
                <a:sym typeface="Arial"/>
              </a:rPr>
              <a:t>et al.</a:t>
            </a:r>
            <a:r>
              <a:rPr b="1" i="0" lang="en-US" sz="1800">
                <a:solidFill>
                  <a:srgbClr val="222222"/>
                </a:solidFill>
                <a:latin typeface="Arial"/>
                <a:ea typeface="Arial"/>
                <a:cs typeface="Arial"/>
                <a:sym typeface="Arial"/>
              </a:rPr>
              <a:t> Combining machine learning with Cox models to identify predictors for incident post-menopausal breast cancer in the UK Biobank. </a:t>
            </a:r>
            <a:r>
              <a:rPr b="1" i="1" lang="en-US" sz="1800">
                <a:solidFill>
                  <a:srgbClr val="222222"/>
                </a:solidFill>
                <a:latin typeface="Arial"/>
                <a:ea typeface="Arial"/>
                <a:cs typeface="Arial"/>
                <a:sym typeface="Arial"/>
              </a:rPr>
              <a:t>Sci Rep</a:t>
            </a:r>
            <a:r>
              <a:rPr b="1" i="0" lang="en-US" sz="1800">
                <a:solidFill>
                  <a:srgbClr val="222222"/>
                </a:solidFill>
                <a:latin typeface="Arial"/>
                <a:ea typeface="Arial"/>
                <a:cs typeface="Arial"/>
                <a:sym typeface="Arial"/>
              </a:rPr>
              <a:t> 13, 9221 (2023). https://doi.org/10.1038/s41598-023-36214-0</a:t>
            </a:r>
            <a:endParaRPr b="1" sz="1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6"/>
          <p:cNvSpPr txBox="1"/>
          <p:nvPr>
            <p:ph idx="1" type="body"/>
          </p:nvPr>
        </p:nvSpPr>
        <p:spPr>
          <a:xfrm>
            <a:off x="142875" y="952500"/>
            <a:ext cx="4705350" cy="5695950"/>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ten-fold cross-validation was utilized for the identification of appropriate hyperparameters</a:t>
            </a:r>
            <a:endParaRPr/>
          </a:p>
          <a:p>
            <a:pPr indent="-228600" lvl="0" marL="228600" rtl="0" algn="l">
              <a:lnSpc>
                <a:spcPct val="90000"/>
              </a:lnSpc>
              <a:spcBef>
                <a:spcPts val="1000"/>
              </a:spcBef>
              <a:spcAft>
                <a:spcPts val="0"/>
              </a:spcAft>
              <a:buClr>
                <a:schemeClr val="dk1"/>
              </a:buClr>
              <a:buSzPct val="100000"/>
              <a:buChar char="•"/>
            </a:pPr>
            <a:r>
              <a:rPr lang="en-US"/>
              <a:t>machine learning demonstrated superior discrimination, calibration and predictive power. Furthermore, we identified several patient factors predictive of readmission</a:t>
            </a:r>
            <a:endParaRPr/>
          </a:p>
          <a:p>
            <a:pPr indent="-228600" lvl="0" marL="228600" rtl="0" algn="l">
              <a:lnSpc>
                <a:spcPct val="90000"/>
              </a:lnSpc>
              <a:spcBef>
                <a:spcPts val="1000"/>
              </a:spcBef>
              <a:spcAft>
                <a:spcPts val="0"/>
              </a:spcAft>
              <a:buClr>
                <a:schemeClr val="dk1"/>
              </a:buClr>
              <a:buSzPct val="100000"/>
              <a:buChar char="•"/>
            </a:pPr>
            <a:r>
              <a:rPr lang="en-US"/>
              <a:t>Features of greatest predictive importance were described through SHAP Summary plots</a:t>
            </a:r>
            <a:endParaRPr/>
          </a:p>
          <a:p>
            <a:pPr indent="-228600" lvl="0" marL="228600" rtl="0" algn="l">
              <a:lnSpc>
                <a:spcPct val="90000"/>
              </a:lnSpc>
              <a:spcBef>
                <a:spcPts val="1000"/>
              </a:spcBef>
              <a:spcAft>
                <a:spcPts val="0"/>
              </a:spcAft>
              <a:buClr>
                <a:schemeClr val="dk1"/>
              </a:buClr>
              <a:buSzPct val="100000"/>
              <a:buChar char="•"/>
            </a:pPr>
            <a:r>
              <a:rPr lang="en-US"/>
              <a:t>Calibration (observed vs. expected plots)</a:t>
            </a:r>
            <a:endParaRPr/>
          </a:p>
          <a:p>
            <a:pPr indent="-228600" lvl="0" marL="228600" rtl="0" algn="l">
              <a:lnSpc>
                <a:spcPct val="90000"/>
              </a:lnSpc>
              <a:spcBef>
                <a:spcPts val="1000"/>
              </a:spcBef>
              <a:spcAft>
                <a:spcPts val="0"/>
              </a:spcAft>
              <a:buClr>
                <a:schemeClr val="dk1"/>
              </a:buClr>
              <a:buSzPct val="100000"/>
              <a:buChar char="•"/>
            </a:pPr>
            <a:r>
              <a:rPr lang="en-US"/>
              <a:t> The mean average precision (mAP) was calculated as the area under the precision-recall curve</a:t>
            </a:r>
            <a:endParaRPr/>
          </a:p>
          <a:p>
            <a:pPr indent="-228600" lvl="0" marL="228600" rtl="0" algn="l">
              <a:lnSpc>
                <a:spcPct val="90000"/>
              </a:lnSpc>
              <a:spcBef>
                <a:spcPts val="1000"/>
              </a:spcBef>
              <a:spcAft>
                <a:spcPts val="0"/>
              </a:spcAft>
              <a:buClr>
                <a:schemeClr val="dk1"/>
              </a:buClr>
              <a:buSzPct val="100000"/>
              <a:buChar char="•"/>
            </a:pPr>
            <a:r>
              <a:rPr lang="en-US"/>
              <a:t> Calibration plots were created to assess how well predicted probabilities matched expected outcomes</a:t>
            </a:r>
            <a:endParaRPr/>
          </a:p>
          <a:p>
            <a:pPr indent="-228600" lvl="0" marL="228600" rtl="0" algn="l">
              <a:lnSpc>
                <a:spcPct val="90000"/>
              </a:lnSpc>
              <a:spcBef>
                <a:spcPts val="1000"/>
              </a:spcBef>
              <a:spcAft>
                <a:spcPts val="0"/>
              </a:spcAft>
              <a:buClr>
                <a:schemeClr val="dk1"/>
              </a:buClr>
              <a:buSzPct val="100000"/>
              <a:buChar char="•"/>
            </a:pPr>
            <a:r>
              <a:rPr lang="en-US"/>
              <a:t>SHAP ( Guo J., Cheng H., Wang Z., Qiao M., Li J., Lyu J. (2023). Factor analysis based on SHapley Additive exPlanations for sepsis-associated encephalopathy in ICU mortality prediction using XGBoost - a retrospective study based on two large database. Front. Neurol. 14, 1290117. doi:  10.3389/fneur.2023.1290117 ) </a:t>
            </a:r>
            <a:endParaRPr/>
          </a:p>
        </p:txBody>
      </p:sp>
      <p:pic>
        <p:nvPicPr>
          <p:cNvPr descr="Fig. 3" id="276" name="Google Shape;276;p16"/>
          <p:cNvPicPr preferRelativeResize="0"/>
          <p:nvPr/>
        </p:nvPicPr>
        <p:blipFill rotWithShape="1">
          <a:blip r:embed="rId3">
            <a:alphaModFix/>
          </a:blip>
          <a:srcRect b="0" l="0" r="0" t="0"/>
          <a:stretch/>
        </p:blipFill>
        <p:spPr>
          <a:xfrm>
            <a:off x="4714875" y="1504950"/>
            <a:ext cx="7477125" cy="2743200"/>
          </a:xfrm>
          <a:prstGeom prst="rect">
            <a:avLst/>
          </a:prstGeom>
          <a:noFill/>
          <a:ln>
            <a:noFill/>
          </a:ln>
        </p:spPr>
      </p:pic>
      <p:sp>
        <p:nvSpPr>
          <p:cNvPr id="277" name="Google Shape;277;p16"/>
          <p:cNvSpPr/>
          <p:nvPr/>
        </p:nvSpPr>
        <p:spPr>
          <a:xfrm>
            <a:off x="5553075" y="476712"/>
            <a:ext cx="5545655"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Balian, Jeffrey, et al. "</a:t>
            </a:r>
            <a:r>
              <a:rPr b="1" i="0" lang="en-US" sz="1200" u="none" cap="none" strike="noStrike">
                <a:solidFill>
                  <a:schemeClr val="dk1"/>
                </a:solidFill>
                <a:latin typeface="Arial"/>
                <a:ea typeface="Arial"/>
                <a:cs typeface="Arial"/>
                <a:sym typeface="Arial"/>
              </a:rPr>
              <a:t>Machine Learning Based Predictive Modeling of Readmissions following Extracorporeal Membrane Oxygenation Hospitalizations</a:t>
            </a:r>
            <a:r>
              <a:rPr b="0" i="0" lang="en-US" sz="1200" u="none" cap="none" strike="noStrike">
                <a:solidFill>
                  <a:schemeClr val="dk1"/>
                </a:solidFill>
                <a:latin typeface="Arial"/>
                <a:ea typeface="Arial"/>
                <a:cs typeface="Arial"/>
                <a:sym typeface="Arial"/>
              </a:rPr>
              <a:t>." </a:t>
            </a:r>
            <a:r>
              <a:rPr b="0" i="1" lang="en-US" sz="1200" u="none" cap="none" strike="noStrike">
                <a:solidFill>
                  <a:schemeClr val="dk1"/>
                </a:solidFill>
                <a:latin typeface="Arial"/>
                <a:ea typeface="Arial"/>
                <a:cs typeface="Arial"/>
                <a:sym typeface="Arial"/>
              </a:rPr>
              <a:t>Surgery Open Science</a:t>
            </a:r>
            <a:r>
              <a:rPr b="0" i="0" lang="en-US" sz="1200" u="none" cap="none" strike="noStrike">
                <a:solidFill>
                  <a:schemeClr val="dk1"/>
                </a:solidFill>
                <a:latin typeface="Arial"/>
                <a:ea typeface="Arial"/>
                <a:cs typeface="Arial"/>
                <a:sym typeface="Arial"/>
              </a:rPr>
              <a:t>, vol. 19, 2024, p. 125, https://doi.org/10.1016/j.sopen.2024.04.003. Accessed 2 Feb. 2026.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The SHAP analysis of the XGBoost model. (A) A bar plot displaying the mean SHAP value for the top ten variables. (B) The beeswarm plots displayed the distribution of the top ten variables, with variable values represented by different colors. Each sample was represented by a colored point. The x-axis represented the SHAP value, while the color coding indicated the feature values. (C) SHAP waterfall plot for case 1. (D) SHAP waterfall plot for case 2.</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Figure 4" id="283" name="Google Shape;283;p17"/>
          <p:cNvPicPr preferRelativeResize="0"/>
          <p:nvPr>
            <p:ph idx="2" type="body"/>
          </p:nvPr>
        </p:nvPicPr>
        <p:blipFill rotWithShape="1">
          <a:blip r:embed="rId3">
            <a:alphaModFix/>
          </a:blip>
          <a:srcRect b="0" l="0" r="0" t="0"/>
          <a:stretch/>
        </p:blipFill>
        <p:spPr>
          <a:xfrm>
            <a:off x="6261168" y="1825624"/>
            <a:ext cx="5477055" cy="4351337"/>
          </a:xfrm>
          <a:prstGeom prst="rect">
            <a:avLst/>
          </a:prstGeom>
          <a:noFill/>
          <a:ln>
            <a:noFill/>
          </a:ln>
        </p:spPr>
      </p:pic>
      <p:sp>
        <p:nvSpPr>
          <p:cNvPr id="284" name="Google Shape;284;p17"/>
          <p:cNvSpPr txBox="1"/>
          <p:nvPr>
            <p:ph type="title"/>
          </p:nvPr>
        </p:nvSpPr>
        <p:spPr>
          <a:xfrm>
            <a:off x="838200" y="427743"/>
            <a:ext cx="9789859"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Shen, Li, et al. "Interpretable Machine Learning-based Prediction of 28-day Mortality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in ICU Patients with Sepsis: A Multicenter Retrospective Study." </a:t>
            </a:r>
            <a:r>
              <a:rPr b="0" i="1" lang="en-US" sz="1800" u="none" cap="none" strike="noStrike">
                <a:solidFill>
                  <a:schemeClr val="dk1"/>
                </a:solidFill>
                <a:latin typeface="Arial"/>
                <a:ea typeface="Arial"/>
                <a:cs typeface="Arial"/>
                <a:sym typeface="Arial"/>
              </a:rPr>
              <a:t>Frontiers in Cellular and </a:t>
            </a:r>
            <a:br>
              <a:rPr b="0" i="1" lang="en-US" sz="1800" u="none" cap="none" strike="noStrike">
                <a:solidFill>
                  <a:schemeClr val="dk1"/>
                </a:solidFill>
                <a:latin typeface="Arial"/>
                <a:ea typeface="Arial"/>
                <a:cs typeface="Arial"/>
                <a:sym typeface="Arial"/>
              </a:rPr>
            </a:br>
            <a:r>
              <a:rPr b="0" i="1" lang="en-US" sz="1800" u="none" cap="none" strike="noStrike">
                <a:solidFill>
                  <a:schemeClr val="dk1"/>
                </a:solidFill>
                <a:latin typeface="Arial"/>
                <a:ea typeface="Arial"/>
                <a:cs typeface="Arial"/>
                <a:sym typeface="Arial"/>
              </a:rPr>
              <a:t>Infection Microbiology</a:t>
            </a:r>
            <a:r>
              <a:rPr b="0" i="0" lang="en-US" sz="1800" u="none" cap="none" strike="noStrike">
                <a:solidFill>
                  <a:schemeClr val="dk1"/>
                </a:solidFill>
                <a:latin typeface="Arial"/>
                <a:ea typeface="Arial"/>
                <a:cs typeface="Arial"/>
                <a:sym typeface="Arial"/>
              </a:rPr>
              <a:t>, vol. 14, 2025, p. 1500326, https://doi.org/10.3389/fcimb.2024.1500326.</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 Accessed 2 Feb. 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txBox="1"/>
          <p:nvPr>
            <p:ph idx="1" type="body"/>
          </p:nvPr>
        </p:nvSpPr>
        <p:spPr>
          <a:xfrm>
            <a:off x="342900" y="2803825"/>
            <a:ext cx="5181600" cy="2459400"/>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Overfitting occurs when an algorithm is “finely” trained on a specific dataset, which in turn results on high statistical errors when applied to a different dataset. In such case, the proposed algorithm becomes unsuitable for further use, or in other words, ungeneralizable To overcome this issue, various techniques have been proposed, such as hold-out, k-fold cross-validation, and regularization</a:t>
            </a:r>
            <a:endParaRPr/>
          </a:p>
        </p:txBody>
      </p:sp>
      <p:sp>
        <p:nvSpPr>
          <p:cNvPr id="290" name="Google Shape;290;p18"/>
          <p:cNvSpPr txBox="1"/>
          <p:nvPr>
            <p:ph idx="2" type="body"/>
          </p:nvPr>
        </p:nvSpPr>
        <p:spPr>
          <a:xfrm>
            <a:off x="6172200" y="2355918"/>
            <a:ext cx="5181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Finally, we fitted a Cox model With the output of the mathematically transformed covariates.</a:t>
            </a:r>
            <a:endParaRPr/>
          </a:p>
          <a:p>
            <a:pPr indent="-228600" lvl="0" marL="228600" rtl="0" algn="l">
              <a:lnSpc>
                <a:spcPct val="90000"/>
              </a:lnSpc>
              <a:spcBef>
                <a:spcPts val="1000"/>
              </a:spcBef>
              <a:spcAft>
                <a:spcPts val="0"/>
              </a:spcAft>
              <a:buClr>
                <a:schemeClr val="dk1"/>
              </a:buClr>
              <a:buSzPct val="100000"/>
              <a:buChar char="•"/>
            </a:pPr>
            <a:r>
              <a:rPr lang="en-US"/>
              <a:t>Theresultingmodelwasvalidatedusingconcordanceindex(C-index).The C-index for a survival model can be thought of as the weighted average of the áreas under time-specific Receiver Operating Characteristic (ROC) curves for 285 day survival</a:t>
            </a:r>
            <a:endParaRPr/>
          </a:p>
          <a:p>
            <a:pPr indent="-228600" lvl="0" marL="228600" rtl="0" algn="l">
              <a:lnSpc>
                <a:spcPct val="90000"/>
              </a:lnSpc>
              <a:spcBef>
                <a:spcPts val="1000"/>
              </a:spcBef>
              <a:spcAft>
                <a:spcPts val="0"/>
              </a:spcAft>
              <a:buClr>
                <a:schemeClr val="dk1"/>
              </a:buClr>
              <a:buSzPct val="100000"/>
              <a:buChar char="•"/>
            </a:pPr>
            <a:r>
              <a:rPr lang="en-US"/>
              <a:t>The two models used the same covariates and only differ in the transformations. Themodelswerecompared usingC-index,AUC(285days), log-likelihood,andAkaikeInformationCrite rion(AIC)[4].</a:t>
            </a:r>
            <a:endParaRPr/>
          </a:p>
          <a:p>
            <a:pPr indent="-228600" lvl="0" marL="228600" rtl="0" algn="l">
              <a:lnSpc>
                <a:spcPct val="90000"/>
              </a:lnSpc>
              <a:spcBef>
                <a:spcPts val="1000"/>
              </a:spcBef>
              <a:spcAft>
                <a:spcPts val="0"/>
              </a:spcAft>
              <a:buClr>
                <a:schemeClr val="dk1"/>
              </a:buClr>
              <a:buSzPct val="100000"/>
              <a:buChar char="•"/>
            </a:pPr>
            <a:r>
              <a:rPr lang="en-US"/>
              <a:t>ForCoxModelling,weused lifelinesversion0.25.7[8].</a:t>
            </a:r>
            <a:endParaRPr/>
          </a:p>
        </p:txBody>
      </p:sp>
      <p:sp>
        <p:nvSpPr>
          <p:cNvPr id="291" name="Google Shape;291;p18"/>
          <p:cNvSpPr txBox="1"/>
          <p:nvPr>
            <p:ph type="title"/>
          </p:nvPr>
        </p:nvSpPr>
        <p:spPr>
          <a:xfrm>
            <a:off x="304800" y="150744"/>
            <a:ext cx="5257800" cy="2031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Angelis, Dimitrios, et al. "Artificial Intelligence in Physical Sciences: Symbolic Regression </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Trends and Perspectives." </a:t>
            </a:r>
            <a:r>
              <a:rPr b="1" i="1" lang="en-US" sz="1800" u="none" cap="none" strike="noStrike">
                <a:solidFill>
                  <a:schemeClr val="dk1"/>
                </a:solidFill>
                <a:latin typeface="Arial"/>
                <a:ea typeface="Arial"/>
                <a:cs typeface="Arial"/>
                <a:sym typeface="Arial"/>
              </a:rPr>
              <a:t>Archives of Computational Methods in Engineering</a:t>
            </a:r>
            <a:r>
              <a:rPr b="1" i="0" lang="en-US" sz="1800" u="none" cap="none" strike="noStrike">
                <a:solidFill>
                  <a:schemeClr val="dk1"/>
                </a:solidFill>
                <a:latin typeface="Arial"/>
                <a:ea typeface="Arial"/>
                <a:cs typeface="Arial"/>
                <a:sym typeface="Arial"/>
              </a:rPr>
              <a:t>, 2023, p. </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1, https://doi.org/10.1007/s11831-023-09922-z. Accessed 2 Feb. 2026.</a:t>
            </a:r>
            <a:endParaRPr b="1"/>
          </a:p>
        </p:txBody>
      </p:sp>
      <p:sp>
        <p:nvSpPr>
          <p:cNvPr id="292" name="Google Shape;292;p18"/>
          <p:cNvSpPr txBox="1"/>
          <p:nvPr/>
        </p:nvSpPr>
        <p:spPr>
          <a:xfrm>
            <a:off x="6267450" y="150744"/>
            <a:ext cx="6096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Identification and analysis of novel variants in SARS-COV-2 genomes isolated from the Kingdom of Bahrain</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Khalid M bindayna, Abdel Halim Deifalla, Hicham Ezzat Mohammed Mokbel</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bioRxiv 2021.01.25.428191; doi: https://doi.org/10.1101/2021.01.25.428191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c8e77668ec_0_1"/>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2460"/>
              <a:t>Rahman, M.S., Ambler, G., Choodari-Oskooei, B. et al. Review and evaluation of performance measures for survival prediction models in external validation settings. BMC Med Res Methodol 17, 60 (2017). https://doi.org/10.1186/s12874-017-0336-2</a:t>
            </a:r>
            <a:endParaRPr sz="2460"/>
          </a:p>
        </p:txBody>
      </p:sp>
      <p:graphicFrame>
        <p:nvGraphicFramePr>
          <p:cNvPr id="299" name="Google Shape;299;g3c8e77668ec_0_1"/>
          <p:cNvGraphicFramePr/>
          <p:nvPr/>
        </p:nvGraphicFramePr>
        <p:xfrm>
          <a:off x="6116800" y="2841775"/>
          <a:ext cx="3000000" cy="3000000"/>
        </p:xfrm>
        <a:graphic>
          <a:graphicData uri="http://schemas.openxmlformats.org/drawingml/2006/table">
            <a:tbl>
              <a:tblPr>
                <a:noFill/>
                <a:tableStyleId>{DBD46C37-D01B-4F45-941C-DAD3E01F40E0}</a:tableStyleId>
              </a:tblPr>
              <a:tblGrid>
                <a:gridCol w="987500"/>
                <a:gridCol w="965500"/>
                <a:gridCol w="998950"/>
                <a:gridCol w="1021400"/>
                <a:gridCol w="920375"/>
                <a:gridCol w="1032625"/>
              </a:tblGrid>
              <a:tr h="233200">
                <a:tc>
                  <a:txBody>
                    <a:bodyPr/>
                    <a:lstStyle/>
                    <a:p>
                      <a:pPr indent="0" lvl="0" marL="0" rtl="0" algn="l">
                        <a:spcBef>
                          <a:spcPts val="0"/>
                        </a:spcBef>
                        <a:spcAft>
                          <a:spcPts val="0"/>
                        </a:spcAft>
                        <a:buNone/>
                      </a:pPr>
                      <a:r>
                        <a:rPr b="1" lang="en-US" sz="1000"/>
                        <a:t>Medida</a:t>
                      </a:r>
                      <a:endParaRPr b="1" sz="1000"/>
                    </a:p>
                  </a:txBody>
                  <a:tcPr marT="0" marB="0" marR="45700" marL="45700">
                    <a:solidFill>
                      <a:srgbClr val="E6E6E6"/>
                    </a:solidFill>
                  </a:tcPr>
                </a:tc>
                <a:tc>
                  <a:txBody>
                    <a:bodyPr/>
                    <a:lstStyle/>
                    <a:p>
                      <a:pPr indent="0" lvl="0" marL="0" rtl="0" algn="l">
                        <a:spcBef>
                          <a:spcPts val="0"/>
                        </a:spcBef>
                        <a:spcAft>
                          <a:spcPts val="0"/>
                        </a:spcAft>
                        <a:buNone/>
                      </a:pPr>
                      <a:r>
                        <a:rPr b="1" lang="en-US" sz="1000"/>
                        <a:t>Qué evalúa</a:t>
                      </a:r>
                      <a:endParaRPr b="1" sz="1000"/>
                    </a:p>
                  </a:txBody>
                  <a:tcPr marT="0" marB="0" marR="45700" marL="45700">
                    <a:solidFill>
                      <a:srgbClr val="E6E6E6"/>
                    </a:solidFill>
                  </a:tcPr>
                </a:tc>
                <a:tc>
                  <a:txBody>
                    <a:bodyPr/>
                    <a:lstStyle/>
                    <a:p>
                      <a:pPr indent="0" lvl="0" marL="0" rtl="0" algn="l">
                        <a:spcBef>
                          <a:spcPts val="0"/>
                        </a:spcBef>
                        <a:spcAft>
                          <a:spcPts val="0"/>
                        </a:spcAft>
                        <a:buNone/>
                      </a:pPr>
                      <a:r>
                        <a:rPr b="1" lang="en-US" sz="1000"/>
                        <a:t>Cómo se calcula</a:t>
                      </a:r>
                      <a:endParaRPr b="1" sz="1000"/>
                    </a:p>
                  </a:txBody>
                  <a:tcPr marT="0" marB="0" marR="45700" marL="45700">
                    <a:solidFill>
                      <a:srgbClr val="E6E6E6"/>
                    </a:solidFill>
                  </a:tcPr>
                </a:tc>
                <a:tc>
                  <a:txBody>
                    <a:bodyPr/>
                    <a:lstStyle/>
                    <a:p>
                      <a:pPr indent="0" lvl="0" marL="0" rtl="0" algn="l">
                        <a:spcBef>
                          <a:spcPts val="0"/>
                        </a:spcBef>
                        <a:spcAft>
                          <a:spcPts val="0"/>
                        </a:spcAft>
                        <a:buNone/>
                      </a:pPr>
                      <a:r>
                        <a:rPr b="1" lang="en-US" sz="1000"/>
                        <a:t>Supuestos clave</a:t>
                      </a:r>
                      <a:endParaRPr b="1" sz="1000"/>
                    </a:p>
                  </a:txBody>
                  <a:tcPr marT="0" marB="0" marR="45700" marL="45700">
                    <a:solidFill>
                      <a:srgbClr val="E6E6E6"/>
                    </a:solidFill>
                  </a:tcPr>
                </a:tc>
                <a:tc>
                  <a:txBody>
                    <a:bodyPr/>
                    <a:lstStyle/>
                    <a:p>
                      <a:pPr indent="0" lvl="0" marL="0" rtl="0" algn="l">
                        <a:spcBef>
                          <a:spcPts val="0"/>
                        </a:spcBef>
                        <a:spcAft>
                          <a:spcPts val="0"/>
                        </a:spcAft>
                        <a:buNone/>
                      </a:pPr>
                      <a:r>
                        <a:rPr b="1" lang="en-US" sz="1000"/>
                        <a:t>Ventaja</a:t>
                      </a:r>
                      <a:endParaRPr b="1" sz="1000"/>
                    </a:p>
                  </a:txBody>
                  <a:tcPr marT="0" marB="0" marR="45700" marL="45700">
                    <a:solidFill>
                      <a:srgbClr val="E6E6E6"/>
                    </a:solidFill>
                  </a:tcPr>
                </a:tc>
                <a:tc>
                  <a:txBody>
                    <a:bodyPr/>
                    <a:lstStyle/>
                    <a:p>
                      <a:pPr indent="0" lvl="0" marL="0" rtl="0" algn="l">
                        <a:spcBef>
                          <a:spcPts val="0"/>
                        </a:spcBef>
                        <a:spcAft>
                          <a:spcPts val="0"/>
                        </a:spcAft>
                        <a:buNone/>
                      </a:pPr>
                      <a:r>
                        <a:rPr b="1" lang="en-US" sz="1000"/>
                        <a:t>Limitación</a:t>
                      </a:r>
                      <a:endParaRPr b="1" sz="1000"/>
                    </a:p>
                  </a:txBody>
                  <a:tcPr marT="0" marB="0" marR="45700" marL="45700">
                    <a:solidFill>
                      <a:srgbClr val="E6E6E6"/>
                    </a:solidFill>
                  </a:tcPr>
                </a:tc>
              </a:tr>
              <a:tr h="524700">
                <a:tc>
                  <a:txBody>
                    <a:bodyPr/>
                    <a:lstStyle/>
                    <a:p>
                      <a:pPr indent="0" lvl="0" marL="0" rtl="0" algn="l">
                        <a:spcBef>
                          <a:spcPts val="0"/>
                        </a:spcBef>
                        <a:spcAft>
                          <a:spcPts val="0"/>
                        </a:spcAft>
                        <a:buNone/>
                      </a:pPr>
                      <a:r>
                        <a:rPr lang="en-US" sz="1000"/>
                        <a:t>R² IBS (Integrated Brier Score)</a:t>
                      </a:r>
                      <a:endParaRPr sz="1000"/>
                    </a:p>
                  </a:txBody>
                  <a:tcPr marT="0" marB="0" marR="45700" marL="45700" anchor="ctr"/>
                </a:tc>
                <a:tc>
                  <a:txBody>
                    <a:bodyPr/>
                    <a:lstStyle/>
                    <a:p>
                      <a:pPr indent="0" lvl="0" marL="0" rtl="0" algn="l">
                        <a:spcBef>
                          <a:spcPts val="0"/>
                        </a:spcBef>
                        <a:spcAft>
                          <a:spcPts val="0"/>
                        </a:spcAft>
                        <a:buNone/>
                      </a:pPr>
                      <a:r>
                        <a:rPr lang="en-US" sz="1000"/>
                        <a:t>Precisión promedio del modelo en todo el rango de tiempo</a:t>
                      </a:r>
                      <a:endParaRPr sz="1000"/>
                    </a:p>
                  </a:txBody>
                  <a:tcPr marT="0" marB="0" marR="45700" marL="45700" anchor="ctr"/>
                </a:tc>
                <a:tc>
                  <a:txBody>
                    <a:bodyPr/>
                    <a:lstStyle/>
                    <a:p>
                      <a:pPr indent="0" lvl="0" marL="0" rtl="0" algn="l">
                        <a:spcBef>
                          <a:spcPts val="0"/>
                        </a:spcBef>
                        <a:spcAft>
                          <a:spcPts val="0"/>
                        </a:spcAft>
                        <a:buNone/>
                      </a:pPr>
                      <a:r>
                        <a:rPr lang="en-US" sz="1000"/>
                        <a:t>Basado en el Brier Score integrado sobre el tiempo</a:t>
                      </a:r>
                      <a:endParaRPr sz="1000"/>
                    </a:p>
                  </a:txBody>
                  <a:tcPr marT="0" marB="0" marR="45700" marL="45700" anchor="ctr"/>
                </a:tc>
                <a:tc>
                  <a:txBody>
                    <a:bodyPr/>
                    <a:lstStyle/>
                    <a:p>
                      <a:pPr indent="0" lvl="0" marL="0" rtl="0" algn="l">
                        <a:spcBef>
                          <a:spcPts val="0"/>
                        </a:spcBef>
                        <a:spcAft>
                          <a:spcPts val="0"/>
                        </a:spcAft>
                        <a:buNone/>
                      </a:pPr>
                      <a:r>
                        <a:rPr lang="en-US" sz="1000"/>
                        <a:t>Requiere índice pronóstico y función de supervivencia basal</a:t>
                      </a:r>
                      <a:endParaRPr sz="1000"/>
                    </a:p>
                  </a:txBody>
                  <a:tcPr marT="0" marB="0" marR="45700" marL="45700" anchor="ctr"/>
                </a:tc>
                <a:tc>
                  <a:txBody>
                    <a:bodyPr/>
                    <a:lstStyle/>
                    <a:p>
                      <a:pPr indent="0" lvl="0" marL="0" rtl="0" algn="l">
                        <a:spcBef>
                          <a:spcPts val="0"/>
                        </a:spcBef>
                        <a:spcAft>
                          <a:spcPts val="0"/>
                        </a:spcAft>
                        <a:buNone/>
                      </a:pPr>
                      <a:r>
                        <a:rPr lang="en-US" sz="1000"/>
                        <a:t>Resume desempeño global</a:t>
                      </a:r>
                      <a:endParaRPr sz="1000"/>
                    </a:p>
                  </a:txBody>
                  <a:tcPr marT="0" marB="0" marR="45700" marL="45700" anchor="ctr"/>
                </a:tc>
                <a:tc>
                  <a:txBody>
                    <a:bodyPr/>
                    <a:lstStyle/>
                    <a:p>
                      <a:pPr indent="0" lvl="0" marL="0" rtl="0" algn="l">
                        <a:spcBef>
                          <a:spcPts val="0"/>
                        </a:spcBef>
                        <a:spcAft>
                          <a:spcPts val="0"/>
                        </a:spcAft>
                        <a:buNone/>
                      </a:pPr>
                      <a:r>
                        <a:rPr lang="en-US" sz="1000"/>
                        <a:t>Puede ser menos intuitivo para un tiempo específico</a:t>
                      </a:r>
                      <a:endParaRPr sz="1000"/>
                    </a:p>
                  </a:txBody>
                  <a:tcPr marT="0" marB="0" marR="45700" marL="45700" anchor="ctr"/>
                </a:tc>
              </a:tr>
              <a:tr h="451825">
                <a:tc>
                  <a:txBody>
                    <a:bodyPr/>
                    <a:lstStyle/>
                    <a:p>
                      <a:pPr indent="0" lvl="0" marL="0" rtl="0" algn="l">
                        <a:spcBef>
                          <a:spcPts val="0"/>
                        </a:spcBef>
                        <a:spcAft>
                          <a:spcPts val="0"/>
                        </a:spcAft>
                        <a:buNone/>
                      </a:pPr>
                      <a:r>
                        <a:rPr lang="en-US" sz="1000"/>
                        <a:t>R² BS (Brier Score en un tiempo fijo)</a:t>
                      </a:r>
                      <a:endParaRPr sz="1000"/>
                    </a:p>
                  </a:txBody>
                  <a:tcPr marT="0" marB="0" marR="45700" marL="45700" anchor="ctr"/>
                </a:tc>
                <a:tc>
                  <a:txBody>
                    <a:bodyPr/>
                    <a:lstStyle/>
                    <a:p>
                      <a:pPr indent="0" lvl="0" marL="0" rtl="0" algn="l">
                        <a:spcBef>
                          <a:spcPts val="0"/>
                        </a:spcBef>
                        <a:spcAft>
                          <a:spcPts val="0"/>
                        </a:spcAft>
                        <a:buNone/>
                      </a:pPr>
                      <a:r>
                        <a:rPr lang="en-US" sz="1000"/>
                        <a:t>Precisión en un punto temporal concreto (ej. 3 años)</a:t>
                      </a:r>
                      <a:endParaRPr sz="1000"/>
                    </a:p>
                  </a:txBody>
                  <a:tcPr marT="0" marB="0" marR="45700" marL="45700" anchor="ctr"/>
                </a:tc>
                <a:tc>
                  <a:txBody>
                    <a:bodyPr/>
                    <a:lstStyle/>
                    <a:p>
                      <a:pPr indent="0" lvl="0" marL="0" rtl="0" algn="l">
                        <a:spcBef>
                          <a:spcPts val="0"/>
                        </a:spcBef>
                        <a:spcAft>
                          <a:spcPts val="0"/>
                        </a:spcAft>
                        <a:buNone/>
                      </a:pPr>
                      <a:r>
                        <a:rPr lang="en-US" sz="1000"/>
                        <a:t>Brier Score en un tiempo definido</a:t>
                      </a:r>
                      <a:endParaRPr sz="1000"/>
                    </a:p>
                  </a:txBody>
                  <a:tcPr marT="0" marB="0" marR="45700" marL="45700" anchor="ctr"/>
                </a:tc>
                <a:tc>
                  <a:txBody>
                    <a:bodyPr/>
                    <a:lstStyle/>
                    <a:p>
                      <a:pPr indent="0" lvl="0" marL="0" rtl="0" algn="l">
                        <a:spcBef>
                          <a:spcPts val="0"/>
                        </a:spcBef>
                        <a:spcAft>
                          <a:spcPts val="0"/>
                        </a:spcAft>
                        <a:buNone/>
                      </a:pPr>
                      <a:r>
                        <a:rPr lang="en-US" sz="1000"/>
                        <a:t>Igual que IBS, pero en un solo tiempo</a:t>
                      </a:r>
                      <a:endParaRPr sz="1000"/>
                    </a:p>
                  </a:txBody>
                  <a:tcPr marT="0" marB="0" marR="45700" marL="45700" anchor="ctr"/>
                </a:tc>
                <a:tc>
                  <a:txBody>
                    <a:bodyPr/>
                    <a:lstStyle/>
                    <a:p>
                      <a:pPr indent="0" lvl="0" marL="0" rtl="0" algn="l">
                        <a:spcBef>
                          <a:spcPts val="0"/>
                        </a:spcBef>
                        <a:spcAft>
                          <a:spcPts val="0"/>
                        </a:spcAft>
                        <a:buNone/>
                      </a:pPr>
                      <a:r>
                        <a:rPr lang="en-US" sz="1000"/>
                        <a:t>Fácil de interpretar clínicamente</a:t>
                      </a:r>
                      <a:endParaRPr sz="1000"/>
                    </a:p>
                  </a:txBody>
                  <a:tcPr marT="0" marB="0" marR="45700" marL="45700" anchor="ctr"/>
                </a:tc>
                <a:tc>
                  <a:txBody>
                    <a:bodyPr/>
                    <a:lstStyle/>
                    <a:p>
                      <a:pPr indent="0" lvl="0" marL="0" rtl="0" algn="l">
                        <a:spcBef>
                          <a:spcPts val="0"/>
                        </a:spcBef>
                        <a:spcAft>
                          <a:spcPts val="0"/>
                        </a:spcAft>
                        <a:buNone/>
                      </a:pPr>
                      <a:r>
                        <a:rPr lang="en-US" sz="1000"/>
                        <a:t>Depende de la elección del tiempo</a:t>
                      </a:r>
                      <a:endParaRPr sz="1000"/>
                    </a:p>
                  </a:txBody>
                  <a:tcPr marT="0" marB="0" marR="45700" marL="45700" anchor="ctr"/>
                </a:tc>
              </a:tr>
              <a:tr h="378950">
                <a:tc>
                  <a:txBody>
                    <a:bodyPr/>
                    <a:lstStyle/>
                    <a:p>
                      <a:pPr indent="0" lvl="0" marL="0" rtl="0" algn="l">
                        <a:spcBef>
                          <a:spcPts val="0"/>
                        </a:spcBef>
                        <a:spcAft>
                          <a:spcPts val="0"/>
                        </a:spcAft>
                        <a:buNone/>
                      </a:pPr>
                      <a:r>
                        <a:rPr lang="en-US" sz="1000"/>
                        <a:t>R² SH (Schemper-Henderson)</a:t>
                      </a:r>
                      <a:endParaRPr sz="1000"/>
                    </a:p>
                  </a:txBody>
                  <a:tcPr marT="0" marB="0" marR="45700" marL="45700" anchor="ctr"/>
                </a:tc>
                <a:tc>
                  <a:txBody>
                    <a:bodyPr/>
                    <a:lstStyle/>
                    <a:p>
                      <a:pPr indent="0" lvl="0" marL="0" rtl="0" algn="l">
                        <a:spcBef>
                          <a:spcPts val="0"/>
                        </a:spcBef>
                        <a:spcAft>
                          <a:spcPts val="0"/>
                        </a:spcAft>
                        <a:buNone/>
                      </a:pPr>
                      <a:r>
                        <a:rPr lang="en-US" sz="1000"/>
                        <a:t>Varianza explicada por el modelo</a:t>
                      </a:r>
                      <a:endParaRPr sz="1000"/>
                    </a:p>
                  </a:txBody>
                  <a:tcPr marT="0" marB="0" marR="45700" marL="45700" anchor="ctr"/>
                </a:tc>
                <a:tc>
                  <a:txBody>
                    <a:bodyPr/>
                    <a:lstStyle/>
                    <a:p>
                      <a:pPr indent="0" lvl="0" marL="0" rtl="0" algn="l">
                        <a:spcBef>
                          <a:spcPts val="0"/>
                        </a:spcBef>
                        <a:spcAft>
                          <a:spcPts val="0"/>
                        </a:spcAft>
                        <a:buNone/>
                      </a:pPr>
                      <a:r>
                        <a:rPr lang="en-US" sz="1000"/>
                        <a:t>Basado en log-verosimilitud y varianza</a:t>
                      </a:r>
                      <a:endParaRPr sz="1000"/>
                    </a:p>
                  </a:txBody>
                  <a:tcPr marT="0" marB="0" marR="45700" marL="45700" anchor="ctr"/>
                </a:tc>
                <a:tc>
                  <a:txBody>
                    <a:bodyPr/>
                    <a:lstStyle/>
                    <a:p>
                      <a:pPr indent="0" lvl="0" marL="0" rtl="0" algn="l">
                        <a:spcBef>
                          <a:spcPts val="0"/>
                        </a:spcBef>
                        <a:spcAft>
                          <a:spcPts val="0"/>
                        </a:spcAft>
                        <a:buNone/>
                      </a:pPr>
                      <a:r>
                        <a:rPr lang="en-US" sz="1000"/>
                        <a:t>Asume modelo correctamente especificado</a:t>
                      </a:r>
                      <a:endParaRPr sz="1000"/>
                    </a:p>
                  </a:txBody>
                  <a:tcPr marT="0" marB="0" marR="45700" marL="45700" anchor="ctr"/>
                </a:tc>
                <a:tc>
                  <a:txBody>
                    <a:bodyPr/>
                    <a:lstStyle/>
                    <a:p>
                      <a:pPr indent="0" lvl="0" marL="0" rtl="0" algn="l">
                        <a:spcBef>
                          <a:spcPts val="0"/>
                        </a:spcBef>
                        <a:spcAft>
                          <a:spcPts val="0"/>
                        </a:spcAft>
                        <a:buNone/>
                      </a:pPr>
                      <a:r>
                        <a:rPr lang="en-US" sz="1000"/>
                        <a:t>Tiene fundamento teórico sólido</a:t>
                      </a:r>
                      <a:endParaRPr sz="1000"/>
                    </a:p>
                  </a:txBody>
                  <a:tcPr marT="0" marB="0" marR="45700" marL="45700" anchor="ctr"/>
                </a:tc>
                <a:tc>
                  <a:txBody>
                    <a:bodyPr/>
                    <a:lstStyle/>
                    <a:p>
                      <a:pPr indent="0" lvl="0" marL="0" rtl="0" algn="l">
                        <a:spcBef>
                          <a:spcPts val="0"/>
                        </a:spcBef>
                        <a:spcAft>
                          <a:spcPts val="0"/>
                        </a:spcAft>
                        <a:buNone/>
                      </a:pPr>
                      <a:r>
                        <a:rPr lang="en-US" sz="1000"/>
                        <a:t>Sensible a mala especificación del modelo</a:t>
                      </a:r>
                      <a:endParaRPr sz="1000"/>
                    </a:p>
                  </a:txBody>
                  <a:tcPr marT="0" marB="0" marR="45700" marL="45700" anchor="ctr"/>
                </a:tc>
              </a:tr>
              <a:tr h="378950">
                <a:tc>
                  <a:txBody>
                    <a:bodyPr/>
                    <a:lstStyle/>
                    <a:p>
                      <a:pPr indent="0" lvl="0" marL="0" rtl="0" algn="l">
                        <a:spcBef>
                          <a:spcPts val="0"/>
                        </a:spcBef>
                        <a:spcAft>
                          <a:spcPts val="0"/>
                        </a:spcAft>
                        <a:buNone/>
                      </a:pPr>
                      <a:r>
                        <a:rPr lang="en-US" sz="1000"/>
                        <a:t>R² S (Song &amp; Zhou)</a:t>
                      </a:r>
                      <a:endParaRPr sz="1000"/>
                    </a:p>
                  </a:txBody>
                  <a:tcPr marT="0" marB="0" marR="45700" marL="45700" anchor="ctr"/>
                </a:tc>
                <a:tc>
                  <a:txBody>
                    <a:bodyPr/>
                    <a:lstStyle/>
                    <a:p>
                      <a:pPr indent="0" lvl="0" marL="0" rtl="0" algn="l">
                        <a:spcBef>
                          <a:spcPts val="0"/>
                        </a:spcBef>
                        <a:spcAft>
                          <a:spcPts val="0"/>
                        </a:spcAft>
                        <a:buNone/>
                      </a:pPr>
                      <a:r>
                        <a:rPr lang="en-US" sz="1000"/>
                        <a:t>Discriminación y calibración combinadas</a:t>
                      </a:r>
                      <a:endParaRPr sz="1000"/>
                    </a:p>
                  </a:txBody>
                  <a:tcPr marT="0" marB="0" marR="45700" marL="45700" anchor="ctr"/>
                </a:tc>
                <a:tc>
                  <a:txBody>
                    <a:bodyPr/>
                    <a:lstStyle/>
                    <a:p>
                      <a:pPr indent="0" lvl="0" marL="0" rtl="0" algn="l">
                        <a:spcBef>
                          <a:spcPts val="0"/>
                        </a:spcBef>
                        <a:spcAft>
                          <a:spcPts val="0"/>
                        </a:spcAft>
                        <a:buNone/>
                      </a:pPr>
                      <a:r>
                        <a:rPr lang="en-US" sz="1000"/>
                        <a:t>Usa diferencias en supervivencia esperada</a:t>
                      </a:r>
                      <a:endParaRPr sz="1000"/>
                    </a:p>
                  </a:txBody>
                  <a:tcPr marT="0" marB="0" marR="45700" marL="45700" anchor="ctr"/>
                </a:tc>
                <a:tc>
                  <a:txBody>
                    <a:bodyPr/>
                    <a:lstStyle/>
                    <a:p>
                      <a:pPr indent="0" lvl="0" marL="0" rtl="0" algn="l">
                        <a:spcBef>
                          <a:spcPts val="0"/>
                        </a:spcBef>
                        <a:spcAft>
                          <a:spcPts val="0"/>
                        </a:spcAft>
                        <a:buNone/>
                      </a:pPr>
                      <a:r>
                        <a:rPr lang="en-US" sz="1000"/>
                        <a:t>Requiere índice pronóstico y función basal</a:t>
                      </a:r>
                      <a:endParaRPr sz="1000"/>
                    </a:p>
                  </a:txBody>
                  <a:tcPr marT="0" marB="0" marR="45700" marL="45700" anchor="ctr"/>
                </a:tc>
                <a:tc>
                  <a:txBody>
                    <a:bodyPr/>
                    <a:lstStyle/>
                    <a:p>
                      <a:pPr indent="0" lvl="0" marL="0" rtl="0" algn="l">
                        <a:spcBef>
                          <a:spcPts val="0"/>
                        </a:spcBef>
                        <a:spcAft>
                          <a:spcPts val="0"/>
                        </a:spcAft>
                        <a:buNone/>
                      </a:pPr>
                      <a:r>
                        <a:rPr lang="en-US" sz="1000"/>
                        <a:t>Integra varios aspectos del desempeño</a:t>
                      </a:r>
                      <a:endParaRPr sz="1000"/>
                    </a:p>
                  </a:txBody>
                  <a:tcPr marT="0" marB="0" marR="45700" marL="45700" anchor="ctr"/>
                </a:tc>
                <a:tc>
                  <a:txBody>
                    <a:bodyPr/>
                    <a:lstStyle/>
                    <a:p>
                      <a:pPr indent="0" lvl="0" marL="0" rtl="0" algn="l">
                        <a:spcBef>
                          <a:spcPts val="0"/>
                        </a:spcBef>
                        <a:spcAft>
                          <a:spcPts val="0"/>
                        </a:spcAft>
                        <a:buNone/>
                      </a:pPr>
                      <a:r>
                        <a:rPr lang="en-US" sz="1000"/>
                        <a:t>Menos difundido, más complejo de explicar</a:t>
                      </a:r>
                      <a:endParaRPr sz="1000"/>
                    </a:p>
                  </a:txBody>
                  <a:tcPr marT="0" marB="0" marR="45700" marL="45700" anchor="ctr"/>
                </a:tc>
              </a:tr>
            </a:tbl>
          </a:graphicData>
        </a:graphic>
      </p:graphicFrame>
      <p:pic>
        <p:nvPicPr>
          <p:cNvPr id="300" name="Google Shape;300;g3c8e77668ec_0_1"/>
          <p:cNvPicPr preferRelativeResize="0"/>
          <p:nvPr/>
        </p:nvPicPr>
        <p:blipFill rotWithShape="1">
          <a:blip r:embed="rId3">
            <a:alphaModFix/>
          </a:blip>
          <a:srcRect b="20185" l="0" r="24047" t="0"/>
          <a:stretch/>
        </p:blipFill>
        <p:spPr>
          <a:xfrm>
            <a:off x="2430125" y="1937725"/>
            <a:ext cx="1904800" cy="3881050"/>
          </a:xfrm>
          <a:prstGeom prst="rect">
            <a:avLst/>
          </a:prstGeom>
          <a:noFill/>
          <a:ln>
            <a:noFill/>
          </a:ln>
        </p:spPr>
      </p:pic>
      <p:sp>
        <p:nvSpPr>
          <p:cNvPr id="301" name="Google Shape;301;g3c8e77668ec_0_1"/>
          <p:cNvSpPr txBox="1"/>
          <p:nvPr/>
        </p:nvSpPr>
        <p:spPr>
          <a:xfrm>
            <a:off x="85075" y="5996100"/>
            <a:ext cx="786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Usar los datos de desarrollo para S₀(t) mantiene la </a:t>
            </a:r>
            <a:r>
              <a:rPr b="1" lang="en-US" sz="1100">
                <a:solidFill>
                  <a:schemeClr val="dk1"/>
                </a:solidFill>
              </a:rPr>
              <a:t>integridad del modelo</a:t>
            </a:r>
            <a:r>
              <a:rPr lang="en-US" sz="1100">
                <a:solidFill>
                  <a:schemeClr val="dk1"/>
                </a:solidFill>
              </a:rPr>
              <a:t>: la función basal es la misma que se habría usado en predicciones reales.</a:t>
            </a:r>
            <a:endParaRPr sz="1100">
              <a:solidFill>
                <a:schemeClr val="dk1"/>
              </a:solidFill>
            </a:endParaRPr>
          </a:p>
          <a:p>
            <a:pPr indent="0" lvl="0" marL="0" rtl="0" algn="l">
              <a:spcBef>
                <a:spcPts val="0"/>
              </a:spcBef>
              <a:spcAft>
                <a:spcPts val="0"/>
              </a:spcAft>
              <a:buNone/>
            </a:pPr>
            <a:r>
              <a:rPr lang="en-US" sz="1100">
                <a:solidFill>
                  <a:schemeClr val="dk1"/>
                </a:solidFill>
              </a:rPr>
              <a:t>Usar los datos de validación es aceptable y da resultados muy similares (como reporta el artículo), pero conceptualmente mezcla información del modelo con datos externos.</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c8e77668ec_0_26"/>
          <p:cNvSpPr txBox="1"/>
          <p:nvPr>
            <p:ph type="title"/>
          </p:nvPr>
        </p:nvSpPr>
        <p:spPr>
          <a:xfrm>
            <a:off x="242775" y="317850"/>
            <a:ext cx="6095700" cy="1399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2000"/>
              <a:t>Binuya, M.A.E., Engelhardt, E.G., Schats, W. et al. Methodological guidance for the evaluation and updating of clinical prediction models: a systematic review. BMC Med Res Methodol 22, 316 (2022). https://doi.org/10.1186/s12874-022-01801-8</a:t>
            </a:r>
            <a:endParaRPr sz="2000"/>
          </a:p>
        </p:txBody>
      </p:sp>
      <p:sp>
        <p:nvSpPr>
          <p:cNvPr id="308" name="Google Shape;308;g3c8e77668ec_0_26"/>
          <p:cNvSpPr txBox="1"/>
          <p:nvPr>
            <p:ph idx="1" type="body"/>
          </p:nvPr>
        </p:nvSpPr>
        <p:spPr>
          <a:xfrm>
            <a:off x="242775" y="1972150"/>
            <a:ext cx="6757500" cy="4621500"/>
          </a:xfrm>
          <a:prstGeom prst="rect">
            <a:avLst/>
          </a:prstGeom>
        </p:spPr>
        <p:txBody>
          <a:bodyPr anchorCtr="0" anchor="t" bIns="45700" lIns="91425" spcFirstLastPara="1" rIns="91425" wrap="square" tIns="45700">
            <a:normAutofit fontScale="85000" lnSpcReduction="10000"/>
          </a:bodyPr>
          <a:lstStyle/>
          <a:p>
            <a:pPr indent="-298767" lvl="0" marL="457200" rtl="0" algn="l">
              <a:lnSpc>
                <a:spcPct val="115000"/>
              </a:lnSpc>
              <a:spcBef>
                <a:spcPts val="1400"/>
              </a:spcBef>
              <a:spcAft>
                <a:spcPts val="0"/>
              </a:spcAft>
              <a:buSzPct val="100000"/>
              <a:buChar char="-"/>
            </a:pPr>
            <a:r>
              <a:rPr b="1" lang="en-US" sz="1300"/>
              <a:t>🩺 Clinical Usefulness (Utilidad clínica)</a:t>
            </a:r>
            <a:endParaRPr b="1" sz="1300"/>
          </a:p>
          <a:p>
            <a:pPr indent="-298767" lvl="1" marL="914400" rtl="0" algn="l">
              <a:lnSpc>
                <a:spcPct val="115000"/>
              </a:lnSpc>
              <a:spcBef>
                <a:spcPts val="0"/>
              </a:spcBef>
              <a:spcAft>
                <a:spcPts val="0"/>
              </a:spcAft>
              <a:buSzPct val="100000"/>
              <a:buChar char="-"/>
            </a:pPr>
            <a:r>
              <a:rPr lang="en-US" sz="1300"/>
              <a:t>Evalúa el impacto práctico de un modelo en la toma de decisiones clínicas.</a:t>
            </a:r>
            <a:endParaRPr sz="1300"/>
          </a:p>
          <a:p>
            <a:pPr indent="-298767" lvl="1" marL="914400" rtl="0" algn="l">
              <a:lnSpc>
                <a:spcPct val="115000"/>
              </a:lnSpc>
              <a:spcBef>
                <a:spcPts val="0"/>
              </a:spcBef>
              <a:spcAft>
                <a:spcPts val="0"/>
              </a:spcAft>
              <a:buSzPct val="100000"/>
              <a:buChar char="-"/>
            </a:pPr>
            <a:r>
              <a:rPr lang="en-US" sz="1300"/>
              <a:t>Complementa a discriminación y calibración (que son estadísticas), enfocándose en la relevancia clínica.</a:t>
            </a:r>
            <a:endParaRPr sz="1300"/>
          </a:p>
          <a:p>
            <a:pPr indent="-298767" lvl="1" marL="914400" rtl="0" algn="l">
              <a:lnSpc>
                <a:spcPct val="115000"/>
              </a:lnSpc>
              <a:spcBef>
                <a:spcPts val="0"/>
              </a:spcBef>
              <a:spcAft>
                <a:spcPts val="0"/>
              </a:spcAft>
              <a:buSzPct val="100000"/>
              <a:buChar char="-"/>
            </a:pPr>
            <a:r>
              <a:rPr lang="en-US" sz="1300"/>
              <a:t>1. Medidas clásicas (dependen de un umbral):</a:t>
            </a:r>
            <a:endParaRPr sz="1300"/>
          </a:p>
          <a:p>
            <a:pPr indent="-298767" lvl="2" marL="1371600" rtl="0" algn="l">
              <a:lnSpc>
                <a:spcPct val="115000"/>
              </a:lnSpc>
              <a:spcBef>
                <a:spcPts val="0"/>
              </a:spcBef>
              <a:spcAft>
                <a:spcPts val="0"/>
              </a:spcAft>
              <a:buSzPct val="100000"/>
              <a:buChar char="-"/>
            </a:pPr>
            <a:r>
              <a:rPr lang="en-US" sz="1300"/>
              <a:t>Sensibilidad, especificidad, valores predictivos, exactitud.</a:t>
            </a:r>
            <a:endParaRPr sz="1300"/>
          </a:p>
          <a:p>
            <a:pPr indent="-298767" lvl="2" marL="1371600" rtl="0" algn="l">
              <a:lnSpc>
                <a:spcPct val="115000"/>
              </a:lnSpc>
              <a:spcBef>
                <a:spcPts val="0"/>
              </a:spcBef>
              <a:spcAft>
                <a:spcPts val="0"/>
              </a:spcAft>
              <a:buSzPct val="100000"/>
              <a:buChar char="-"/>
            </a:pPr>
            <a:r>
              <a:rPr lang="en-US" sz="1300"/>
              <a:t>Problema: dependen de la prevalencia del evento → no deben reportarse en aislamiento.</a:t>
            </a:r>
            <a:endParaRPr sz="1300"/>
          </a:p>
          <a:p>
            <a:pPr indent="-298767" lvl="1" marL="914400" rtl="0" algn="l">
              <a:lnSpc>
                <a:spcPct val="115000"/>
              </a:lnSpc>
              <a:spcBef>
                <a:spcPts val="0"/>
              </a:spcBef>
              <a:spcAft>
                <a:spcPts val="0"/>
              </a:spcAft>
              <a:buSzPct val="100000"/>
              <a:buChar char="-"/>
            </a:pPr>
            <a:r>
              <a:rPr lang="en-US" sz="1300"/>
              <a:t>2. Medidas modernas (basadas en análisis de decisión):</a:t>
            </a:r>
            <a:endParaRPr sz="1300"/>
          </a:p>
          <a:p>
            <a:pPr indent="-298767" lvl="2" marL="1371600" rtl="0" algn="l">
              <a:lnSpc>
                <a:spcPct val="115000"/>
              </a:lnSpc>
              <a:spcBef>
                <a:spcPts val="0"/>
              </a:spcBef>
              <a:spcAft>
                <a:spcPts val="0"/>
              </a:spcAft>
              <a:buSzPct val="100000"/>
              <a:buChar char="-"/>
            </a:pPr>
            <a:r>
              <a:rPr lang="en-US" sz="1300"/>
              <a:t>Net Benefit (NB):</a:t>
            </a:r>
            <a:endParaRPr sz="1300"/>
          </a:p>
          <a:p>
            <a:pPr indent="-298767" lvl="3" marL="1828800" rtl="0" algn="l">
              <a:lnSpc>
                <a:spcPct val="115000"/>
              </a:lnSpc>
              <a:spcBef>
                <a:spcPts val="0"/>
              </a:spcBef>
              <a:spcAft>
                <a:spcPts val="0"/>
              </a:spcAft>
              <a:buSzPct val="100000"/>
              <a:buChar char="-"/>
            </a:pPr>
            <a:r>
              <a:rPr lang="en-US" sz="1300"/>
              <a:t>Combina beneficios y daños.</a:t>
            </a:r>
            <a:endParaRPr sz="1300"/>
          </a:p>
          <a:p>
            <a:pPr indent="-298767" lvl="3" marL="1828800" rtl="0" algn="l">
              <a:lnSpc>
                <a:spcPct val="115000"/>
              </a:lnSpc>
              <a:spcBef>
                <a:spcPts val="0"/>
              </a:spcBef>
              <a:spcAft>
                <a:spcPts val="0"/>
              </a:spcAft>
              <a:buSzPct val="100000"/>
              <a:buChar char="-"/>
            </a:pPr>
            <a:r>
              <a:rPr lang="en-US" sz="1300"/>
              <a:t>Penaliza falsos positivos frente a verdaderos positivos.</a:t>
            </a:r>
            <a:endParaRPr sz="1300"/>
          </a:p>
          <a:p>
            <a:pPr indent="-298767" lvl="3" marL="1828800" rtl="0" algn="l">
              <a:lnSpc>
                <a:spcPct val="115000"/>
              </a:lnSpc>
              <a:spcBef>
                <a:spcPts val="0"/>
              </a:spcBef>
              <a:spcAft>
                <a:spcPts val="0"/>
              </a:spcAft>
              <a:buSzPct val="100000"/>
              <a:buChar char="-"/>
            </a:pPr>
            <a:r>
              <a:rPr lang="en-US" sz="1300"/>
              <a:t>Más realista para evaluar impacto clínico.</a:t>
            </a:r>
            <a:endParaRPr sz="1300"/>
          </a:p>
          <a:p>
            <a:pPr indent="-298767" lvl="2" marL="1371600" rtl="0" algn="l">
              <a:lnSpc>
                <a:spcPct val="115000"/>
              </a:lnSpc>
              <a:spcBef>
                <a:spcPts val="0"/>
              </a:spcBef>
              <a:spcAft>
                <a:spcPts val="0"/>
              </a:spcAft>
              <a:buSzPct val="100000"/>
              <a:buChar char="-"/>
            </a:pPr>
            <a:r>
              <a:rPr lang="en-US" sz="1300"/>
              <a:t>Decision Curve Analysis (DCA):</a:t>
            </a:r>
            <a:endParaRPr sz="1300"/>
          </a:p>
          <a:p>
            <a:pPr indent="-298767" lvl="3" marL="1828800" rtl="0" algn="l">
              <a:lnSpc>
                <a:spcPct val="115000"/>
              </a:lnSpc>
              <a:spcBef>
                <a:spcPts val="0"/>
              </a:spcBef>
              <a:spcAft>
                <a:spcPts val="0"/>
              </a:spcAft>
              <a:buSzPct val="100000"/>
              <a:buChar char="-"/>
            </a:pPr>
            <a:r>
              <a:rPr lang="en-US" sz="1300"/>
              <a:t>Sensibilidad del NB a distintos umbrales.</a:t>
            </a:r>
            <a:endParaRPr sz="1300"/>
          </a:p>
          <a:p>
            <a:pPr indent="-298767" lvl="3" marL="1828800" rtl="0" algn="l">
              <a:lnSpc>
                <a:spcPct val="115000"/>
              </a:lnSpc>
              <a:spcBef>
                <a:spcPts val="0"/>
              </a:spcBef>
              <a:spcAft>
                <a:spcPts val="0"/>
              </a:spcAft>
              <a:buSzPct val="100000"/>
              <a:buChar char="-"/>
            </a:pPr>
            <a:r>
              <a:rPr lang="en-US" sz="1300"/>
              <a:t>Se visualiza en una curva de decisión.</a:t>
            </a:r>
            <a:endParaRPr sz="1300"/>
          </a:p>
          <a:p>
            <a:pPr indent="-298767" lvl="3" marL="1828800" rtl="0" algn="l">
              <a:lnSpc>
                <a:spcPct val="115000"/>
              </a:lnSpc>
              <a:spcBef>
                <a:spcPts val="0"/>
              </a:spcBef>
              <a:spcAft>
                <a:spcPts val="0"/>
              </a:spcAft>
              <a:buSzPct val="100000"/>
              <a:buChar char="-"/>
            </a:pPr>
            <a:r>
              <a:rPr lang="en-US" sz="1300"/>
              <a:t>Útil cuando no existe un umbral clínico universal.</a:t>
            </a:r>
            <a:endParaRPr sz="1300"/>
          </a:p>
          <a:p>
            <a:pPr indent="-298767" lvl="2" marL="1371600" rtl="0" algn="l">
              <a:lnSpc>
                <a:spcPct val="115000"/>
              </a:lnSpc>
              <a:spcBef>
                <a:spcPts val="0"/>
              </a:spcBef>
              <a:spcAft>
                <a:spcPts val="0"/>
              </a:spcAft>
              <a:buSzPct val="100000"/>
              <a:buChar char="-"/>
            </a:pPr>
            <a:r>
              <a:rPr lang="en-US" sz="1300"/>
              <a:t>Relative utility Curve</a:t>
            </a:r>
            <a:endParaRPr sz="1300"/>
          </a:p>
          <a:p>
            <a:pPr indent="-298767" lvl="3" marL="1828800" rtl="0" algn="l">
              <a:lnSpc>
                <a:spcPct val="115000"/>
              </a:lnSpc>
              <a:spcBef>
                <a:spcPts val="0"/>
              </a:spcBef>
              <a:spcAft>
                <a:spcPts val="0"/>
              </a:spcAft>
              <a:buSzPct val="100000"/>
              <a:buChar char="-"/>
            </a:pPr>
            <a:r>
              <a:rPr lang="en-US" sz="1300"/>
              <a:t>Variante del DCA.</a:t>
            </a:r>
            <a:endParaRPr sz="1300"/>
          </a:p>
          <a:p>
            <a:pPr indent="-298767" lvl="3" marL="1828800" rtl="0" algn="l">
              <a:lnSpc>
                <a:spcPct val="115000"/>
              </a:lnSpc>
              <a:spcBef>
                <a:spcPts val="0"/>
              </a:spcBef>
              <a:spcAft>
                <a:spcPts val="0"/>
              </a:spcAft>
              <a:buSzPct val="100000"/>
              <a:buChar char="-"/>
            </a:pPr>
            <a:r>
              <a:rPr lang="en-US" sz="1300"/>
              <a:t>Escala el NB comparándolo con la predicción perfecta.</a:t>
            </a:r>
            <a:endParaRPr sz="1300"/>
          </a:p>
          <a:p>
            <a:pPr indent="-298767" lvl="1" marL="914400" rtl="0" algn="l">
              <a:lnSpc>
                <a:spcPct val="115000"/>
              </a:lnSpc>
              <a:spcBef>
                <a:spcPts val="0"/>
              </a:spcBef>
              <a:spcAft>
                <a:spcPts val="0"/>
              </a:spcAft>
              <a:buSzPct val="100000"/>
              <a:buChar char="-"/>
            </a:pPr>
            <a:r>
              <a:rPr lang="en-US" sz="1300"/>
              <a:t>3. Consideraciones prácticas:</a:t>
            </a:r>
            <a:endParaRPr sz="1300"/>
          </a:p>
          <a:p>
            <a:pPr indent="-298767" lvl="2" marL="1371600" rtl="0" algn="l">
              <a:lnSpc>
                <a:spcPct val="115000"/>
              </a:lnSpc>
              <a:spcBef>
                <a:spcPts val="0"/>
              </a:spcBef>
              <a:spcAft>
                <a:spcPts val="0"/>
              </a:spcAft>
              <a:buSzPct val="100000"/>
              <a:buChar char="-"/>
            </a:pPr>
            <a:r>
              <a:rPr lang="en-US" sz="1300"/>
              <a:t>Los umbrales aceptables pueden variar. Se recomienda análisis de sensibilidad</a:t>
            </a:r>
            <a:endParaRPr sz="1300"/>
          </a:p>
          <a:p>
            <a:pPr indent="-298767" lvl="0" marL="457200" rtl="0" algn="l">
              <a:lnSpc>
                <a:spcPct val="115000"/>
              </a:lnSpc>
              <a:spcBef>
                <a:spcPts val="0"/>
              </a:spcBef>
              <a:spcAft>
                <a:spcPts val="0"/>
              </a:spcAft>
              <a:buSzPct val="100000"/>
              <a:buChar char="-"/>
            </a:pPr>
            <a:r>
              <a:rPr lang="en-US" sz="1300"/>
              <a:t>💰 Health Economic Analysis (Análisis económico en salud)</a:t>
            </a:r>
            <a:endParaRPr sz="1300"/>
          </a:p>
          <a:p>
            <a:pPr indent="-298767" lvl="1" marL="914400" rtl="0" algn="l">
              <a:lnSpc>
                <a:spcPct val="115000"/>
              </a:lnSpc>
              <a:spcBef>
                <a:spcPts val="0"/>
              </a:spcBef>
              <a:spcAft>
                <a:spcPts val="0"/>
              </a:spcAft>
              <a:buSzPct val="100000"/>
              <a:buChar char="-"/>
            </a:pPr>
            <a:r>
              <a:rPr lang="en-US" sz="1300"/>
              <a:t>Evaluar el impacto potencial de un modelo en costos y beneficios clínicos.</a:t>
            </a:r>
            <a:endParaRPr sz="1300"/>
          </a:p>
          <a:p>
            <a:pPr indent="-298767" lvl="1" marL="914400" rtl="0" algn="l">
              <a:lnSpc>
                <a:spcPct val="115000"/>
              </a:lnSpc>
              <a:spcBef>
                <a:spcPts val="0"/>
              </a:spcBef>
              <a:spcAft>
                <a:spcPts val="0"/>
              </a:spcAft>
              <a:buSzPct val="100000"/>
              <a:buChar char="-"/>
            </a:pPr>
            <a:r>
              <a:rPr lang="en-US" sz="1300"/>
              <a:t>Herramientas: modelos de decisión (Markov, árboles, simulaciones de costo-efectividad).</a:t>
            </a:r>
            <a:endParaRPr sz="1300"/>
          </a:p>
        </p:txBody>
      </p:sp>
      <p:pic>
        <p:nvPicPr>
          <p:cNvPr id="309" name="Google Shape;309;g3c8e77668ec_0_26"/>
          <p:cNvPicPr preferRelativeResize="0"/>
          <p:nvPr/>
        </p:nvPicPr>
        <p:blipFill>
          <a:blip r:embed="rId3">
            <a:alphaModFix/>
          </a:blip>
          <a:stretch>
            <a:fillRect/>
          </a:stretch>
        </p:blipFill>
        <p:spPr>
          <a:xfrm>
            <a:off x="7998919" y="3467925"/>
            <a:ext cx="4107306" cy="3205224"/>
          </a:xfrm>
          <a:prstGeom prst="rect">
            <a:avLst/>
          </a:prstGeom>
          <a:noFill/>
          <a:ln>
            <a:noFill/>
          </a:ln>
        </p:spPr>
      </p:pic>
      <p:pic>
        <p:nvPicPr>
          <p:cNvPr id="310" name="Google Shape;310;g3c8e77668ec_0_26"/>
          <p:cNvPicPr preferRelativeResize="0"/>
          <p:nvPr/>
        </p:nvPicPr>
        <p:blipFill>
          <a:blip r:embed="rId4">
            <a:alphaModFix/>
          </a:blip>
          <a:stretch>
            <a:fillRect/>
          </a:stretch>
        </p:blipFill>
        <p:spPr>
          <a:xfrm>
            <a:off x="7000149" y="66100"/>
            <a:ext cx="5239101" cy="33262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c8a4bf19fb_0_7"/>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Avance a Marzo</a:t>
            </a:r>
            <a:endParaRPr/>
          </a:p>
        </p:txBody>
      </p:sp>
      <p:sp>
        <p:nvSpPr>
          <p:cNvPr id="317" name="Google Shape;317;g3c8a4bf19fb_0_7"/>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0"/>
          <p:cNvSpPr txBox="1"/>
          <p:nvPr>
            <p:ph type="title"/>
          </p:nvPr>
        </p:nvSpPr>
        <p:spPr>
          <a:xfrm>
            <a:off x="141082" y="289661"/>
            <a:ext cx="4566719" cy="10774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3200"/>
              <a:t>Diagrama, cómo estructurar, Overview of key questions in prediction research</a:t>
            </a:r>
            <a:endParaRPr sz="3200"/>
          </a:p>
        </p:txBody>
      </p:sp>
      <p:graphicFrame>
        <p:nvGraphicFramePr>
          <p:cNvPr id="323" name="Google Shape;323;p20"/>
          <p:cNvGraphicFramePr/>
          <p:nvPr/>
        </p:nvGraphicFramePr>
        <p:xfrm>
          <a:off x="5337507" y="289660"/>
          <a:ext cx="3000000" cy="3000000"/>
        </p:xfrm>
        <a:graphic>
          <a:graphicData uri="http://schemas.openxmlformats.org/drawingml/2006/table">
            <a:tbl>
              <a:tblPr>
                <a:noFill/>
                <a:tableStyleId>{DBD46C37-D01B-4F45-941C-DAD3E01F40E0}</a:tableStyleId>
              </a:tblPr>
              <a:tblGrid>
                <a:gridCol w="1591275"/>
                <a:gridCol w="346650"/>
                <a:gridCol w="543200"/>
                <a:gridCol w="3883950"/>
              </a:tblGrid>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Section / Topic</a:t>
                      </a:r>
                      <a:endParaRPr b="1"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Item</a:t>
                      </a:r>
                      <a:endParaRPr b="1"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Dev / Val</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Checklist Item</a:t>
                      </a:r>
                      <a:endParaRPr b="1"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94250">
                <a:tc>
                  <a:txBody>
                    <a:bodyPr/>
                    <a:lstStyle/>
                    <a:p>
                      <a:pPr indent="0" lvl="0" marL="0" marR="0" rtl="0" algn="l">
                        <a:spcBef>
                          <a:spcPts val="0"/>
                        </a:spcBef>
                        <a:spcAft>
                          <a:spcPts val="0"/>
                        </a:spcAft>
                        <a:buClr>
                          <a:schemeClr val="dk1"/>
                        </a:buClr>
                        <a:buSzPts val="900"/>
                        <a:buFont typeface="Arial"/>
                        <a:buNone/>
                      </a:pPr>
                      <a:r>
                        <a:rPr b="1" lang="en-US" sz="900" u="none" cap="none" strike="noStrike"/>
                        <a:t>Title</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Identify study as developing/validating a prediction model</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2525">
                <a:tc>
                  <a:txBody>
                    <a:bodyPr/>
                    <a:lstStyle/>
                    <a:p>
                      <a:pPr indent="0" lvl="0" marL="0" marR="0" rtl="0" algn="l">
                        <a:spcBef>
                          <a:spcPts val="0"/>
                        </a:spcBef>
                        <a:spcAft>
                          <a:spcPts val="0"/>
                        </a:spcAft>
                        <a:buClr>
                          <a:schemeClr val="dk1"/>
                        </a:buClr>
                        <a:buSzPts val="900"/>
                        <a:buFont typeface="Arial"/>
                        <a:buNone/>
                      </a:pPr>
                      <a:r>
                        <a:rPr b="1" lang="en-US" sz="900" u="none" cap="none" strike="noStrike"/>
                        <a:t>Abstract</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2</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Summarize objectives, design, participants, predictors, outcome, analysis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Background &amp; Objectives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3a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Explain medical context and rationale</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425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3b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Specify objectives (development and/or validation)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Source of data</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4a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Describe study design or data source</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4b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Specify key study dates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Participants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5a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Describe study setting</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5b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Describe eligibility criteria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5c</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Provide treatment details if relevant</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Outcome</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6a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Define predicted outcome and assessment</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6b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Report blinding of outcome assessment</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Predictors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7a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Define predictors and measurement</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7b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Report blinding of predictor assessment</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Sample size</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8</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Explain sample size determination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Missing data</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9</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Describe missing data handling</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Statistical methods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10a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Predictor handling</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10b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Model type and selection procedures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10c</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Prediction calculation in validation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10d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Performance measures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10e</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Model updating methods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Risk groups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11</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Creation of risk groups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Development vs Validation</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12</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Differences between datasets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Participants (Results)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13a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Participant flow</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13b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Participant characteristics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13c</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Comparison with development data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Model development</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14a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Sample size &amp; events per analysis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14b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Unadjusted associations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Model specification</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15a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Full model presentation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15b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How to use the model</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Model performance</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16</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Report performance metrics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Model updating</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17</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Report updating results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Limitations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18</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Discuss study limitations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Interpretation</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19a</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Validation performance interpretation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19b</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Overall interpretation</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5975">
                <a:tc>
                  <a:txBody>
                    <a:bodyPr/>
                    <a:lstStyle/>
                    <a:p>
                      <a:pPr indent="0" lvl="0" marL="0" marR="0" rtl="0" algn="l">
                        <a:spcBef>
                          <a:spcPts val="0"/>
                        </a:spcBef>
                        <a:spcAft>
                          <a:spcPts val="0"/>
                        </a:spcAft>
                        <a:buClr>
                          <a:schemeClr val="dk1"/>
                        </a:buClr>
                        <a:buSzPts val="900"/>
                        <a:buFont typeface="Arial"/>
                        <a:buNone/>
                      </a:pPr>
                      <a:r>
                        <a:rPr b="1" lang="en-US" sz="900" u="none" cap="none" strike="noStrike"/>
                        <a:t>Implications</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20</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Clinical use &amp; research implications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Supplementary info</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21</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Availability of resources</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00">
                <a:tc>
                  <a:txBody>
                    <a:bodyPr/>
                    <a:lstStyle/>
                    <a:p>
                      <a:pPr indent="0" lvl="0" marL="0" marR="0" rtl="0" algn="l">
                        <a:spcBef>
                          <a:spcPts val="0"/>
                        </a:spcBef>
                        <a:spcAft>
                          <a:spcPts val="0"/>
                        </a:spcAft>
                        <a:buClr>
                          <a:schemeClr val="dk1"/>
                        </a:buClr>
                        <a:buSzPts val="900"/>
                        <a:buFont typeface="Arial"/>
                        <a:buNone/>
                      </a:pPr>
                      <a:r>
                        <a:rPr b="1" lang="en-US" sz="900" u="none" cap="none" strike="noStrike"/>
                        <a:t>Funding</a:t>
                      </a:r>
                      <a:endParaRPr sz="900" u="none" cap="none" strike="noStrike"/>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22</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D,V</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t>Funding source &amp; role</a:t>
                      </a:r>
                      <a:endParaRPr/>
                    </a:p>
                  </a:txBody>
                  <a:tcPr marT="9725" marB="9725" marR="19425" marL="19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24" name="Google Shape;324;p20"/>
          <p:cNvSpPr txBox="1"/>
          <p:nvPr/>
        </p:nvSpPr>
        <p:spPr>
          <a:xfrm>
            <a:off x="5277699" y="6419886"/>
            <a:ext cx="32955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chemeClr val="dk1"/>
                </a:solidFill>
                <a:latin typeface="Arial"/>
                <a:ea typeface="Arial"/>
                <a:cs typeface="Arial"/>
                <a:sym typeface="Arial"/>
              </a:rPr>
              <a:t>D/V= Development vs. validation</a:t>
            </a:r>
            <a:endParaRPr i="1" sz="1100">
              <a:solidFill>
                <a:schemeClr val="dk1"/>
              </a:solidFill>
              <a:latin typeface="Arial"/>
              <a:ea typeface="Arial"/>
              <a:cs typeface="Arial"/>
              <a:sym typeface="Arial"/>
            </a:endParaRPr>
          </a:p>
        </p:txBody>
      </p:sp>
      <p:sp>
        <p:nvSpPr>
          <p:cNvPr id="325" name="Google Shape;325;p20"/>
          <p:cNvSpPr txBox="1"/>
          <p:nvPr/>
        </p:nvSpPr>
        <p:spPr>
          <a:xfrm>
            <a:off x="5268646" y="6578785"/>
            <a:ext cx="60975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https://legacyfileshare.elsevier.com/promis_misc/XKME_TRIPOD_Guidelines_moreinfo.pdf</a:t>
            </a:r>
            <a:endParaRPr/>
          </a:p>
        </p:txBody>
      </p:sp>
      <p:sp>
        <p:nvSpPr>
          <p:cNvPr id="326" name="Google Shape;326;p20"/>
          <p:cNvSpPr txBox="1"/>
          <p:nvPr/>
        </p:nvSpPr>
        <p:spPr>
          <a:xfrm>
            <a:off x="72706" y="1713684"/>
            <a:ext cx="5136600" cy="42483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Background of a prediction study and state of science</a:t>
            </a:r>
            <a:endParaRPr sz="1000">
              <a:solidFill>
                <a:schemeClr val="dk1"/>
              </a:solidFill>
              <a:latin typeface="Arial"/>
              <a:ea typeface="Arial"/>
              <a:cs typeface="Arial"/>
              <a:sym typeface="Arial"/>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is the intended use of the prediction model?</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needs to be predicted, in whom, how and for what purpose (why)?</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prediction model is currently used in practice?</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is known about the predictors?</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Is the study a development or validation study, or both?</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Methodology</a:t>
            </a:r>
            <a:endParaRPr sz="1000">
              <a:solidFill>
                <a:schemeClr val="dk1"/>
              </a:solidFill>
              <a:latin typeface="Arial"/>
              <a:ea typeface="Arial"/>
              <a:cs typeface="Arial"/>
              <a:sym typeface="Arial"/>
            </a:endParaRPr>
          </a:p>
          <a:p>
            <a:pPr indent="0" lvl="0" marL="0" marR="0" rtl="0" algn="l">
              <a:spcBef>
                <a:spcPts val="0"/>
              </a:spcBef>
              <a:spcAft>
                <a:spcPts val="0"/>
              </a:spcAft>
              <a:buNone/>
            </a:pPr>
            <a:r>
              <a:rPr lang="en-US" sz="1000">
                <a:solidFill>
                  <a:schemeClr val="dk1"/>
                </a:solidFill>
                <a:latin typeface="Arial"/>
                <a:ea typeface="Arial"/>
                <a:cs typeface="Arial"/>
                <a:sym typeface="Arial"/>
              </a:rPr>
              <a:t>            Is the study conducted in a sample of the target population?</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Is the study design representative for the health care scenario?</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Are the setting, location and dates (still) relevant?</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Is the sample size / statistical power sufficient for the aim of the study?</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Are the outcome and risk period clinically relevant?</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Are all relevant predictors available?</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Does the statistical model fit the data?</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How are missing data and outliers handled? Are variables (re)coded in a meaningful way?</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method is used for reducing the number of variables in the model?</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Assessment of prediction models</a:t>
            </a:r>
            <a:endParaRPr sz="1000">
              <a:solidFill>
                <a:schemeClr val="dk1"/>
              </a:solidFill>
              <a:latin typeface="Arial"/>
              <a:ea typeface="Arial"/>
              <a:cs typeface="Arial"/>
              <a:sym typeface="Arial"/>
            </a:endParaRPr>
          </a:p>
          <a:p>
            <a:pPr indent="0" lvl="0" marL="0" marR="0" rtl="0" algn="l">
              <a:spcBef>
                <a:spcPts val="0"/>
              </a:spcBef>
              <a:spcAft>
                <a:spcPts val="0"/>
              </a:spcAft>
              <a:buNone/>
            </a:pPr>
            <a:r>
              <a:rPr lang="en-US" sz="1000">
                <a:solidFill>
                  <a:schemeClr val="dk1"/>
                </a:solidFill>
                <a:latin typeface="Arial"/>
                <a:ea typeface="Arial"/>
                <a:cs typeface="Arial"/>
                <a:sym typeface="Arial"/>
              </a:rPr>
              <a:t>            How well does the model fit the data?</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is the predictive ability of the model?</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is the discriminative accuracy of the model?</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Validation of prediction models</a:t>
            </a:r>
            <a:endParaRPr sz="1000">
              <a:solidFill>
                <a:schemeClr val="dk1"/>
              </a:solidFill>
              <a:latin typeface="Arial"/>
              <a:ea typeface="Arial"/>
              <a:cs typeface="Arial"/>
              <a:sym typeface="Arial"/>
            </a:endParaRPr>
          </a:p>
          <a:p>
            <a:pPr indent="0" lvl="0" marL="0" marR="0" rtl="0" algn="l">
              <a:spcBef>
                <a:spcPts val="0"/>
              </a:spcBef>
              <a:spcAft>
                <a:spcPts val="0"/>
              </a:spcAft>
              <a:buNone/>
            </a:pPr>
            <a:r>
              <a:rPr lang="en-US" sz="1000">
                <a:solidFill>
                  <a:schemeClr val="dk1"/>
                </a:solidFill>
                <a:latin typeface="Arial"/>
                <a:ea typeface="Arial"/>
                <a:cs typeface="Arial"/>
                <a:sym typeface="Arial"/>
              </a:rPr>
              <a:t>            How is the prediction model validated?</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What is the model fit and performance in the validation study?</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Assessment of clinical utility</a:t>
            </a:r>
            <a:endParaRPr sz="1000">
              <a:solidFill>
                <a:schemeClr val="dk1"/>
              </a:solidFill>
              <a:latin typeface="Arial"/>
              <a:ea typeface="Arial"/>
              <a:cs typeface="Arial"/>
              <a:sym typeface="Arial"/>
            </a:endParaRPr>
          </a:p>
          <a:p>
            <a:pPr indent="0" lvl="0" marL="0" marR="0" rtl="0" algn="l">
              <a:spcBef>
                <a:spcPts val="0"/>
              </a:spcBef>
              <a:spcAft>
                <a:spcPts val="0"/>
              </a:spcAft>
              <a:buNone/>
            </a:pPr>
            <a:r>
              <a:rPr lang="en-US" sz="1000">
                <a:solidFill>
                  <a:schemeClr val="dk1"/>
                </a:solidFill>
                <a:latin typeface="Arial"/>
                <a:ea typeface="Arial"/>
                <a:cs typeface="Arial"/>
                <a:sym typeface="Arial"/>
              </a:rPr>
              <a:t>            How are risk thresholds chosen?</a:t>
            </a:r>
            <a:endParaRPr/>
          </a:p>
          <a:p>
            <a:pPr indent="0" lvl="0" marL="0" marR="0" rtl="0" algn="l">
              <a:spcBef>
                <a:spcPts val="0"/>
              </a:spcBef>
              <a:spcAft>
                <a:spcPts val="0"/>
              </a:spcAft>
              <a:buNone/>
            </a:pPr>
            <a:r>
              <a:rPr lang="en-US" sz="1000">
                <a:solidFill>
                  <a:schemeClr val="dk1"/>
                </a:solidFill>
                <a:latin typeface="Arial"/>
                <a:ea typeface="Arial"/>
                <a:cs typeface="Arial"/>
                <a:sym typeface="Arial"/>
              </a:rPr>
              <a:t>            Does the use of the prediction model change medical decision making?</a:t>
            </a:r>
            <a:endParaRPr/>
          </a:p>
        </p:txBody>
      </p:sp>
      <p:sp>
        <p:nvSpPr>
          <p:cNvPr id="327" name="Google Shape;327;p20"/>
          <p:cNvSpPr txBox="1"/>
          <p:nvPr/>
        </p:nvSpPr>
        <p:spPr>
          <a:xfrm>
            <a:off x="121146" y="5950642"/>
            <a:ext cx="49998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1" lang="en-US">
                <a:solidFill>
                  <a:schemeClr val="dk1"/>
                </a:solidFill>
                <a:latin typeface="Arial"/>
                <a:ea typeface="Arial"/>
                <a:cs typeface="Arial"/>
                <a:sym typeface="Arial"/>
              </a:rPr>
              <a:t>HACER PICOTS: </a:t>
            </a:r>
            <a:r>
              <a:rPr lang="en-US">
                <a:solidFill>
                  <a:schemeClr val="dk1"/>
                </a:solidFill>
                <a:latin typeface="Arial"/>
                <a:ea typeface="Arial"/>
                <a:cs typeface="Arial"/>
                <a:sym typeface="Arial"/>
              </a:rPr>
              <a:t>PICOTS (Population, Index model, Comparator model, Outcome, Timing, Setting, and intended use of the prediction model) criteria</a:t>
            </a: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9"/>
          <p:cNvSpPr txBox="1"/>
          <p:nvPr>
            <p:ph type="title"/>
          </p:nvPr>
        </p:nvSpPr>
        <p:spPr>
          <a:xfrm>
            <a:off x="819785" y="36829"/>
            <a:ext cx="462788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solidFill>
                  <a:srgbClr val="FF0000"/>
                </a:solidFill>
              </a:rPr>
              <a:t>Desafíos y </a:t>
            </a:r>
            <a:br>
              <a:rPr b="1" lang="en-US">
                <a:solidFill>
                  <a:srgbClr val="FF0000"/>
                </a:solidFill>
              </a:rPr>
            </a:br>
            <a:r>
              <a:rPr b="1" lang="en-US">
                <a:solidFill>
                  <a:srgbClr val="FF0000"/>
                </a:solidFill>
              </a:rPr>
              <a:t>Calendarización</a:t>
            </a:r>
            <a:endParaRPr b="1">
              <a:solidFill>
                <a:srgbClr val="FF0000"/>
              </a:solidFill>
            </a:endParaRPr>
          </a:p>
        </p:txBody>
      </p:sp>
      <p:sp>
        <p:nvSpPr>
          <p:cNvPr id="333" name="Google Shape;333;p19"/>
          <p:cNvSpPr txBox="1"/>
          <p:nvPr>
            <p:ph idx="1" type="body"/>
          </p:nvPr>
        </p:nvSpPr>
        <p:spPr>
          <a:xfrm>
            <a:off x="247650" y="1524000"/>
            <a:ext cx="5499900" cy="5139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Courier New"/>
              <a:buChar char="o"/>
            </a:pPr>
            <a:r>
              <a:rPr lang="en-US" sz="2400"/>
              <a:t>Actualizar la tesis con el paper 1</a:t>
            </a:r>
            <a:endParaRPr/>
          </a:p>
          <a:p>
            <a:pPr indent="-228600" lvl="1" marL="685800" rtl="0" algn="l">
              <a:lnSpc>
                <a:spcPct val="90000"/>
              </a:lnSpc>
              <a:spcBef>
                <a:spcPts val="500"/>
              </a:spcBef>
              <a:spcAft>
                <a:spcPts val="0"/>
              </a:spcAft>
              <a:buClr>
                <a:schemeClr val="dk1"/>
              </a:buClr>
              <a:buSzPts val="2000"/>
              <a:buFont typeface="Courier New"/>
              <a:buChar char="o"/>
            </a:pPr>
            <a:r>
              <a:rPr lang="en-US" sz="2000"/>
              <a:t>Ver predictors que agregué</a:t>
            </a:r>
            <a:endParaRPr sz="2000"/>
          </a:p>
          <a:p>
            <a:pPr indent="-228600" lvl="1" marL="685800" rtl="0" algn="l">
              <a:lnSpc>
                <a:spcPct val="90000"/>
              </a:lnSpc>
              <a:spcBef>
                <a:spcPts val="500"/>
              </a:spcBef>
              <a:spcAft>
                <a:spcPts val="0"/>
              </a:spcAft>
              <a:buClr>
                <a:schemeClr val="dk1"/>
              </a:buClr>
              <a:buSzPts val="2000"/>
              <a:buFont typeface="Courier New"/>
              <a:buChar char="o"/>
            </a:pPr>
            <a:r>
              <a:rPr lang="en-US" sz="2000"/>
              <a:t>Ver estratificaciones que no hice</a:t>
            </a:r>
            <a:endParaRPr sz="2000"/>
          </a:p>
          <a:p>
            <a:pPr indent="-228600" lvl="1" marL="685800" rtl="0" algn="l">
              <a:lnSpc>
                <a:spcPct val="90000"/>
              </a:lnSpc>
              <a:spcBef>
                <a:spcPts val="500"/>
              </a:spcBef>
              <a:spcAft>
                <a:spcPts val="0"/>
              </a:spcAft>
              <a:buClr>
                <a:schemeClr val="dk1"/>
              </a:buClr>
              <a:buSzPts val="2000"/>
              <a:buFont typeface="Courier New"/>
              <a:buChar char="o"/>
            </a:pPr>
            <a:r>
              <a:rPr lang="en-US" sz="2000"/>
              <a:t>Añadir imputación de datos, lógica, parámetros, etc., por qué es bueno para predicción, vars. descartadas, etc.</a:t>
            </a:r>
            <a:endParaRPr/>
          </a:p>
          <a:p>
            <a:pPr indent="-228600" lvl="1" marL="685800" rtl="0" algn="l">
              <a:lnSpc>
                <a:spcPct val="90000"/>
              </a:lnSpc>
              <a:spcBef>
                <a:spcPts val="500"/>
              </a:spcBef>
              <a:spcAft>
                <a:spcPts val="0"/>
              </a:spcAft>
              <a:buClr>
                <a:schemeClr val="dk1"/>
              </a:buClr>
              <a:buSzPts val="2000"/>
              <a:buFont typeface="Courier New"/>
              <a:buChar char="o"/>
            </a:pPr>
            <a:r>
              <a:rPr lang="en-US" sz="2000"/>
              <a:t>Para el modelo cox:</a:t>
            </a:r>
            <a:endParaRPr/>
          </a:p>
          <a:p>
            <a:pPr indent="-228600" lvl="2" marL="1143000" rtl="0" algn="l">
              <a:lnSpc>
                <a:spcPct val="90000"/>
              </a:lnSpc>
              <a:spcBef>
                <a:spcPts val="500"/>
              </a:spcBef>
              <a:spcAft>
                <a:spcPts val="0"/>
              </a:spcAft>
              <a:buClr>
                <a:schemeClr val="dk1"/>
              </a:buClr>
              <a:buSzPts val="1800"/>
              <a:buFont typeface="Courier New"/>
              <a:buChar char="o"/>
            </a:pPr>
            <a:r>
              <a:rPr lang="en-US" sz="1800"/>
              <a:t>Hacer validación externa 70/30 (Data was split as 80% for training and 20% for validation.)</a:t>
            </a:r>
            <a:endParaRPr/>
          </a:p>
          <a:p>
            <a:pPr indent="-228600" lvl="3" marL="1600200" rtl="0" algn="l">
              <a:lnSpc>
                <a:spcPct val="90000"/>
              </a:lnSpc>
              <a:spcBef>
                <a:spcPts val="500"/>
              </a:spcBef>
              <a:spcAft>
                <a:spcPts val="0"/>
              </a:spcAft>
              <a:buClr>
                <a:schemeClr val="dk1"/>
              </a:buClr>
              <a:buSzPts val="1600"/>
              <a:buFont typeface="Courier New"/>
              <a:buChar char="o"/>
            </a:pPr>
            <a:r>
              <a:rPr lang="en-US" sz="1600"/>
              <a:t>Considerar eventos CRxPlan</a:t>
            </a:r>
            <a:endParaRPr sz="1600"/>
          </a:p>
          <a:p>
            <a:pPr indent="-228600" lvl="0" marL="228600" rtl="0" algn="l">
              <a:lnSpc>
                <a:spcPct val="90000"/>
              </a:lnSpc>
              <a:spcBef>
                <a:spcPts val="1000"/>
              </a:spcBef>
              <a:spcAft>
                <a:spcPts val="0"/>
              </a:spcAft>
              <a:buClr>
                <a:schemeClr val="dk1"/>
              </a:buClr>
              <a:buSzPts val="2400"/>
              <a:buFont typeface="Courier New"/>
              <a:buChar char="o"/>
            </a:pPr>
            <a:r>
              <a:rPr lang="en-US" sz="2400"/>
              <a:t>Modelo xgboost: explicarlo</a:t>
            </a:r>
            <a:endParaRPr sz="2400"/>
          </a:p>
          <a:p>
            <a:pPr indent="-228600" lvl="0" marL="228600" rtl="0" algn="l">
              <a:lnSpc>
                <a:spcPct val="90000"/>
              </a:lnSpc>
              <a:spcBef>
                <a:spcPts val="1000"/>
              </a:spcBef>
              <a:spcAft>
                <a:spcPts val="0"/>
              </a:spcAft>
              <a:buClr>
                <a:schemeClr val="dk1"/>
              </a:buClr>
              <a:buSzPts val="2400"/>
              <a:buFont typeface="Courier New"/>
              <a:buChar char="o"/>
            </a:pPr>
            <a:r>
              <a:rPr lang="en-US" sz="2400"/>
              <a:t>Modelo Deep Hit: explicarlo</a:t>
            </a:r>
            <a:endParaRPr sz="2400"/>
          </a:p>
        </p:txBody>
      </p:sp>
      <p:graphicFrame>
        <p:nvGraphicFramePr>
          <p:cNvPr id="334" name="Google Shape;334;p19"/>
          <p:cNvGraphicFramePr/>
          <p:nvPr/>
        </p:nvGraphicFramePr>
        <p:xfrm>
          <a:off x="5913903" y="225803"/>
          <a:ext cx="3000000" cy="3000000"/>
        </p:xfrm>
        <a:graphic>
          <a:graphicData uri="http://schemas.openxmlformats.org/drawingml/2006/table">
            <a:tbl>
              <a:tblPr>
                <a:noFill/>
                <a:tableStyleId>{F1669FD7-B0F3-41A0-B53D-9F496732C592}</a:tableStyleId>
              </a:tblPr>
              <a:tblGrid>
                <a:gridCol w="438050"/>
                <a:gridCol w="1119475"/>
                <a:gridCol w="438050"/>
                <a:gridCol w="438050"/>
                <a:gridCol w="438050"/>
                <a:gridCol w="438050"/>
                <a:gridCol w="438050"/>
                <a:gridCol w="438050"/>
                <a:gridCol w="438050"/>
                <a:gridCol w="438050"/>
                <a:gridCol w="438050"/>
              </a:tblGrid>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gridSpan="4">
                  <a:txBody>
                    <a:bodyPr/>
                    <a:lstStyle/>
                    <a:p>
                      <a:pPr indent="0" lvl="0" marL="0" marR="0" rtl="0" algn="ctr">
                        <a:spcBef>
                          <a:spcPts val="0"/>
                        </a:spcBef>
                        <a:spcAft>
                          <a:spcPts val="0"/>
                        </a:spcAft>
                        <a:buClr>
                          <a:schemeClr val="dk1"/>
                        </a:buClr>
                        <a:buSzPts val="900"/>
                        <a:buFont typeface="Arial"/>
                        <a:buNone/>
                      </a:pPr>
                      <a:r>
                        <a:rPr b="1" lang="en-US" sz="900" u="none" cap="none" strike="noStrike"/>
                        <a:t>Febrero</a:t>
                      </a:r>
                      <a:endParaRPr b="1" i="0" sz="900" u="none" cap="none" strike="noStrike">
                        <a:solidFill>
                          <a:srgbClr val="000000"/>
                        </a:solidFill>
                        <a:latin typeface="Calibri"/>
                        <a:ea typeface="Calibri"/>
                        <a:cs typeface="Calibri"/>
                        <a:sym typeface="Calibri"/>
                      </a:endParaRPr>
                    </a:p>
                  </a:txBody>
                  <a:tcPr marT="6075" marB="0" marR="6075" marL="6075" anchor="b"/>
                </a:tc>
                <a:tc hMerge="1"/>
                <a:tc hMerge="1"/>
                <a:tc hMerge="1"/>
                <a:tc gridSpan="4">
                  <a:txBody>
                    <a:bodyPr/>
                    <a:lstStyle/>
                    <a:p>
                      <a:pPr indent="0" lvl="0" marL="0" marR="0" rtl="0" algn="ctr">
                        <a:spcBef>
                          <a:spcPts val="0"/>
                        </a:spcBef>
                        <a:spcAft>
                          <a:spcPts val="0"/>
                        </a:spcAft>
                        <a:buClr>
                          <a:schemeClr val="dk1"/>
                        </a:buClr>
                        <a:buSzPts val="900"/>
                        <a:buFont typeface="Arial"/>
                        <a:buNone/>
                      </a:pPr>
                      <a:r>
                        <a:rPr b="1" lang="en-US" sz="900" u="none" cap="none" strike="noStrike"/>
                        <a:t>Marzo</a:t>
                      </a:r>
                      <a:endParaRPr b="1" i="0" sz="900" u="none" cap="none" strike="noStrike">
                        <a:solidFill>
                          <a:srgbClr val="000000"/>
                        </a:solidFill>
                        <a:latin typeface="Calibri"/>
                        <a:ea typeface="Calibri"/>
                        <a:cs typeface="Calibri"/>
                        <a:sym typeface="Calibri"/>
                      </a:endParaRPr>
                    </a:p>
                  </a:txBody>
                  <a:tcPr marT="6075" marB="0" marR="6075" marL="6075" anchor="b"/>
                </a:tc>
                <a:tc hMerge="1"/>
                <a:tc hMerge="1"/>
                <a:tc hMerge="1"/>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2 al 8</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9 al 15</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16 al 22</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23 al 28</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2 al 8</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9 al 15</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16 al 22</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900"/>
                        <a:buFont typeface="Arial"/>
                        <a:buNone/>
                      </a:pPr>
                      <a:r>
                        <a:rPr b="1" lang="en-US" sz="900" u="none" cap="none" strike="noStrike"/>
                        <a:t>23 al 29</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lnB cap="flat" cmpd="sng" w="12700">
                      <a:solidFill>
                        <a:schemeClr val="dk1"/>
                      </a:solidFill>
                      <a:prstDash val="solid"/>
                      <a:round/>
                      <a:headEnd len="sm" w="sm" type="none"/>
                      <a:tailEnd len="sm" w="sm" type="none"/>
                    </a:lnB>
                  </a:tcP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Paper 2</a:t>
                      </a:r>
                      <a:endParaRPr b="1" i="0" sz="900" u="none" cap="none" strike="noStrike">
                        <a:solidFill>
                          <a:srgbClr val="000000"/>
                        </a:solidFill>
                        <a:latin typeface="Calibri"/>
                        <a:ea typeface="Calibri"/>
                        <a:cs typeface="Calibri"/>
                        <a:sym typeface="Calibri"/>
                      </a:endParaRPr>
                    </a:p>
                  </a:txBody>
                  <a:tcPr marT="6075" marB="0" marR="6075" marL="6075" anchor="b">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lnT cap="flat" cmpd="sng" w="12700">
                      <a:solidFill>
                        <a:schemeClr val="dk1"/>
                      </a:solidFill>
                      <a:prstDash val="solid"/>
                      <a:round/>
                      <a:headEnd len="sm" w="sm" type="none"/>
                      <a:tailEnd len="sm" w="sm" type="none"/>
                    </a:lnT>
                  </a:tcPr>
                </a:tc>
              </a:tr>
              <a:tr h="114300">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Hacer BPMN</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Esquematizar modelos</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Poner a prueba</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Discriminación</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Calibración</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Net benefit</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Best subset</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Análisis</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r>
                        <a:rPr lang="en-US" sz="900"/>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r>
                        <a:rPr lang="en-US" sz="900"/>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DCA</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r>
                        <a:rPr lang="en-US" sz="900"/>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Escribir paper 2</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r>
              <a:tr h="2729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Enviar paper 2 a coautores</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Prep avance 2</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Presentación avance 2</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x</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272925">
                <a:tc>
                  <a:txBody>
                    <a:bodyPr/>
                    <a:lstStyle/>
                    <a:p>
                      <a:pPr indent="0" lvl="0" marL="0" marR="0" rtl="0" algn="l">
                        <a:spcBef>
                          <a:spcPts val="0"/>
                        </a:spcBef>
                        <a:spcAft>
                          <a:spcPts val="0"/>
                        </a:spcAft>
                        <a:buClr>
                          <a:schemeClr val="dk1"/>
                        </a:buClr>
                        <a:buSzPts val="900"/>
                        <a:buFont typeface="Arial"/>
                        <a:buNone/>
                      </a:pPr>
                      <a:r>
                        <a:rPr b="1" lang="en-US" sz="900" u="none" cap="none" strike="noStrike"/>
                        <a:t>tesis</a:t>
                      </a:r>
                      <a:endParaRPr b="1"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r h="139425">
                <a:tc>
                  <a:txBody>
                    <a:bodyPr/>
                    <a:lstStyle/>
                    <a:p>
                      <a:pPr indent="0" lvl="0" marL="0" marR="0" rtl="0" algn="l">
                        <a:spcBef>
                          <a:spcPts val="0"/>
                        </a:spcBef>
                        <a:spcAft>
                          <a:spcPts val="0"/>
                        </a:spcAft>
                        <a:buClr>
                          <a:schemeClr val="dk1"/>
                        </a:buClr>
                        <a:buSzPts val="900"/>
                        <a:buFont typeface="Arial"/>
                        <a:buNone/>
                      </a:pPr>
                      <a:r>
                        <a:rPr b="1" lang="en-US" sz="900" u="none" cap="none" strike="noStrike"/>
                        <a:t> </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l">
                        <a:spcBef>
                          <a:spcPts val="0"/>
                        </a:spcBef>
                        <a:spcAft>
                          <a:spcPts val="0"/>
                        </a:spcAft>
                        <a:buClr>
                          <a:schemeClr val="dk1"/>
                        </a:buClr>
                        <a:buSzPts val="900"/>
                        <a:buFont typeface="Arial"/>
                        <a:buNone/>
                      </a:pPr>
                      <a:r>
                        <a:rPr b="1" lang="en-US" sz="900" u="none" cap="none" strike="noStrike"/>
                        <a:t>Discusión integrada</a:t>
                      </a:r>
                      <a:endParaRPr b="1" i="0" sz="900" u="none" cap="none" strike="noStrike">
                        <a:solidFill>
                          <a:srgbClr val="000000"/>
                        </a:solidFill>
                        <a:latin typeface="Calibri"/>
                        <a:ea typeface="Calibri"/>
                        <a:cs typeface="Calibri"/>
                        <a:sym typeface="Calibri"/>
                      </a:endParaRPr>
                    </a:p>
                  </a:txBody>
                  <a:tcPr marT="6075" marB="0" marR="6075" marL="6075" anchor="b"/>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c>
                  <a:txBody>
                    <a:bodyPr/>
                    <a:lstStyle/>
                    <a:p>
                      <a:pPr indent="0" lvl="0" marL="0" marR="0" rtl="0" algn="ctr">
                        <a:spcBef>
                          <a:spcPts val="0"/>
                        </a:spcBef>
                        <a:spcAft>
                          <a:spcPts val="0"/>
                        </a:spcAft>
                        <a:buClr>
                          <a:schemeClr val="dk1"/>
                        </a:buClr>
                        <a:buSzPts val="900"/>
                        <a:buFont typeface="Arial"/>
                        <a:buNone/>
                      </a:pPr>
                      <a:r>
                        <a:rPr lang="en-US" sz="900" u="none" cap="none" strike="noStrike"/>
                        <a:t> </a:t>
                      </a:r>
                      <a:endParaRPr b="0" i="0" sz="900" u="none" cap="none" strike="noStrike">
                        <a:solidFill>
                          <a:srgbClr val="000000"/>
                        </a:solidFill>
                        <a:latin typeface="Calibri"/>
                        <a:ea typeface="Calibri"/>
                        <a:cs typeface="Calibri"/>
                        <a:sym typeface="Calibri"/>
                      </a:endParaRPr>
                    </a:p>
                  </a:txBody>
                  <a:tcPr marT="6075" marB="0" marR="6075" marL="6075" anchor="ctr"/>
                </a:tc>
              </a:tr>
            </a:tbl>
          </a:graphicData>
        </a:graphic>
      </p:graphicFrame>
      <p:sp>
        <p:nvSpPr>
          <p:cNvPr id="335" name="Google Shape;335;p19"/>
          <p:cNvSpPr txBox="1"/>
          <p:nvPr/>
        </p:nvSpPr>
        <p:spPr>
          <a:xfrm>
            <a:off x="5747550" y="3632850"/>
            <a:ext cx="6444600" cy="3324600"/>
          </a:xfrm>
          <a:prstGeom prst="rect">
            <a:avLst/>
          </a:prstGeom>
          <a:noFill/>
          <a:ln>
            <a:noFill/>
          </a:ln>
        </p:spPr>
        <p:txBody>
          <a:bodyPr anchorCtr="0" anchor="t" bIns="45700" lIns="91425" spcFirstLastPara="1" rIns="91425" wrap="square" tIns="45700">
            <a:spAutoFit/>
          </a:bodyPr>
          <a:lstStyle/>
          <a:p>
            <a:pPr indent="-266700" lvl="0" marL="285750" marR="0" rtl="0" algn="l">
              <a:spcBef>
                <a:spcPts val="0"/>
              </a:spcBef>
              <a:spcAft>
                <a:spcPts val="0"/>
              </a:spcAft>
              <a:buClr>
                <a:schemeClr val="dk1"/>
              </a:buClr>
              <a:buSzPts val="1500"/>
              <a:buFont typeface="Arial"/>
              <a:buChar char="-"/>
            </a:pPr>
            <a:r>
              <a:rPr lang="en-US" sz="1500">
                <a:solidFill>
                  <a:schemeClr val="dk1"/>
                </a:solidFill>
                <a:latin typeface="Arial"/>
                <a:ea typeface="Arial"/>
                <a:cs typeface="Arial"/>
                <a:sym typeface="Arial"/>
              </a:rPr>
              <a:t>Generar el modelo cox alternativo</a:t>
            </a:r>
            <a:endParaRPr sz="1100"/>
          </a:p>
          <a:p>
            <a:pPr indent="-266700" lvl="1" marL="742950" marR="0" rtl="0" algn="l">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Validación 70/30 o 80/20 (buscar literature)</a:t>
            </a:r>
            <a:endParaRPr sz="1100"/>
          </a:p>
          <a:p>
            <a:pPr indent="-266700" lvl="1" marL="742950" marR="0" rtl="0" algn="l">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Balanceado CR x Plan (ver si eso conviene)</a:t>
            </a:r>
            <a:endParaRPr sz="1100"/>
          </a:p>
          <a:p>
            <a:pPr indent="-266700" lvl="0" marL="285750" marR="0" rtl="0" algn="l">
              <a:spcBef>
                <a:spcPts val="0"/>
              </a:spcBef>
              <a:spcAft>
                <a:spcPts val="0"/>
              </a:spcAft>
              <a:buClr>
                <a:schemeClr val="dk1"/>
              </a:buClr>
              <a:buSzPts val="1500"/>
              <a:buFont typeface="Arial"/>
              <a:buChar char="-"/>
            </a:pPr>
            <a:r>
              <a:rPr lang="en-US" sz="1500">
                <a:solidFill>
                  <a:schemeClr val="dk1"/>
                </a:solidFill>
                <a:latin typeface="Arial"/>
                <a:ea typeface="Arial"/>
                <a:cs typeface="Arial"/>
                <a:sym typeface="Arial"/>
              </a:rPr>
              <a:t>Usando modelo de Andersen, interpreter qué variables son importantes y predominan en cada resultado de tto.</a:t>
            </a:r>
            <a:endParaRPr sz="1500">
              <a:solidFill>
                <a:schemeClr val="dk1"/>
              </a:solidFill>
            </a:endParaRPr>
          </a:p>
          <a:p>
            <a:pPr indent="-266700" lvl="0" marL="285750" marR="0" rtl="0" algn="l">
              <a:spcBef>
                <a:spcPts val="0"/>
              </a:spcBef>
              <a:spcAft>
                <a:spcPts val="0"/>
              </a:spcAft>
              <a:buClr>
                <a:schemeClr val="dk1"/>
              </a:buClr>
              <a:buSzPts val="1500"/>
              <a:buChar char="-"/>
            </a:pPr>
            <a:r>
              <a:rPr lang="en-US" sz="1500">
                <a:solidFill>
                  <a:schemeClr val="dk1"/>
                </a:solidFill>
              </a:rPr>
              <a:t>Cuidado con los predictores ordinales. Tal vez los modelos no los toman bien</a:t>
            </a:r>
            <a:endParaRPr sz="1500">
              <a:solidFill>
                <a:schemeClr val="dk1"/>
              </a:solidFill>
            </a:endParaRPr>
          </a:p>
          <a:p>
            <a:pPr indent="-266700" lvl="0" marL="285750" marR="0" rtl="0" algn="l">
              <a:spcBef>
                <a:spcPts val="0"/>
              </a:spcBef>
              <a:spcAft>
                <a:spcPts val="0"/>
              </a:spcAft>
              <a:buClr>
                <a:schemeClr val="dk1"/>
              </a:buClr>
              <a:buSzPts val="1500"/>
              <a:buChar char="-"/>
            </a:pPr>
            <a:r>
              <a:rPr lang="en-US" sz="1500">
                <a:solidFill>
                  <a:schemeClr val="dk1"/>
                </a:solidFill>
              </a:rPr>
              <a:t>Modelo desarrollado en cohorte A</a:t>
            </a:r>
            <a:endParaRPr sz="1500">
              <a:solidFill>
                <a:schemeClr val="dk1"/>
              </a:solidFill>
            </a:endParaRPr>
          </a:p>
          <a:p>
            <a:pPr indent="-266700" lvl="0" marL="285750" marR="0" rtl="0" algn="l">
              <a:spcBef>
                <a:spcPts val="0"/>
              </a:spcBef>
              <a:spcAft>
                <a:spcPts val="0"/>
              </a:spcAft>
              <a:buClr>
                <a:schemeClr val="dk1"/>
              </a:buClr>
              <a:buSzPts val="1500"/>
              <a:buChar char="-"/>
            </a:pPr>
            <a:r>
              <a:rPr lang="en-US" sz="1500">
                <a:solidFill>
                  <a:schemeClr val="dk1"/>
                </a:solidFill>
              </a:rPr>
              <a:t>Evaluación (calibración + DCA) en cohorte B</a:t>
            </a:r>
            <a:endParaRPr sz="1500">
              <a:solidFill>
                <a:schemeClr val="dk1"/>
              </a:solidFill>
            </a:endParaRPr>
          </a:p>
          <a:p>
            <a:pPr indent="-266700" lvl="0" marL="285750" marR="0" rtl="0" algn="l">
              <a:spcBef>
                <a:spcPts val="0"/>
              </a:spcBef>
              <a:spcAft>
                <a:spcPts val="0"/>
              </a:spcAft>
              <a:buClr>
                <a:schemeClr val="dk1"/>
              </a:buClr>
              <a:buSzPts val="1500"/>
              <a:buChar char="-"/>
            </a:pPr>
            <a:r>
              <a:rPr b="1" lang="en-US" sz="1500">
                <a:solidFill>
                  <a:schemeClr val="dk1"/>
                </a:solidFill>
              </a:rPr>
              <a:t>Recalibración en B </a:t>
            </a:r>
            <a:r>
              <a:rPr lang="en-US" sz="1500">
                <a:solidFill>
                  <a:schemeClr val="dk1"/>
                </a:solidFill>
              </a:rPr>
              <a:t>si es necesario (en train) ; DCA reportado en B</a:t>
            </a:r>
            <a:endParaRPr sz="1500">
              <a:solidFill>
                <a:schemeClr val="dk1"/>
              </a:solidFill>
            </a:endParaRPr>
          </a:p>
          <a:p>
            <a:pPr indent="-266700" lvl="0" marL="285750" marR="0" rtl="0" algn="l">
              <a:spcBef>
                <a:spcPts val="0"/>
              </a:spcBef>
              <a:spcAft>
                <a:spcPts val="0"/>
              </a:spcAft>
              <a:buClr>
                <a:schemeClr val="dk1"/>
              </a:buClr>
              <a:buSzPts val="1500"/>
              <a:buChar char="-"/>
            </a:pPr>
            <a:r>
              <a:rPr lang="en-US" sz="1500">
                <a:solidFill>
                  <a:schemeClr val="dk1"/>
                </a:solidFill>
              </a:rPr>
              <a:t>calibration slope [van Houwelingen] (we suggest prediction model is re-calibrated to the validation data before calculation of R2 PM to ensure that the survival times in validation data are used) (</a:t>
            </a:r>
            <a:r>
              <a:rPr lang="en-US" sz="1500" u="sng">
                <a:solidFill>
                  <a:schemeClr val="hlink"/>
                </a:solidFill>
                <a:hlinkClick r:id="rId3"/>
              </a:rPr>
              <a:t>https://link.springer.com/article/10.1186/s12874-017-0336-2</a:t>
            </a:r>
            <a:r>
              <a:rPr lang="en-US" sz="1500">
                <a:solidFill>
                  <a:schemeClr val="dk1"/>
                </a:solidFill>
              </a:rPr>
              <a:t>)</a:t>
            </a:r>
            <a:endParaRPr sz="15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ca7cb1e846_0_0"/>
          <p:cNvSpPr txBox="1"/>
          <p:nvPr/>
        </p:nvSpPr>
        <p:spPr>
          <a:xfrm>
            <a:off x="819775" y="1935900"/>
            <a:ext cx="96516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en base a lo que me indicas, que hice CV-SHAP, cómo explico cómo hice el feature selection?, parezco haberlo hecho en los datos de entrenamiento ? pero no entiendo muy bien CV entonces... porque me parece que están como entrelazados (ej., en un k- entrenamiento es prueba y viceversa, no?), entonces no sé si mi esquema puede separar bien lo que se hace arriba de lo que se hace abajo (ya cuando tengo los features candidatos para el modelo augmented/mejorado)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exportar a _out/</a:t>
            </a:r>
            <a:endParaRPr/>
          </a:p>
          <a:p>
            <a:pPr indent="0" lvl="0" marL="0" rtl="0" algn="l">
              <a:spcBef>
                <a:spcPts val="0"/>
              </a:spcBef>
              <a:spcAft>
                <a:spcPts val="0"/>
              </a:spcAft>
              <a:buNone/>
            </a:pPr>
            <a:r>
              <a:rPr lang="en-US"/>
              <a:t>2.- corregir from discharge</a:t>
            </a:r>
            <a:endParaRPr/>
          </a:p>
          <a:p>
            <a:pPr indent="0" lvl="0" marL="0" rtl="0" algn="l">
              <a:spcBef>
                <a:spcPts val="0"/>
              </a:spcBef>
              <a:spcAft>
                <a:spcPts val="0"/>
              </a:spcAft>
              <a:buNone/>
            </a:pPr>
            <a:r>
              <a:rPr lang="en-US"/>
              <a:t>3.- poner el display de las bases</a:t>
            </a:r>
            <a:endParaRPr/>
          </a:p>
          <a:p>
            <a:pPr indent="0" lvl="0" marL="0" rtl="0" algn="l">
              <a:spcBef>
                <a:spcPts val="0"/>
              </a:spcBef>
              <a:spcAft>
                <a:spcPts val="0"/>
              </a:spcAft>
              <a:buNone/>
            </a:pPr>
            <a:r>
              <a:rPr lang="en-US"/>
              <a:t>4.- el optuna debería tener fresh start, pero tomar el hyperparameter space de la expoloración exhaustiva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Añadir que el Deep Surv queda como sensibilidad porqe el SHAP no es CV , porque no existe</a:t>
            </a:r>
            <a:endParaRPr/>
          </a:p>
        </p:txBody>
      </p:sp>
      <p:sp>
        <p:nvSpPr>
          <p:cNvPr id="342" name="Google Shape;342;g3ca7cb1e846_0_0"/>
          <p:cNvSpPr txBox="1"/>
          <p:nvPr>
            <p:ph idx="4294967295" type="title"/>
          </p:nvPr>
        </p:nvSpPr>
        <p:spPr>
          <a:xfrm>
            <a:off x="819785" y="36829"/>
            <a:ext cx="46278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solidFill>
                  <a:srgbClr val="FF0000"/>
                </a:solidFill>
              </a:rPr>
              <a:t>DUDAS</a:t>
            </a:r>
            <a:endParaRPr b="1">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942a267314_0_0"/>
          <p:cNvSpPr/>
          <p:nvPr/>
        </p:nvSpPr>
        <p:spPr>
          <a:xfrm>
            <a:off x="1607768" y="193300"/>
            <a:ext cx="362100" cy="4939800"/>
          </a:xfrm>
          <a:prstGeom prst="leftBrace">
            <a:avLst>
              <a:gd fmla="val 8333" name="adj1"/>
              <a:gd fmla="val 50000" name="adj2"/>
            </a:avLst>
          </a:prstGeom>
          <a:noFill/>
          <a:ln cap="flat" cmpd="sng" w="25400">
            <a:solidFill>
              <a:srgbClr val="505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48" name="Google Shape;348;g3942a267314_0_0"/>
          <p:cNvCxnSpPr/>
          <p:nvPr/>
        </p:nvCxnSpPr>
        <p:spPr>
          <a:xfrm>
            <a:off x="1514475" y="5222875"/>
            <a:ext cx="9982200" cy="0"/>
          </a:xfrm>
          <a:prstGeom prst="straightConnector1">
            <a:avLst/>
          </a:prstGeom>
          <a:noFill/>
          <a:ln cap="flat" cmpd="sng" w="19050">
            <a:solidFill>
              <a:srgbClr val="969696"/>
            </a:solidFill>
            <a:prstDash val="dash"/>
            <a:miter lim="800000"/>
            <a:headEnd len="sm" w="sm" type="none"/>
            <a:tailEnd len="sm" w="sm" type="none"/>
          </a:ln>
        </p:spPr>
      </p:cxnSp>
      <p:grpSp>
        <p:nvGrpSpPr>
          <p:cNvPr id="349" name="Google Shape;349;g3942a267314_0_0"/>
          <p:cNvGrpSpPr/>
          <p:nvPr/>
        </p:nvGrpSpPr>
        <p:grpSpPr>
          <a:xfrm>
            <a:off x="3231649" y="193300"/>
            <a:ext cx="3862786" cy="2077001"/>
            <a:chOff x="2074909" y="339239"/>
            <a:chExt cx="5545200" cy="3555900"/>
          </a:xfrm>
        </p:grpSpPr>
        <p:sp>
          <p:nvSpPr>
            <p:cNvPr id="350" name="Google Shape;350;g3942a267314_0_0"/>
            <p:cNvSpPr/>
            <p:nvPr/>
          </p:nvSpPr>
          <p:spPr>
            <a:xfrm>
              <a:off x="2074909" y="339239"/>
              <a:ext cx="5545200" cy="3555900"/>
            </a:xfrm>
            <a:prstGeom prst="rect">
              <a:avLst/>
            </a:prstGeom>
            <a:solidFill>
              <a:srgbClr val="FFF5C8"/>
            </a:solidFill>
            <a:ln cap="flat" cmpd="sng" w="25400">
              <a:solidFill>
                <a:srgbClr val="C8B43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C8A000"/>
                  </a:solidFill>
                  <a:latin typeface="Arial"/>
                  <a:ea typeface="Arial"/>
                  <a:cs typeface="Arial"/>
                  <a:sym typeface="Arial"/>
                </a:rPr>
                <a:t>ML </a:t>
              </a:r>
              <a:r>
                <a:rPr b="1" lang="en-US" sz="1800">
                  <a:solidFill>
                    <a:srgbClr val="C8A000"/>
                  </a:solidFill>
                </a:rPr>
                <a:t>para </a:t>
              </a:r>
              <a:endParaRPr b="1" sz="1800">
                <a:solidFill>
                  <a:srgbClr val="C8A000"/>
                </a:solidFill>
              </a:endParaRPr>
            </a:p>
            <a:p>
              <a:pPr indent="0" lvl="0" marL="0" marR="0" rtl="0" algn="l">
                <a:spcBef>
                  <a:spcPts val="0"/>
                </a:spcBef>
                <a:spcAft>
                  <a:spcPts val="0"/>
                </a:spcAft>
                <a:buNone/>
              </a:pPr>
              <a:r>
                <a:rPr b="1" lang="en-US" sz="1800">
                  <a:solidFill>
                    <a:srgbClr val="C8A000"/>
                  </a:solidFill>
                </a:rPr>
                <a:t>selección </a:t>
              </a:r>
              <a:endParaRPr b="1" sz="1800">
                <a:solidFill>
                  <a:srgbClr val="C8A000"/>
                </a:solidFill>
              </a:endParaRPr>
            </a:p>
            <a:p>
              <a:pPr indent="0" lvl="0" marL="0" marR="0" rtl="0" algn="l">
                <a:spcBef>
                  <a:spcPts val="0"/>
                </a:spcBef>
                <a:spcAft>
                  <a:spcPts val="0"/>
                </a:spcAft>
                <a:buNone/>
              </a:pPr>
              <a:r>
                <a:rPr b="1" lang="en-US" sz="1800">
                  <a:solidFill>
                    <a:srgbClr val="C8A000"/>
                  </a:solidFill>
                </a:rPr>
                <a:t>de </a:t>
              </a:r>
              <a:endParaRPr b="1" sz="1800">
                <a:solidFill>
                  <a:srgbClr val="C8A000"/>
                </a:solidFill>
              </a:endParaRPr>
            </a:p>
            <a:p>
              <a:pPr indent="0" lvl="0" marL="0" marR="0" rtl="0" algn="l">
                <a:spcBef>
                  <a:spcPts val="0"/>
                </a:spcBef>
                <a:spcAft>
                  <a:spcPts val="0"/>
                </a:spcAft>
                <a:buNone/>
              </a:pPr>
              <a:r>
                <a:rPr b="1" lang="en-US" sz="1800">
                  <a:solidFill>
                    <a:srgbClr val="C8A000"/>
                  </a:solidFill>
                </a:rPr>
                <a:t>predictores</a:t>
              </a:r>
              <a:endParaRPr sz="1800">
                <a:solidFill>
                  <a:schemeClr val="lt1"/>
                </a:solidFill>
                <a:latin typeface="Arial"/>
                <a:ea typeface="Arial"/>
                <a:cs typeface="Arial"/>
                <a:sym typeface="Arial"/>
              </a:endParaRPr>
            </a:p>
          </p:txBody>
        </p:sp>
        <p:sp>
          <p:nvSpPr>
            <p:cNvPr id="351" name="Google Shape;351;g3942a267314_0_0"/>
            <p:cNvSpPr/>
            <p:nvPr/>
          </p:nvSpPr>
          <p:spPr>
            <a:xfrm>
              <a:off x="4480057" y="427029"/>
              <a:ext cx="3071100" cy="1074900"/>
            </a:xfrm>
            <a:prstGeom prst="rect">
              <a:avLst/>
            </a:prstGeom>
            <a:solidFill>
              <a:srgbClr val="F5B4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Búsqueda de hiperparámetros + ajuste XGBoost óptimo </a:t>
              </a:r>
              <a:br>
                <a:rPr lang="en-US" sz="1000">
                  <a:solidFill>
                    <a:srgbClr val="FFFFFF"/>
                  </a:solidFill>
                </a:rPr>
              </a:br>
              <a:r>
                <a:rPr lang="en-US" sz="1000">
                  <a:solidFill>
                    <a:srgbClr val="FFFFFF"/>
                  </a:solidFill>
                </a:rPr>
                <a:t>(según C de Uno y Brier Score):</a:t>
              </a:r>
              <a:endParaRPr sz="1000">
                <a:solidFill>
                  <a:srgbClr val="FFFFFF"/>
                </a:solidFill>
              </a:endParaRPr>
            </a:p>
            <a:p>
              <a:pPr indent="0" lvl="0" marL="0" marR="0" rtl="0" algn="ctr">
                <a:spcBef>
                  <a:spcPts val="0"/>
                </a:spcBef>
                <a:spcAft>
                  <a:spcPts val="0"/>
                </a:spcAft>
                <a:buNone/>
              </a:pPr>
              <a:r>
                <a:rPr lang="en-US" sz="1000">
                  <a:solidFill>
                    <a:srgbClr val="FFFFFF"/>
                  </a:solidFill>
                </a:rPr>
                <a:t>– Algoritmo Optuna</a:t>
              </a:r>
              <a:endParaRPr sz="1000">
                <a:solidFill>
                  <a:srgbClr val="FFFFFF"/>
                </a:solidFill>
              </a:endParaRPr>
            </a:p>
          </p:txBody>
        </p:sp>
        <p:cxnSp>
          <p:nvCxnSpPr>
            <p:cNvPr id="352" name="Google Shape;352;g3942a267314_0_0"/>
            <p:cNvCxnSpPr/>
            <p:nvPr/>
          </p:nvCxnSpPr>
          <p:spPr>
            <a:xfrm>
              <a:off x="6038061" y="1561184"/>
              <a:ext cx="0" cy="381000"/>
            </a:xfrm>
            <a:prstGeom prst="straightConnector1">
              <a:avLst/>
            </a:prstGeom>
            <a:noFill/>
            <a:ln cap="flat" cmpd="sng" w="19050">
              <a:solidFill>
                <a:schemeClr val="accent1"/>
              </a:solidFill>
              <a:prstDash val="solid"/>
              <a:miter lim="800000"/>
              <a:headEnd len="sm" w="sm" type="none"/>
              <a:tailEnd len="med" w="med" type="triangle"/>
            </a:ln>
          </p:spPr>
        </p:cxnSp>
        <p:sp>
          <p:nvSpPr>
            <p:cNvPr id="353" name="Google Shape;353;g3942a267314_0_0"/>
            <p:cNvSpPr/>
            <p:nvPr/>
          </p:nvSpPr>
          <p:spPr>
            <a:xfrm>
              <a:off x="4480065" y="1958383"/>
              <a:ext cx="3071100" cy="391500"/>
            </a:xfrm>
            <a:prstGeom prst="rect">
              <a:avLst/>
            </a:prstGeom>
            <a:solidFill>
              <a:srgbClr val="F5B4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Calcular valores </a:t>
              </a:r>
              <a:r>
                <a:rPr lang="en-US" sz="1000">
                  <a:solidFill>
                    <a:srgbClr val="FFFFFF"/>
                  </a:solidFill>
                  <a:latin typeface="Arial"/>
                  <a:ea typeface="Arial"/>
                  <a:cs typeface="Arial"/>
                  <a:sym typeface="Arial"/>
                </a:rPr>
                <a:t>SHAP</a:t>
              </a:r>
              <a:endParaRPr sz="1000"/>
            </a:p>
          </p:txBody>
        </p:sp>
        <p:cxnSp>
          <p:nvCxnSpPr>
            <p:cNvPr id="354" name="Google Shape;354;g3942a267314_0_0"/>
            <p:cNvCxnSpPr/>
            <p:nvPr/>
          </p:nvCxnSpPr>
          <p:spPr>
            <a:xfrm>
              <a:off x="6038080" y="2407726"/>
              <a:ext cx="0" cy="381000"/>
            </a:xfrm>
            <a:prstGeom prst="straightConnector1">
              <a:avLst/>
            </a:prstGeom>
            <a:noFill/>
            <a:ln cap="flat" cmpd="sng" w="19050">
              <a:solidFill>
                <a:schemeClr val="accent1"/>
              </a:solidFill>
              <a:prstDash val="solid"/>
              <a:miter lim="800000"/>
              <a:headEnd len="sm" w="sm" type="none"/>
              <a:tailEnd len="med" w="med" type="triangle"/>
            </a:ln>
          </p:spPr>
        </p:cxnSp>
        <p:sp>
          <p:nvSpPr>
            <p:cNvPr id="355" name="Google Shape;355;g3942a267314_0_0"/>
            <p:cNvSpPr/>
            <p:nvPr/>
          </p:nvSpPr>
          <p:spPr>
            <a:xfrm>
              <a:off x="4480057" y="2817945"/>
              <a:ext cx="3071100" cy="972000"/>
            </a:xfrm>
            <a:prstGeom prst="rect">
              <a:avLst/>
            </a:prstGeom>
            <a:solidFill>
              <a:srgbClr val="F5B400"/>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lang="en-US" sz="900">
                  <a:solidFill>
                    <a:srgbClr val="FFFFFF"/>
                  </a:solidFill>
                </a:rPr>
                <a:t>Seleccionar los predictores más </a:t>
              </a:r>
              <a:r>
                <a:rPr lang="en-US" sz="900">
                  <a:solidFill>
                    <a:srgbClr val="FFFFFF"/>
                  </a:solidFill>
                </a:rPr>
                <a:t>influyentes</a:t>
              </a:r>
              <a:r>
                <a:rPr lang="en-US" sz="900">
                  <a:solidFill>
                    <a:srgbClr val="FFFFFF"/>
                  </a:solidFill>
                </a:rPr>
                <a:t> y consistentes</a:t>
              </a:r>
              <a:br>
                <a:rPr lang="en-US" sz="900">
                  <a:solidFill>
                    <a:srgbClr val="FFFFFF"/>
                  </a:solidFill>
                </a:rPr>
              </a:br>
              <a:r>
                <a:rPr lang="en-US" sz="900">
                  <a:solidFill>
                    <a:srgbClr val="FFFFFF"/>
                  </a:solidFill>
                </a:rPr>
                <a:t>(Detección de no-linealidad</a:t>
              </a:r>
              <a:endParaRPr sz="900">
                <a:solidFill>
                  <a:srgbClr val="FFFFFF"/>
                </a:solidFill>
              </a:endParaRPr>
            </a:p>
            <a:p>
              <a:pPr indent="0" lvl="0" marL="0" marR="0" rtl="0" algn="ctr">
                <a:lnSpc>
                  <a:spcPct val="95000"/>
                </a:lnSpc>
                <a:spcBef>
                  <a:spcPts val="0"/>
                </a:spcBef>
                <a:spcAft>
                  <a:spcPts val="0"/>
                </a:spcAft>
                <a:buNone/>
              </a:pPr>
              <a:r>
                <a:rPr lang="en-US" sz="900">
                  <a:solidFill>
                    <a:srgbClr val="FFFFFF"/>
                  </a:solidFill>
                </a:rPr>
                <a:t>e interacciones)</a:t>
              </a:r>
              <a:endParaRPr sz="900"/>
            </a:p>
          </p:txBody>
        </p:sp>
      </p:grpSp>
      <p:sp>
        <p:nvSpPr>
          <p:cNvPr id="356" name="Google Shape;356;g3942a267314_0_0"/>
          <p:cNvSpPr/>
          <p:nvPr/>
        </p:nvSpPr>
        <p:spPr>
          <a:xfrm>
            <a:off x="7231775" y="1328803"/>
            <a:ext cx="2425800" cy="9414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t>Predictores pre-establecidos</a:t>
            </a:r>
            <a:endParaRPr b="1" sz="1200">
              <a:solidFill>
                <a:srgbClr val="000000"/>
              </a:solidFill>
              <a:latin typeface="Arial"/>
              <a:ea typeface="Arial"/>
              <a:cs typeface="Arial"/>
              <a:sym typeface="Arial"/>
            </a:endParaRPr>
          </a:p>
          <a:p>
            <a:pPr indent="-279400" lvl="0" marL="285750" marR="0" rtl="0" algn="l">
              <a:spcBef>
                <a:spcPts val="0"/>
              </a:spcBef>
              <a:spcAft>
                <a:spcPts val="0"/>
              </a:spcAft>
              <a:buClr>
                <a:srgbClr val="000000"/>
              </a:buClr>
              <a:buSzPts val="1000"/>
              <a:buFont typeface="Arial"/>
              <a:buChar char="-"/>
            </a:pPr>
            <a:r>
              <a:rPr lang="en-US" sz="1000"/>
              <a:t>Días en tratamiento</a:t>
            </a:r>
            <a:endParaRPr sz="1000">
              <a:solidFill>
                <a:srgbClr val="000000"/>
              </a:solidFill>
              <a:latin typeface="Arial"/>
              <a:ea typeface="Arial"/>
              <a:cs typeface="Arial"/>
              <a:sym typeface="Arial"/>
            </a:endParaRPr>
          </a:p>
          <a:p>
            <a:pPr indent="-279400" lvl="0" marL="285750" marR="0" rtl="0" algn="l">
              <a:spcBef>
                <a:spcPts val="0"/>
              </a:spcBef>
              <a:spcAft>
                <a:spcPts val="0"/>
              </a:spcAft>
              <a:buClr>
                <a:srgbClr val="000000"/>
              </a:buClr>
              <a:buSzPts val="1000"/>
              <a:buFont typeface="Arial"/>
              <a:buChar char="-"/>
            </a:pPr>
            <a:r>
              <a:rPr lang="en-US" sz="1000"/>
              <a:t>Sust. prin. al ingreso</a:t>
            </a:r>
            <a:br>
              <a:rPr lang="en-US" sz="1000"/>
            </a:br>
            <a:r>
              <a:rPr lang="en-US" sz="1000"/>
              <a:t>. . . </a:t>
            </a:r>
            <a:endParaRPr sz="1000">
              <a:solidFill>
                <a:srgbClr val="000000"/>
              </a:solidFill>
              <a:latin typeface="Arial"/>
              <a:ea typeface="Arial"/>
              <a:cs typeface="Arial"/>
              <a:sym typeface="Arial"/>
            </a:endParaRPr>
          </a:p>
        </p:txBody>
      </p:sp>
      <p:sp>
        <p:nvSpPr>
          <p:cNvPr id="357" name="Google Shape;357;g3942a267314_0_0"/>
          <p:cNvSpPr/>
          <p:nvPr/>
        </p:nvSpPr>
        <p:spPr>
          <a:xfrm>
            <a:off x="4707140" y="3066075"/>
            <a:ext cx="4023000" cy="396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Elimina</a:t>
            </a:r>
            <a:r>
              <a:rPr b="1" lang="en-US"/>
              <a:t>c</a:t>
            </a:r>
            <a:r>
              <a:rPr b="1" lang="en-US" sz="1400">
                <a:solidFill>
                  <a:srgbClr val="000000"/>
                </a:solidFill>
                <a:latin typeface="Arial"/>
                <a:ea typeface="Arial"/>
                <a:cs typeface="Arial"/>
                <a:sym typeface="Arial"/>
              </a:rPr>
              <a:t>i</a:t>
            </a:r>
            <a:r>
              <a:rPr b="1" lang="en-US"/>
              <a:t>ó</a:t>
            </a:r>
            <a:r>
              <a:rPr b="1" lang="en-US" sz="1400">
                <a:solidFill>
                  <a:srgbClr val="000000"/>
                </a:solidFill>
                <a:latin typeface="Arial"/>
                <a:ea typeface="Arial"/>
                <a:cs typeface="Arial"/>
                <a:sym typeface="Arial"/>
              </a:rPr>
              <a:t>n de la correlación</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b="1" lang="en-US" sz="1400">
                <a:solidFill>
                  <a:srgbClr val="000000"/>
                </a:solidFill>
                <a:latin typeface="Arial"/>
                <a:ea typeface="Arial"/>
                <a:cs typeface="Arial"/>
                <a:sym typeface="Arial"/>
              </a:rPr>
              <a:t>(</a:t>
            </a:r>
            <a:r>
              <a:rPr b="1" lang="en-US"/>
              <a:t>umbrales y puntos de corte</a:t>
            </a:r>
            <a:r>
              <a:rPr b="1" lang="en-US" sz="1400">
                <a:solidFill>
                  <a:srgbClr val="000000"/>
                </a:solidFill>
                <a:latin typeface="Arial"/>
                <a:ea typeface="Arial"/>
                <a:cs typeface="Arial"/>
                <a:sym typeface="Arial"/>
              </a:rPr>
              <a:t> = 0.9 /VIF </a:t>
            </a:r>
            <a:r>
              <a:rPr b="1" lang="en-US"/>
              <a:t>&gt;=10</a:t>
            </a:r>
            <a:r>
              <a:rPr b="1" lang="en-US" sz="1400">
                <a:solidFill>
                  <a:srgbClr val="000000"/>
                </a:solidFill>
                <a:latin typeface="Arial"/>
                <a:ea typeface="Arial"/>
                <a:cs typeface="Arial"/>
                <a:sym typeface="Arial"/>
              </a:rPr>
              <a:t>)</a:t>
            </a:r>
            <a:endParaRPr/>
          </a:p>
        </p:txBody>
      </p:sp>
      <p:cxnSp>
        <p:nvCxnSpPr>
          <p:cNvPr id="358" name="Google Shape;358;g3942a267314_0_0"/>
          <p:cNvCxnSpPr>
            <a:stCxn id="359" idx="2"/>
            <a:endCxn id="357" idx="0"/>
          </p:cNvCxnSpPr>
          <p:nvPr/>
        </p:nvCxnSpPr>
        <p:spPr>
          <a:xfrm>
            <a:off x="6716700" y="2797511"/>
            <a:ext cx="1800" cy="268500"/>
          </a:xfrm>
          <a:prstGeom prst="straightConnector1">
            <a:avLst/>
          </a:prstGeom>
          <a:noFill/>
          <a:ln cap="flat" cmpd="sng" w="19050">
            <a:solidFill>
              <a:schemeClr val="accent1"/>
            </a:solidFill>
            <a:prstDash val="solid"/>
            <a:miter lim="800000"/>
            <a:headEnd len="sm" w="sm" type="none"/>
            <a:tailEnd len="med" w="med" type="triangle"/>
          </a:ln>
        </p:spPr>
      </p:cxnSp>
      <p:grpSp>
        <p:nvGrpSpPr>
          <p:cNvPr id="360" name="Google Shape;360;g3942a267314_0_0"/>
          <p:cNvGrpSpPr/>
          <p:nvPr/>
        </p:nvGrpSpPr>
        <p:grpSpPr>
          <a:xfrm>
            <a:off x="1638580" y="5133185"/>
            <a:ext cx="8940120" cy="755117"/>
            <a:chOff x="1444751" y="4858941"/>
            <a:chExt cx="8940120" cy="1636932"/>
          </a:xfrm>
        </p:grpSpPr>
        <p:sp>
          <p:nvSpPr>
            <p:cNvPr id="361" name="Google Shape;361;g3942a267314_0_0"/>
            <p:cNvSpPr/>
            <p:nvPr/>
          </p:nvSpPr>
          <p:spPr>
            <a:xfrm>
              <a:off x="1444751" y="5131068"/>
              <a:ext cx="291300" cy="1029000"/>
            </a:xfrm>
            <a:prstGeom prst="leftBrace">
              <a:avLst>
                <a:gd fmla="val 8333" name="adj1"/>
                <a:gd fmla="val 50000" name="adj2"/>
              </a:avLst>
            </a:prstGeom>
            <a:noFill/>
            <a:ln cap="flat" cmpd="sng" w="25400">
              <a:solidFill>
                <a:srgbClr val="505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nvGrpSpPr>
            <p:cNvPr id="362" name="Google Shape;362;g3942a267314_0_0"/>
            <p:cNvGrpSpPr/>
            <p:nvPr/>
          </p:nvGrpSpPr>
          <p:grpSpPr>
            <a:xfrm>
              <a:off x="2710382" y="4858941"/>
              <a:ext cx="7674488" cy="1636932"/>
              <a:chOff x="2710382" y="4858941"/>
              <a:chExt cx="7674488" cy="1636932"/>
            </a:xfrm>
          </p:grpSpPr>
          <p:cxnSp>
            <p:nvCxnSpPr>
              <p:cNvPr id="363" name="Google Shape;363;g3942a267314_0_0"/>
              <p:cNvCxnSpPr/>
              <p:nvPr/>
            </p:nvCxnSpPr>
            <p:spPr>
              <a:xfrm>
                <a:off x="4137839" y="4858941"/>
                <a:ext cx="0" cy="591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364" name="Google Shape;364;g3942a267314_0_0"/>
              <p:cNvCxnSpPr/>
              <p:nvPr/>
            </p:nvCxnSpPr>
            <p:spPr>
              <a:xfrm>
                <a:off x="9150335" y="4865750"/>
                <a:ext cx="0" cy="591000"/>
              </a:xfrm>
              <a:prstGeom prst="straightConnector1">
                <a:avLst/>
              </a:prstGeom>
              <a:noFill/>
              <a:ln cap="flat" cmpd="sng" w="19050">
                <a:solidFill>
                  <a:schemeClr val="accent1"/>
                </a:solidFill>
                <a:prstDash val="solid"/>
                <a:miter lim="800000"/>
                <a:headEnd len="sm" w="sm" type="none"/>
                <a:tailEnd len="med" w="med" type="triangle"/>
              </a:ln>
            </p:spPr>
          </p:cxnSp>
          <p:sp>
            <p:nvSpPr>
              <p:cNvPr id="365" name="Google Shape;365;g3942a267314_0_0"/>
              <p:cNvSpPr/>
              <p:nvPr/>
            </p:nvSpPr>
            <p:spPr>
              <a:xfrm>
                <a:off x="2710382" y="5458045"/>
                <a:ext cx="2892900" cy="7620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t>Hacer predicciones desde un modelo </a:t>
                </a:r>
                <a:br>
                  <a:rPr b="1" lang="en-US" sz="1000"/>
                </a:br>
                <a:r>
                  <a:rPr b="1" lang="en-US" sz="1000"/>
                  <a:t>Cox base</a:t>
                </a:r>
                <a:endParaRPr b="1" sz="1000">
                  <a:solidFill>
                    <a:srgbClr val="000000"/>
                  </a:solidFill>
                  <a:latin typeface="Arial"/>
                  <a:ea typeface="Arial"/>
                  <a:cs typeface="Arial"/>
                  <a:sym typeface="Arial"/>
                </a:endParaRPr>
              </a:p>
            </p:txBody>
          </p:sp>
          <p:sp>
            <p:nvSpPr>
              <p:cNvPr id="366" name="Google Shape;366;g3942a267314_0_0"/>
              <p:cNvSpPr/>
              <p:nvPr/>
            </p:nvSpPr>
            <p:spPr>
              <a:xfrm>
                <a:off x="7588870" y="5452514"/>
                <a:ext cx="2796000" cy="7620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t>Hacer predicciones desde un modelo Cox mejor informado</a:t>
                </a:r>
                <a:endParaRPr b="1" sz="1000">
                  <a:solidFill>
                    <a:srgbClr val="000000"/>
                  </a:solidFill>
                  <a:latin typeface="Arial"/>
                  <a:ea typeface="Arial"/>
                  <a:cs typeface="Arial"/>
                  <a:sym typeface="Arial"/>
                </a:endParaRPr>
              </a:p>
            </p:txBody>
          </p:sp>
          <p:sp>
            <p:nvSpPr>
              <p:cNvPr id="367" name="Google Shape;367;g3942a267314_0_0"/>
              <p:cNvSpPr/>
              <p:nvPr/>
            </p:nvSpPr>
            <p:spPr>
              <a:xfrm>
                <a:off x="5907064" y="5189673"/>
                <a:ext cx="1269900" cy="13062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US" sz="700"/>
                  <a:t>C de Uno</a:t>
                </a:r>
                <a:endParaRPr b="1" sz="700"/>
              </a:p>
              <a:p>
                <a:pPr indent="0" lvl="0" marL="0" marR="0" rtl="0" algn="ctr">
                  <a:spcBef>
                    <a:spcPts val="0"/>
                  </a:spcBef>
                  <a:spcAft>
                    <a:spcPts val="0"/>
                  </a:spcAft>
                  <a:buClr>
                    <a:srgbClr val="000000"/>
                  </a:buClr>
                  <a:buFont typeface="Arial"/>
                  <a:buNone/>
                </a:pPr>
                <a:r>
                  <a:rPr b="1" lang="en-US" sz="700"/>
                  <a:t>Brier Integrado (IBS)</a:t>
                </a:r>
                <a:endParaRPr b="1" sz="700"/>
              </a:p>
              <a:p>
                <a:pPr indent="0" lvl="0" marL="0" marR="0" rtl="0" algn="ctr">
                  <a:spcBef>
                    <a:spcPts val="0"/>
                  </a:spcBef>
                  <a:spcAft>
                    <a:spcPts val="0"/>
                  </a:spcAft>
                  <a:buClr>
                    <a:srgbClr val="000000"/>
                  </a:buClr>
                  <a:buFont typeface="Arial"/>
                  <a:buNone/>
                </a:pPr>
                <a:r>
                  <a:rPr b="1" lang="en-US" sz="700"/>
                  <a:t>Calibración Int.(ICI)**</a:t>
                </a:r>
                <a:endParaRPr b="1" sz="700"/>
              </a:p>
              <a:p>
                <a:pPr indent="0" lvl="0" marL="0" marR="0" rtl="0" algn="ctr">
                  <a:spcBef>
                    <a:spcPts val="0"/>
                  </a:spcBef>
                  <a:spcAft>
                    <a:spcPts val="0"/>
                  </a:spcAft>
                  <a:buClr>
                    <a:srgbClr val="000000"/>
                  </a:buClr>
                  <a:buFont typeface="Arial"/>
                  <a:buNone/>
                </a:pPr>
                <a:r>
                  <a:rPr b="1" lang="en-US" sz="700"/>
                  <a:t>D</a:t>
                </a:r>
                <a:r>
                  <a:rPr b="1" baseline="-25000" lang="en-US" sz="700"/>
                  <a:t>1</a:t>
                </a:r>
                <a:br>
                  <a:rPr b="1" baseline="-25000" lang="en-US" sz="700"/>
                </a:br>
                <a:r>
                  <a:rPr b="1" lang="en-US" sz="700"/>
                  <a:t>AICc</a:t>
                </a:r>
                <a:endParaRPr b="1" sz="700"/>
              </a:p>
            </p:txBody>
          </p:sp>
          <p:cxnSp>
            <p:nvCxnSpPr>
              <p:cNvPr id="368" name="Google Shape;368;g3942a267314_0_0"/>
              <p:cNvCxnSpPr>
                <a:stCxn id="365" idx="3"/>
                <a:endCxn id="367" idx="1"/>
              </p:cNvCxnSpPr>
              <p:nvPr/>
            </p:nvCxnSpPr>
            <p:spPr>
              <a:xfrm>
                <a:off x="5603282" y="5839045"/>
                <a:ext cx="303900" cy="36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369" name="Google Shape;369;g3942a267314_0_0"/>
              <p:cNvCxnSpPr>
                <a:stCxn id="366" idx="1"/>
                <a:endCxn id="367" idx="3"/>
              </p:cNvCxnSpPr>
              <p:nvPr/>
            </p:nvCxnSpPr>
            <p:spPr>
              <a:xfrm flipH="1">
                <a:off x="7176970" y="5833514"/>
                <a:ext cx="411900" cy="9300"/>
              </a:xfrm>
              <a:prstGeom prst="straightConnector1">
                <a:avLst/>
              </a:prstGeom>
              <a:noFill/>
              <a:ln cap="flat" cmpd="sng" w="19050">
                <a:solidFill>
                  <a:schemeClr val="accent1"/>
                </a:solidFill>
                <a:prstDash val="solid"/>
                <a:miter lim="800000"/>
                <a:headEnd len="sm" w="sm" type="none"/>
                <a:tailEnd len="med" w="med" type="triangle"/>
              </a:ln>
            </p:spPr>
          </p:cxnSp>
        </p:grpSp>
      </p:grpSp>
      <p:grpSp>
        <p:nvGrpSpPr>
          <p:cNvPr id="370" name="Google Shape;370;g3942a267314_0_0"/>
          <p:cNvGrpSpPr/>
          <p:nvPr/>
        </p:nvGrpSpPr>
        <p:grpSpPr>
          <a:xfrm>
            <a:off x="1998675" y="3524219"/>
            <a:ext cx="9013800" cy="1546036"/>
            <a:chOff x="1998674" y="3340434"/>
            <a:chExt cx="9013800" cy="1631700"/>
          </a:xfrm>
        </p:grpSpPr>
        <p:sp>
          <p:nvSpPr>
            <p:cNvPr id="371" name="Google Shape;371;g3942a267314_0_0"/>
            <p:cNvSpPr/>
            <p:nvPr/>
          </p:nvSpPr>
          <p:spPr>
            <a:xfrm>
              <a:off x="1998674" y="3340434"/>
              <a:ext cx="9013800" cy="1631700"/>
            </a:xfrm>
            <a:prstGeom prst="rect">
              <a:avLst/>
            </a:prstGeom>
            <a:noFill/>
            <a:ln cap="flat" cmpd="sng" w="25400">
              <a:solidFill>
                <a:srgbClr val="0064C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64C8"/>
                  </a:solidFill>
                </a:rPr>
                <a:t>Modelos </a:t>
              </a:r>
              <a:r>
                <a:rPr b="1" lang="en-US" sz="1800">
                  <a:solidFill>
                    <a:srgbClr val="0064C8"/>
                  </a:solidFill>
                  <a:latin typeface="Arial"/>
                  <a:ea typeface="Arial"/>
                  <a:cs typeface="Arial"/>
                  <a:sym typeface="Arial"/>
                </a:rPr>
                <a:t>Cox </a:t>
              </a:r>
              <a:r>
                <a:rPr b="1" lang="en-US" sz="1800">
                  <a:solidFill>
                    <a:srgbClr val="0064C8"/>
                  </a:solidFill>
                </a:rPr>
                <a:t>para predicción</a:t>
              </a:r>
              <a:endParaRPr b="1" sz="1800">
                <a:solidFill>
                  <a:srgbClr val="0064C8"/>
                </a:solidFill>
              </a:endParaRPr>
            </a:p>
            <a:p>
              <a:pPr indent="0" lvl="0" marL="0" marR="0" rtl="0" algn="l">
                <a:spcBef>
                  <a:spcPts val="0"/>
                </a:spcBef>
                <a:spcAft>
                  <a:spcPts val="0"/>
                </a:spcAft>
                <a:buNone/>
              </a:pPr>
              <a:r>
                <a:rPr b="1" lang="en-US" sz="1800">
                  <a:solidFill>
                    <a:srgbClr val="0064C8"/>
                  </a:solidFill>
                </a:rPr>
                <a:t>del riesgo</a:t>
              </a:r>
              <a:endParaRPr b="1" sz="1800">
                <a:solidFill>
                  <a:srgbClr val="0064C8"/>
                </a:solidFill>
              </a:endParaRPr>
            </a:p>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2" name="Google Shape;372;g3942a267314_0_0"/>
            <p:cNvSpPr/>
            <p:nvPr/>
          </p:nvSpPr>
          <p:spPr>
            <a:xfrm>
              <a:off x="2778101" y="3944550"/>
              <a:ext cx="3012600" cy="8889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Ajustar un modelo Cox basal con predictores establecidos</a:t>
              </a:r>
              <a:endParaRPr sz="1000"/>
            </a:p>
            <a:p>
              <a:pPr indent="0" lvl="0" marL="0" marR="0" rtl="0" algn="ctr">
                <a:spcBef>
                  <a:spcPts val="0"/>
                </a:spcBef>
                <a:spcAft>
                  <a:spcPts val="0"/>
                </a:spcAft>
                <a:buNone/>
              </a:pPr>
              <a:r>
                <a:rPr i="1" lang="en-US" sz="900">
                  <a:solidFill>
                    <a:srgbClr val="FFFFFF"/>
                  </a:solidFill>
                  <a:latin typeface="Arial"/>
                  <a:ea typeface="Arial"/>
                  <a:cs typeface="Arial"/>
                  <a:sym typeface="Arial"/>
                </a:rPr>
                <a:t>h</a:t>
              </a:r>
              <a:r>
                <a:rPr lang="en-US" sz="900">
                  <a:solidFill>
                    <a:srgbClr val="FFFFFF"/>
                  </a:solidFill>
                  <a:latin typeface="Arial"/>
                  <a:ea typeface="Arial"/>
                  <a:cs typeface="Arial"/>
                  <a:sym typeface="Arial"/>
                </a:rPr>
                <a:t>(</a:t>
              </a:r>
              <a:r>
                <a:rPr i="1" lang="en-US" sz="900">
                  <a:solidFill>
                    <a:srgbClr val="FFFFFF"/>
                  </a:solidFill>
                  <a:latin typeface="Arial"/>
                  <a:ea typeface="Arial"/>
                  <a:cs typeface="Arial"/>
                  <a:sym typeface="Arial"/>
                </a:rPr>
                <a:t>t</a:t>
              </a:r>
              <a:r>
                <a:rPr lang="en-US" sz="900">
                  <a:solidFill>
                    <a:srgbClr val="FFFFFF"/>
                  </a:solidFill>
                  <a:latin typeface="Arial"/>
                  <a:ea typeface="Arial"/>
                  <a:cs typeface="Arial"/>
                  <a:sym typeface="Arial"/>
                </a:rPr>
                <a:t>) = </a:t>
              </a:r>
              <a:r>
                <a:rPr i="1" lang="en-US" sz="900">
                  <a:solidFill>
                    <a:srgbClr val="FFFFFF"/>
                  </a:solidFill>
                  <a:latin typeface="Arial"/>
                  <a:ea typeface="Arial"/>
                  <a:cs typeface="Arial"/>
                  <a:sym typeface="Arial"/>
                </a:rPr>
                <a:t>h</a:t>
              </a:r>
              <a:r>
                <a:rPr baseline="-25000" i="1" lang="en-US" sz="900">
                  <a:solidFill>
                    <a:srgbClr val="FFFFFF"/>
                  </a:solidFill>
                  <a:latin typeface="Arial"/>
                  <a:ea typeface="Arial"/>
                  <a:cs typeface="Arial"/>
                  <a:sym typeface="Arial"/>
                </a:rPr>
                <a:t>0</a:t>
              </a:r>
              <a:r>
                <a:rPr lang="en-US" sz="900">
                  <a:solidFill>
                    <a:srgbClr val="FFFFFF"/>
                  </a:solidFill>
                  <a:latin typeface="Arial"/>
                  <a:ea typeface="Arial"/>
                  <a:cs typeface="Arial"/>
                  <a:sym typeface="Arial"/>
                </a:rPr>
                <a:t>(</a:t>
              </a:r>
              <a:r>
                <a:rPr i="1" lang="en-US" sz="900">
                  <a:solidFill>
                    <a:srgbClr val="FFFFFF"/>
                  </a:solidFill>
                  <a:latin typeface="Arial"/>
                  <a:ea typeface="Arial"/>
                  <a:cs typeface="Arial"/>
                  <a:sym typeface="Arial"/>
                </a:rPr>
                <a:t>t</a:t>
              </a:r>
              <a:r>
                <a:rPr lang="en-US" sz="900">
                  <a:solidFill>
                    <a:srgbClr val="FFFFFF"/>
                  </a:solidFill>
                  <a:latin typeface="Arial"/>
                  <a:ea typeface="Arial"/>
                  <a:cs typeface="Arial"/>
                  <a:sym typeface="Arial"/>
                </a:rPr>
                <a:t>) e</a:t>
              </a:r>
              <a:r>
                <a:rPr lang="en-US" sz="900">
                  <a:solidFill>
                    <a:srgbClr val="FFFFFF"/>
                  </a:solidFill>
                  <a:latin typeface="Arial"/>
                  <a:ea typeface="Arial"/>
                  <a:cs typeface="Arial"/>
                  <a:sym typeface="Arial"/>
                </a:rPr>
                <a:t>xp(a</a:t>
              </a:r>
              <a:r>
                <a:rPr baseline="-25000" lang="en-US" sz="900">
                  <a:solidFill>
                    <a:srgbClr val="FFFFFF"/>
                  </a:solidFill>
                  <a:latin typeface="Arial"/>
                  <a:ea typeface="Arial"/>
                  <a:cs typeface="Arial"/>
                  <a:sym typeface="Arial"/>
                </a:rPr>
                <a:t>1</a:t>
              </a:r>
              <a:r>
                <a:rPr lang="en-US" sz="900">
                  <a:solidFill>
                    <a:srgbClr val="FFFFFF"/>
                  </a:solidFill>
                  <a:latin typeface="Arial"/>
                  <a:ea typeface="Arial"/>
                  <a:cs typeface="Arial"/>
                  <a:sym typeface="Arial"/>
                </a:rPr>
                <a:t>*</a:t>
              </a:r>
              <a:r>
                <a:rPr baseline="-25000" lang="en-US" sz="900">
                  <a:solidFill>
                    <a:srgbClr val="FFFFFF"/>
                  </a:solidFill>
                  <a:latin typeface="Arial"/>
                  <a:ea typeface="Arial"/>
                  <a:cs typeface="Arial"/>
                  <a:sym typeface="Arial"/>
                </a:rPr>
                <a:t>Age</a:t>
              </a:r>
              <a:r>
                <a:rPr baseline="-25000" lang="en-US" sz="900">
                  <a:solidFill>
                    <a:srgbClr val="FFFFFF"/>
                  </a:solidFill>
                </a:rPr>
                <a:t> at admission</a:t>
              </a:r>
              <a:r>
                <a:rPr lang="en-US" sz="900">
                  <a:solidFill>
                    <a:srgbClr val="FFFFFF"/>
                  </a:solidFill>
                  <a:latin typeface="Arial"/>
                  <a:ea typeface="Arial"/>
                  <a:cs typeface="Arial"/>
                  <a:sym typeface="Arial"/>
                </a:rPr>
                <a:t>+ a</a:t>
              </a:r>
              <a:r>
                <a:rPr baseline="-25000" lang="en-US" sz="900">
                  <a:solidFill>
                    <a:srgbClr val="FFFFFF"/>
                  </a:solidFill>
                  <a:latin typeface="Arial"/>
                  <a:ea typeface="Arial"/>
                  <a:cs typeface="Arial"/>
                  <a:sym typeface="Arial"/>
                </a:rPr>
                <a:t>2</a:t>
              </a:r>
              <a:r>
                <a:rPr lang="en-US" sz="900">
                  <a:solidFill>
                    <a:srgbClr val="FFFFFF"/>
                  </a:solidFill>
                  <a:latin typeface="Arial"/>
                  <a:ea typeface="Arial"/>
                  <a:cs typeface="Arial"/>
                  <a:sym typeface="Arial"/>
                </a:rPr>
                <a:t>*</a:t>
              </a:r>
              <a:r>
                <a:rPr baseline="-25000" lang="en-US" sz="900">
                  <a:solidFill>
                    <a:srgbClr val="FFFFFF"/>
                  </a:solidFill>
                </a:rPr>
                <a:t>days in treatment</a:t>
              </a:r>
              <a:r>
                <a:rPr lang="en-US" sz="900">
                  <a:solidFill>
                    <a:srgbClr val="FFFFFF"/>
                  </a:solidFill>
                  <a:latin typeface="Arial"/>
                  <a:ea typeface="Arial"/>
                  <a:cs typeface="Arial"/>
                  <a:sym typeface="Arial"/>
                </a:rPr>
                <a:t> + ...)</a:t>
              </a:r>
              <a:endParaRPr sz="900">
                <a:solidFill>
                  <a:srgbClr val="FFFFFF"/>
                </a:solidFill>
                <a:latin typeface="Arial"/>
                <a:ea typeface="Arial"/>
                <a:cs typeface="Arial"/>
                <a:sym typeface="Arial"/>
              </a:endParaRPr>
            </a:p>
          </p:txBody>
        </p:sp>
        <p:sp>
          <p:nvSpPr>
            <p:cNvPr id="373" name="Google Shape;373;g3942a267314_0_0"/>
            <p:cNvSpPr/>
            <p:nvPr/>
          </p:nvSpPr>
          <p:spPr>
            <a:xfrm>
              <a:off x="7639251" y="3944550"/>
              <a:ext cx="3066600" cy="8889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Ajustar</a:t>
              </a:r>
              <a:r>
                <a:rPr lang="en-US" sz="1000">
                  <a:solidFill>
                    <a:srgbClr val="FFFFFF"/>
                  </a:solidFill>
                </a:rPr>
                <a:t> un modelo Cox mejor informado, añadiendo nuevos predictores</a:t>
              </a:r>
              <a:endParaRPr sz="1000">
                <a:solidFill>
                  <a:srgbClr val="FFFFFF"/>
                </a:solidFill>
                <a:latin typeface="Arial"/>
                <a:ea typeface="Arial"/>
                <a:cs typeface="Arial"/>
                <a:sym typeface="Arial"/>
              </a:endParaRPr>
            </a:p>
            <a:p>
              <a:pPr indent="0" lvl="0" marL="0" rtl="0" algn="ctr">
                <a:spcBef>
                  <a:spcPts val="0"/>
                </a:spcBef>
                <a:spcAft>
                  <a:spcPts val="0"/>
                </a:spcAft>
                <a:buNone/>
              </a:pPr>
              <a:r>
                <a:rPr i="1" lang="en-US" sz="900">
                  <a:solidFill>
                    <a:schemeClr val="lt1"/>
                  </a:solidFill>
                </a:rPr>
                <a:t>h</a:t>
              </a:r>
              <a:r>
                <a:rPr lang="en-US" sz="900">
                  <a:solidFill>
                    <a:schemeClr val="lt1"/>
                  </a:solidFill>
                </a:rPr>
                <a:t>(</a:t>
              </a:r>
              <a:r>
                <a:rPr i="1" lang="en-US" sz="900">
                  <a:solidFill>
                    <a:schemeClr val="lt1"/>
                  </a:solidFill>
                </a:rPr>
                <a:t>t</a:t>
              </a:r>
              <a:r>
                <a:rPr lang="en-US" sz="900">
                  <a:solidFill>
                    <a:schemeClr val="lt1"/>
                  </a:solidFill>
                </a:rPr>
                <a:t>) = </a:t>
              </a:r>
              <a:r>
                <a:rPr i="1" lang="en-US" sz="900">
                  <a:solidFill>
                    <a:schemeClr val="lt1"/>
                  </a:solidFill>
                </a:rPr>
                <a:t>h</a:t>
              </a:r>
              <a:r>
                <a:rPr baseline="-25000" i="1" lang="en-US" sz="900">
                  <a:solidFill>
                    <a:schemeClr val="lt1"/>
                  </a:solidFill>
                </a:rPr>
                <a:t>0</a:t>
              </a:r>
              <a:r>
                <a:rPr lang="en-US" sz="900">
                  <a:solidFill>
                    <a:schemeClr val="lt1"/>
                  </a:solidFill>
                </a:rPr>
                <a:t>(</a:t>
              </a:r>
              <a:r>
                <a:rPr i="1" lang="en-US" sz="900">
                  <a:solidFill>
                    <a:schemeClr val="lt1"/>
                  </a:solidFill>
                </a:rPr>
                <a:t>t</a:t>
              </a:r>
              <a:r>
                <a:rPr lang="en-US" sz="900">
                  <a:solidFill>
                    <a:schemeClr val="lt1"/>
                  </a:solidFill>
                </a:rPr>
                <a:t>) exp(b</a:t>
              </a:r>
              <a:r>
                <a:rPr baseline="-25000" lang="en-US" sz="900">
                  <a:solidFill>
                    <a:schemeClr val="lt1"/>
                  </a:solidFill>
                </a:rPr>
                <a:t>1</a:t>
              </a:r>
              <a:r>
                <a:rPr lang="en-US" sz="900">
                  <a:solidFill>
                    <a:schemeClr val="lt1"/>
                  </a:solidFill>
                </a:rPr>
                <a:t>*</a:t>
              </a:r>
              <a:r>
                <a:rPr baseline="-25000" lang="en-US" sz="900">
                  <a:solidFill>
                    <a:schemeClr val="lt1"/>
                  </a:solidFill>
                </a:rPr>
                <a:t>Age at admission</a:t>
              </a:r>
              <a:r>
                <a:rPr lang="en-US" sz="900">
                  <a:solidFill>
                    <a:schemeClr val="lt1"/>
                  </a:solidFill>
                </a:rPr>
                <a:t>+ b</a:t>
              </a:r>
              <a:r>
                <a:rPr baseline="-25000" lang="en-US" sz="900">
                  <a:solidFill>
                    <a:schemeClr val="lt1"/>
                  </a:solidFill>
                </a:rPr>
                <a:t>2</a:t>
              </a:r>
              <a:r>
                <a:rPr lang="en-US" sz="900">
                  <a:solidFill>
                    <a:schemeClr val="lt1"/>
                  </a:solidFill>
                </a:rPr>
                <a:t>*</a:t>
              </a:r>
              <a:r>
                <a:rPr baseline="-25000" lang="en-US" sz="900">
                  <a:solidFill>
                    <a:schemeClr val="lt1"/>
                  </a:solidFill>
                </a:rPr>
                <a:t>days in treatment</a:t>
              </a:r>
              <a:r>
                <a:rPr lang="en-US" sz="900">
                  <a:solidFill>
                    <a:schemeClr val="lt1"/>
                  </a:solidFill>
                </a:rPr>
                <a:t> + ...)</a:t>
              </a:r>
              <a:endParaRPr sz="900">
                <a:solidFill>
                  <a:srgbClr val="FFFFFF"/>
                </a:solidFill>
              </a:endParaRPr>
            </a:p>
          </p:txBody>
        </p:sp>
        <p:sp>
          <p:nvSpPr>
            <p:cNvPr id="374" name="Google Shape;374;g3942a267314_0_0"/>
            <p:cNvSpPr/>
            <p:nvPr/>
          </p:nvSpPr>
          <p:spPr>
            <a:xfrm>
              <a:off x="6080099" y="4031946"/>
              <a:ext cx="1269900" cy="7218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00">
                  <a:solidFill>
                    <a:srgbClr val="FFFFFF"/>
                  </a:solidFill>
                </a:rPr>
                <a:t>C de Uno</a:t>
              </a:r>
              <a:br>
                <a:rPr lang="en-US" sz="900">
                  <a:solidFill>
                    <a:srgbClr val="FFFFFF"/>
                  </a:solidFill>
                  <a:latin typeface="Arial"/>
                  <a:ea typeface="Arial"/>
                  <a:cs typeface="Arial"/>
                  <a:sym typeface="Arial"/>
                </a:rPr>
              </a:br>
              <a:r>
                <a:rPr lang="en-US" sz="900">
                  <a:solidFill>
                    <a:srgbClr val="FFFFFF"/>
                  </a:solidFill>
                </a:rPr>
                <a:t>Brier Integrado (</a:t>
              </a:r>
              <a:r>
                <a:rPr lang="en-US" sz="900">
                  <a:solidFill>
                    <a:srgbClr val="FFFFFF"/>
                  </a:solidFill>
                  <a:latin typeface="Arial"/>
                  <a:ea typeface="Arial"/>
                  <a:cs typeface="Arial"/>
                  <a:sym typeface="Arial"/>
                </a:rPr>
                <a:t>IBS)</a:t>
              </a:r>
              <a:br>
                <a:rPr lang="en-US" sz="900">
                  <a:solidFill>
                    <a:srgbClr val="FFFFFF"/>
                  </a:solidFill>
                  <a:latin typeface="Arial"/>
                  <a:ea typeface="Arial"/>
                  <a:cs typeface="Arial"/>
                  <a:sym typeface="Arial"/>
                </a:rPr>
              </a:br>
              <a:r>
                <a:rPr lang="en-US" sz="900">
                  <a:solidFill>
                    <a:srgbClr val="FFFFFF"/>
                  </a:solidFill>
                </a:rPr>
                <a:t>Calibración </a:t>
              </a:r>
              <a:r>
                <a:rPr lang="en-US" sz="900">
                  <a:solidFill>
                    <a:schemeClr val="lt1"/>
                  </a:solidFill>
                </a:rPr>
                <a:t>Int.</a:t>
              </a:r>
              <a:r>
                <a:rPr lang="en-US" sz="900">
                  <a:solidFill>
                    <a:srgbClr val="FFFFFF"/>
                  </a:solidFill>
                </a:rPr>
                <a:t>(ICI)**</a:t>
              </a:r>
              <a:br>
                <a:rPr lang="en-US" sz="900">
                  <a:solidFill>
                    <a:srgbClr val="FFFFFF"/>
                  </a:solidFill>
                </a:rPr>
              </a:br>
              <a:r>
                <a:rPr lang="en-US" sz="900">
                  <a:solidFill>
                    <a:srgbClr val="FFFFFF"/>
                  </a:solidFill>
                </a:rPr>
                <a:t>D</a:t>
              </a:r>
              <a:r>
                <a:rPr baseline="-25000" lang="en-US" sz="900">
                  <a:solidFill>
                    <a:srgbClr val="FFFFFF"/>
                  </a:solidFill>
                </a:rPr>
                <a:t>1</a:t>
              </a:r>
              <a:endParaRPr baseline="-25000" sz="900">
                <a:solidFill>
                  <a:srgbClr val="FFFFFF"/>
                </a:solidFill>
              </a:endParaRPr>
            </a:p>
            <a:p>
              <a:pPr indent="0" lvl="0" marL="0" marR="0" rtl="0" algn="ctr">
                <a:spcBef>
                  <a:spcPts val="0"/>
                </a:spcBef>
                <a:spcAft>
                  <a:spcPts val="0"/>
                </a:spcAft>
                <a:buNone/>
              </a:pPr>
              <a:r>
                <a:rPr lang="en-US" sz="900">
                  <a:solidFill>
                    <a:srgbClr val="FFFFFF"/>
                  </a:solidFill>
                </a:rPr>
                <a:t>AICc</a:t>
              </a:r>
              <a:endParaRPr sz="900">
                <a:solidFill>
                  <a:srgbClr val="FFFFFF"/>
                </a:solidFill>
              </a:endParaRPr>
            </a:p>
          </p:txBody>
        </p:sp>
        <p:cxnSp>
          <p:nvCxnSpPr>
            <p:cNvPr id="375" name="Google Shape;375;g3942a267314_0_0"/>
            <p:cNvCxnSpPr>
              <a:stCxn id="372" idx="3"/>
              <a:endCxn id="374" idx="1"/>
            </p:cNvCxnSpPr>
            <p:nvPr/>
          </p:nvCxnSpPr>
          <p:spPr>
            <a:xfrm>
              <a:off x="5790701" y="4389000"/>
              <a:ext cx="289500" cy="3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376" name="Google Shape;376;g3942a267314_0_0"/>
            <p:cNvCxnSpPr>
              <a:stCxn id="373" idx="1"/>
              <a:endCxn id="374" idx="3"/>
            </p:cNvCxnSpPr>
            <p:nvPr/>
          </p:nvCxnSpPr>
          <p:spPr>
            <a:xfrm flipH="1">
              <a:off x="7350051" y="4389000"/>
              <a:ext cx="289200" cy="3900"/>
            </a:xfrm>
            <a:prstGeom prst="straightConnector1">
              <a:avLst/>
            </a:prstGeom>
            <a:noFill/>
            <a:ln cap="flat" cmpd="sng" w="19050">
              <a:solidFill>
                <a:schemeClr val="accent1"/>
              </a:solidFill>
              <a:prstDash val="solid"/>
              <a:miter lim="800000"/>
              <a:headEnd len="sm" w="sm" type="none"/>
              <a:tailEnd len="med" w="med" type="triangle"/>
            </a:ln>
          </p:spPr>
        </p:cxnSp>
        <p:grpSp>
          <p:nvGrpSpPr>
            <p:cNvPr id="377" name="Google Shape;377;g3942a267314_0_0"/>
            <p:cNvGrpSpPr/>
            <p:nvPr/>
          </p:nvGrpSpPr>
          <p:grpSpPr>
            <a:xfrm>
              <a:off x="4284401" y="3370303"/>
              <a:ext cx="4888150" cy="557846"/>
              <a:chOff x="3728776" y="4093820"/>
              <a:chExt cx="4888150" cy="795900"/>
            </a:xfrm>
          </p:grpSpPr>
          <p:cxnSp>
            <p:nvCxnSpPr>
              <p:cNvPr id="378" name="Google Shape;378;g3942a267314_0_0"/>
              <p:cNvCxnSpPr/>
              <p:nvPr/>
            </p:nvCxnSpPr>
            <p:spPr>
              <a:xfrm flipH="1">
                <a:off x="3728776" y="4093820"/>
                <a:ext cx="2430600" cy="795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379" name="Google Shape;379;g3942a267314_0_0"/>
              <p:cNvCxnSpPr/>
              <p:nvPr/>
            </p:nvCxnSpPr>
            <p:spPr>
              <a:xfrm>
                <a:off x="6159626" y="4093820"/>
                <a:ext cx="2457300" cy="795900"/>
              </a:xfrm>
              <a:prstGeom prst="straightConnector1">
                <a:avLst/>
              </a:prstGeom>
              <a:noFill/>
              <a:ln cap="flat" cmpd="sng" w="19050">
                <a:solidFill>
                  <a:schemeClr val="accent1"/>
                </a:solidFill>
                <a:prstDash val="solid"/>
                <a:miter lim="800000"/>
                <a:headEnd len="sm" w="sm" type="none"/>
                <a:tailEnd len="med" w="med" type="triangle"/>
              </a:ln>
            </p:spPr>
          </p:cxnSp>
        </p:grpSp>
      </p:grpSp>
      <p:sp>
        <p:nvSpPr>
          <p:cNvPr id="359" name="Google Shape;359;g3942a267314_0_0"/>
          <p:cNvSpPr txBox="1"/>
          <p:nvPr/>
        </p:nvSpPr>
        <p:spPr>
          <a:xfrm>
            <a:off x="6269100" y="2523311"/>
            <a:ext cx="895200" cy="274200"/>
          </a:xfrm>
          <a:prstGeom prst="rect">
            <a:avLst/>
          </a:prstGeom>
          <a:solidFill>
            <a:schemeClr val="lt1"/>
          </a:solidFill>
          <a:ln>
            <a:noFill/>
          </a:ln>
        </p:spPr>
        <p:txBody>
          <a:bodyPr anchorCtr="0" anchor="t" bIns="0" lIns="91425" spcFirstLastPara="1" rIns="91425" wrap="square" tIns="0">
            <a:no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Uni</a:t>
            </a:r>
            <a:r>
              <a:rPr b="1" lang="en-US" sz="1800">
                <a:solidFill>
                  <a:schemeClr val="dk1"/>
                </a:solidFill>
              </a:rPr>
              <a:t>ó</a:t>
            </a:r>
            <a:r>
              <a:rPr b="1" lang="en-US" sz="1800">
                <a:solidFill>
                  <a:schemeClr val="dk1"/>
                </a:solidFill>
                <a:latin typeface="Arial"/>
                <a:ea typeface="Arial"/>
                <a:cs typeface="Arial"/>
                <a:sym typeface="Arial"/>
              </a:rPr>
              <a:t>n</a:t>
            </a:r>
            <a:endParaRPr b="1" sz="1800">
              <a:solidFill>
                <a:schemeClr val="dk1"/>
              </a:solidFill>
              <a:latin typeface="Arial"/>
              <a:ea typeface="Arial"/>
              <a:cs typeface="Arial"/>
              <a:sym typeface="Arial"/>
            </a:endParaRPr>
          </a:p>
        </p:txBody>
      </p:sp>
      <p:sp>
        <p:nvSpPr>
          <p:cNvPr id="380" name="Google Shape;380;g3942a267314_0_0"/>
          <p:cNvSpPr/>
          <p:nvPr/>
        </p:nvSpPr>
        <p:spPr>
          <a:xfrm rot="5400000">
            <a:off x="6619050" y="452415"/>
            <a:ext cx="195300" cy="3946500"/>
          </a:xfrm>
          <a:prstGeom prst="righ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g3942a267314_0_0"/>
          <p:cNvSpPr txBox="1"/>
          <p:nvPr/>
        </p:nvSpPr>
        <p:spPr>
          <a:xfrm>
            <a:off x="68625" y="5366163"/>
            <a:ext cx="1547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chemeClr val="dk1"/>
                </a:solidFill>
              </a:rPr>
              <a:t>Prueba</a:t>
            </a:r>
            <a:r>
              <a:rPr b="1" lang="en-US" sz="1400">
                <a:solidFill>
                  <a:schemeClr val="dk1"/>
                </a:solidFill>
                <a:latin typeface="Arial"/>
                <a:ea typeface="Arial"/>
                <a:cs typeface="Arial"/>
                <a:sym typeface="Arial"/>
              </a:rPr>
              <a:t>(20%)</a:t>
            </a:r>
            <a:endParaRPr/>
          </a:p>
        </p:txBody>
      </p:sp>
      <p:sp>
        <p:nvSpPr>
          <p:cNvPr id="382" name="Google Shape;382;g3942a267314_0_0"/>
          <p:cNvSpPr/>
          <p:nvPr/>
        </p:nvSpPr>
        <p:spPr>
          <a:xfrm rot="5400000">
            <a:off x="6641875" y="3079880"/>
            <a:ext cx="146400" cy="57366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g3942a267314_0_0"/>
          <p:cNvSpPr/>
          <p:nvPr/>
        </p:nvSpPr>
        <p:spPr>
          <a:xfrm>
            <a:off x="5802300" y="6035073"/>
            <a:ext cx="1828800" cy="1953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t>Recalibrar</a:t>
            </a:r>
            <a:endParaRPr b="1" sz="1100"/>
          </a:p>
        </p:txBody>
      </p:sp>
      <p:cxnSp>
        <p:nvCxnSpPr>
          <p:cNvPr id="384" name="Google Shape;384;g3942a267314_0_0"/>
          <p:cNvCxnSpPr/>
          <p:nvPr/>
        </p:nvCxnSpPr>
        <p:spPr>
          <a:xfrm flipH="1">
            <a:off x="6714325" y="6273675"/>
            <a:ext cx="1500" cy="228600"/>
          </a:xfrm>
          <a:prstGeom prst="straightConnector1">
            <a:avLst/>
          </a:prstGeom>
          <a:noFill/>
          <a:ln cap="flat" cmpd="sng" w="19050">
            <a:solidFill>
              <a:schemeClr val="accent1"/>
            </a:solidFill>
            <a:prstDash val="solid"/>
            <a:miter lim="800000"/>
            <a:headEnd len="sm" w="sm" type="none"/>
            <a:tailEnd len="med" w="med" type="triangle"/>
          </a:ln>
        </p:spPr>
      </p:cxnSp>
      <p:sp>
        <p:nvSpPr>
          <p:cNvPr id="385" name="Google Shape;385;g3942a267314_0_0"/>
          <p:cNvSpPr/>
          <p:nvPr/>
        </p:nvSpPr>
        <p:spPr>
          <a:xfrm>
            <a:off x="6029275" y="6536528"/>
            <a:ext cx="1371600" cy="192024"/>
          </a:xfrm>
          <a:prstGeom prst="flowChartProcess">
            <a:avLst/>
          </a:prstGeom>
          <a:noFill/>
          <a:ln cap="flat" cmpd="sng" w="28575">
            <a:solidFill>
              <a:srgbClr val="7575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t>DCA</a:t>
            </a:r>
            <a:endParaRPr b="1" sz="1200"/>
          </a:p>
        </p:txBody>
      </p:sp>
      <p:sp>
        <p:nvSpPr>
          <p:cNvPr id="386" name="Google Shape;386;g3942a267314_0_0"/>
          <p:cNvSpPr txBox="1"/>
          <p:nvPr/>
        </p:nvSpPr>
        <p:spPr>
          <a:xfrm>
            <a:off x="68625" y="1860000"/>
            <a:ext cx="1680900" cy="1385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a:solidFill>
                  <a:schemeClr val="dk1"/>
                </a:solidFill>
              </a:rPr>
              <a:t>Entrenamiento</a:t>
            </a:r>
            <a:r>
              <a:rPr b="1" lang="en-US">
                <a:solidFill>
                  <a:schemeClr val="dk1"/>
                </a:solidFill>
              </a:rPr>
              <a:t> (80%) (*)</a:t>
            </a:r>
            <a:br>
              <a:rPr b="1" lang="en-US">
                <a:solidFill>
                  <a:schemeClr val="dk1"/>
                </a:solidFill>
              </a:rPr>
            </a:br>
            <a:r>
              <a:rPr b="1" lang="en-US">
                <a:solidFill>
                  <a:schemeClr val="dk1"/>
                </a:solidFill>
              </a:rPr>
              <a:t>+</a:t>
            </a:r>
            <a:br>
              <a:rPr b="1" lang="en-US">
                <a:solidFill>
                  <a:schemeClr val="dk1"/>
                </a:solidFill>
              </a:rPr>
            </a:br>
            <a:r>
              <a:rPr b="1" lang="en-US">
                <a:solidFill>
                  <a:schemeClr val="dk1"/>
                </a:solidFill>
              </a:rPr>
              <a:t>SHAP mediante validación cruzada (k=5)</a:t>
            </a:r>
            <a:endParaRPr/>
          </a:p>
        </p:txBody>
      </p:sp>
      <p:sp>
        <p:nvSpPr>
          <p:cNvPr id="387" name="Google Shape;387;g3942a267314_0_0"/>
          <p:cNvSpPr txBox="1"/>
          <p:nvPr/>
        </p:nvSpPr>
        <p:spPr>
          <a:xfrm>
            <a:off x="9139825" y="0"/>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a:t>(*) </a:t>
            </a:r>
            <a:r>
              <a:rPr i="1" lang="en-US" sz="1100"/>
              <a:t>Estratificado por: </a:t>
            </a:r>
            <a:endParaRPr i="1" sz="1100"/>
          </a:p>
          <a:p>
            <a:pPr indent="-298450" lvl="0" marL="457200" rtl="0" algn="l">
              <a:spcBef>
                <a:spcPts val="0"/>
              </a:spcBef>
              <a:spcAft>
                <a:spcPts val="0"/>
              </a:spcAft>
              <a:buSzPts val="1100"/>
              <a:buChar char="-"/>
            </a:pPr>
            <a:r>
              <a:rPr i="1" lang="en-US" sz="1100"/>
              <a:t>Evento (readmisión / muerte)</a:t>
            </a:r>
            <a:endParaRPr i="1" sz="1100"/>
          </a:p>
          <a:p>
            <a:pPr indent="-298450" lvl="0" marL="457200" rtl="0" algn="l">
              <a:spcBef>
                <a:spcPts val="0"/>
              </a:spcBef>
              <a:spcAft>
                <a:spcPts val="0"/>
              </a:spcAft>
              <a:buSzPts val="1100"/>
              <a:buChar char="-"/>
            </a:pPr>
            <a:r>
              <a:rPr i="1" lang="en-US" sz="1100"/>
              <a:t>Tipo de plan</a:t>
            </a:r>
            <a:endParaRPr i="1" sz="1100"/>
          </a:p>
          <a:p>
            <a:pPr indent="-298450" lvl="0" marL="457200" rtl="0" algn="l">
              <a:spcBef>
                <a:spcPts val="0"/>
              </a:spcBef>
              <a:spcAft>
                <a:spcPts val="0"/>
              </a:spcAft>
              <a:buSzPts val="1100"/>
              <a:buChar char="-"/>
            </a:pPr>
            <a:r>
              <a:rPr i="1" lang="en-US" sz="1100"/>
              <a:t>Resultado de tratamiento (completa vs abandona)</a:t>
            </a:r>
            <a:endParaRPr i="1" sz="1100"/>
          </a:p>
          <a:p>
            <a:pPr indent="0" lvl="0" marL="0" rtl="0" algn="l">
              <a:spcBef>
                <a:spcPts val="0"/>
              </a:spcBef>
              <a:spcAft>
                <a:spcPts val="0"/>
              </a:spcAft>
              <a:buNone/>
            </a:pPr>
            <a:r>
              <a:rPr i="1" lang="en-US" sz="1100">
                <a:solidFill>
                  <a:schemeClr val="dk1"/>
                </a:solidFill>
              </a:rPr>
              <a:t>(**) Evaluado a los 1, 3 y 5 años</a:t>
            </a:r>
            <a:endParaRPr i="1" sz="1100"/>
          </a:p>
        </p:txBody>
      </p:sp>
      <p:grpSp>
        <p:nvGrpSpPr>
          <p:cNvPr id="388" name="Google Shape;388;g3942a267314_0_0"/>
          <p:cNvGrpSpPr/>
          <p:nvPr/>
        </p:nvGrpSpPr>
        <p:grpSpPr>
          <a:xfrm>
            <a:off x="11071382" y="4170445"/>
            <a:ext cx="283741" cy="428683"/>
            <a:chOff x="11104530" y="4170372"/>
            <a:chExt cx="332211" cy="501854"/>
          </a:xfrm>
        </p:grpSpPr>
        <p:sp>
          <p:nvSpPr>
            <p:cNvPr id="389" name="Google Shape;389;g3942a267314_0_0"/>
            <p:cNvSpPr/>
            <p:nvPr/>
          </p:nvSpPr>
          <p:spPr>
            <a:xfrm flipH="1">
              <a:off x="11104530" y="4476926"/>
              <a:ext cx="324300" cy="195300"/>
            </a:xfrm>
            <a:prstGeom prst="curvedUpArrow">
              <a:avLst>
                <a:gd fmla="val 25000" name="adj1"/>
                <a:gd fmla="val 50000" name="adj2"/>
                <a:gd fmla="val 25000" name="adj3"/>
              </a:avLst>
            </a:prstGeom>
            <a:solidFill>
              <a:schemeClr val="lt2"/>
            </a:solidFill>
            <a:ln cap="flat" cmpd="sng" w="8125">
              <a:solidFill>
                <a:schemeClr val="dk2"/>
              </a:solidFill>
              <a:prstDash val="solid"/>
              <a:round/>
              <a:headEnd len="sm" w="sm" type="none"/>
              <a:tailEnd len="sm" w="sm" type="none"/>
            </a:ln>
          </p:spPr>
          <p:txBody>
            <a:bodyPr anchorCtr="0" anchor="ctr" bIns="78100" lIns="78100" spcFirstLastPara="1" rIns="78100" wrap="square" tIns="78100">
              <a:noAutofit/>
            </a:bodyPr>
            <a:lstStyle/>
            <a:p>
              <a:pPr indent="0" lvl="0" marL="0" rtl="0" algn="ctr">
                <a:spcBef>
                  <a:spcPts val="0"/>
                </a:spcBef>
                <a:spcAft>
                  <a:spcPts val="0"/>
                </a:spcAft>
                <a:buNone/>
              </a:pPr>
              <a:r>
                <a:t/>
              </a:r>
              <a:endParaRPr sz="1195"/>
            </a:p>
          </p:txBody>
        </p:sp>
        <p:sp>
          <p:nvSpPr>
            <p:cNvPr id="390" name="Google Shape;390;g3942a267314_0_0"/>
            <p:cNvSpPr/>
            <p:nvPr/>
          </p:nvSpPr>
          <p:spPr>
            <a:xfrm>
              <a:off x="11112440" y="4170372"/>
              <a:ext cx="324300" cy="228600"/>
            </a:xfrm>
            <a:prstGeom prst="curvedDownArrow">
              <a:avLst>
                <a:gd fmla="val 25000" name="adj1"/>
                <a:gd fmla="val 50000" name="adj2"/>
                <a:gd fmla="val 30974" name="adj3"/>
              </a:avLst>
            </a:prstGeom>
            <a:solidFill>
              <a:schemeClr val="lt2"/>
            </a:solidFill>
            <a:ln cap="flat" cmpd="sng" w="8125">
              <a:solidFill>
                <a:schemeClr val="dk2"/>
              </a:solidFill>
              <a:prstDash val="solid"/>
              <a:round/>
              <a:headEnd len="sm" w="sm" type="none"/>
              <a:tailEnd len="sm" w="sm" type="none"/>
            </a:ln>
          </p:spPr>
          <p:txBody>
            <a:bodyPr anchorCtr="0" anchor="ctr" bIns="78100" lIns="78100" spcFirstLastPara="1" rIns="78100" wrap="square" tIns="78100">
              <a:noAutofit/>
            </a:bodyPr>
            <a:lstStyle/>
            <a:p>
              <a:pPr indent="0" lvl="0" marL="0" rtl="0" algn="ctr">
                <a:spcBef>
                  <a:spcPts val="0"/>
                </a:spcBef>
                <a:spcAft>
                  <a:spcPts val="0"/>
                </a:spcAft>
                <a:buNone/>
              </a:pPr>
              <a:r>
                <a:t/>
              </a:r>
              <a:endParaRPr sz="1195"/>
            </a:p>
          </p:txBody>
        </p:sp>
      </p:grpSp>
      <p:sp>
        <p:nvSpPr>
          <p:cNvPr id="391" name="Google Shape;391;g3942a267314_0_0"/>
          <p:cNvSpPr txBox="1"/>
          <p:nvPr/>
        </p:nvSpPr>
        <p:spPr>
          <a:xfrm>
            <a:off x="11173200" y="4023138"/>
            <a:ext cx="1018800" cy="723300"/>
          </a:xfrm>
          <a:prstGeom prst="rect">
            <a:avLst/>
          </a:prstGeom>
          <a:noFill/>
          <a:ln>
            <a:noFill/>
          </a:ln>
        </p:spPr>
        <p:txBody>
          <a:bodyPr anchorCtr="0" anchor="t" bIns="91425" lIns="91425" spcFirstLastPara="1" rIns="91425" wrap="square" tIns="91425">
            <a:spAutoFit/>
          </a:bodyPr>
          <a:lstStyle/>
          <a:p>
            <a:pPr indent="-158750" lvl="0" marL="171450" rtl="0" algn="l">
              <a:spcBef>
                <a:spcPts val="0"/>
              </a:spcBef>
              <a:spcAft>
                <a:spcPts val="0"/>
              </a:spcAft>
              <a:buSzPts val="700"/>
              <a:buChar char="-"/>
            </a:pPr>
            <a:r>
              <a:rPr i="1" lang="en-US" sz="700"/>
              <a:t>ev. </a:t>
            </a:r>
            <a:r>
              <a:rPr i="1" lang="en-US" sz="700"/>
              <a:t>no proporcionalidad</a:t>
            </a:r>
            <a:endParaRPr i="1" sz="700"/>
          </a:p>
          <a:p>
            <a:pPr indent="-158750" lvl="0" marL="171450" rtl="0" algn="l">
              <a:spcBef>
                <a:spcPts val="0"/>
              </a:spcBef>
              <a:spcAft>
                <a:spcPts val="0"/>
              </a:spcAft>
              <a:buSzPts val="700"/>
              <a:buChar char="-"/>
            </a:pPr>
            <a:r>
              <a:rPr i="1" lang="en-US" sz="700"/>
              <a:t>introducción de términos de ajuste</a:t>
            </a:r>
            <a:endParaRPr i="1"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95ca3def7f_0_0"/>
          <p:cNvSpPr/>
          <p:nvPr/>
        </p:nvSpPr>
        <p:spPr>
          <a:xfrm>
            <a:off x="1607768" y="193300"/>
            <a:ext cx="362100" cy="4939800"/>
          </a:xfrm>
          <a:prstGeom prst="leftBrace">
            <a:avLst>
              <a:gd fmla="val 8333" name="adj1"/>
              <a:gd fmla="val 50000" name="adj2"/>
            </a:avLst>
          </a:prstGeom>
          <a:noFill/>
          <a:ln cap="flat" cmpd="sng" w="25400">
            <a:solidFill>
              <a:srgbClr val="505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97" name="Google Shape;397;g395ca3def7f_0_0"/>
          <p:cNvCxnSpPr/>
          <p:nvPr/>
        </p:nvCxnSpPr>
        <p:spPr>
          <a:xfrm>
            <a:off x="1514475" y="5222875"/>
            <a:ext cx="9982200" cy="0"/>
          </a:xfrm>
          <a:prstGeom prst="straightConnector1">
            <a:avLst/>
          </a:prstGeom>
          <a:noFill/>
          <a:ln cap="flat" cmpd="sng" w="19050">
            <a:solidFill>
              <a:srgbClr val="969696"/>
            </a:solidFill>
            <a:prstDash val="dash"/>
            <a:miter lim="800000"/>
            <a:headEnd len="sm" w="sm" type="none"/>
            <a:tailEnd len="sm" w="sm" type="none"/>
          </a:ln>
        </p:spPr>
      </p:cxnSp>
      <p:grpSp>
        <p:nvGrpSpPr>
          <p:cNvPr id="398" name="Google Shape;398;g395ca3def7f_0_0"/>
          <p:cNvGrpSpPr/>
          <p:nvPr/>
        </p:nvGrpSpPr>
        <p:grpSpPr>
          <a:xfrm>
            <a:off x="3231649" y="193300"/>
            <a:ext cx="3862786" cy="2077001"/>
            <a:chOff x="2074909" y="339239"/>
            <a:chExt cx="5545200" cy="3555900"/>
          </a:xfrm>
        </p:grpSpPr>
        <p:sp>
          <p:nvSpPr>
            <p:cNvPr id="399" name="Google Shape;399;g395ca3def7f_0_0"/>
            <p:cNvSpPr/>
            <p:nvPr/>
          </p:nvSpPr>
          <p:spPr>
            <a:xfrm>
              <a:off x="2074909" y="339239"/>
              <a:ext cx="5545200" cy="3555900"/>
            </a:xfrm>
            <a:prstGeom prst="rect">
              <a:avLst/>
            </a:prstGeom>
            <a:solidFill>
              <a:srgbClr val="FFFFFF"/>
            </a:solidFill>
            <a:ln cap="flat" cmpd="sng" w="25400">
              <a:solidFill>
                <a:srgbClr val="22222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505050"/>
                  </a:solidFill>
                </a:rPr>
                <a:t>ML-guided </a:t>
              </a:r>
              <a:endParaRPr b="1" sz="1800">
                <a:solidFill>
                  <a:srgbClr val="505050"/>
                </a:solidFill>
              </a:endParaRPr>
            </a:p>
            <a:p>
              <a:pPr indent="0" lvl="0" marL="0" marR="0" rtl="0" algn="l">
                <a:spcBef>
                  <a:spcPts val="0"/>
                </a:spcBef>
                <a:spcAft>
                  <a:spcPts val="0"/>
                </a:spcAft>
                <a:buNone/>
              </a:pPr>
              <a:r>
                <a:rPr b="1" lang="en-US" sz="1800">
                  <a:solidFill>
                    <a:srgbClr val="505050"/>
                  </a:solidFill>
                </a:rPr>
                <a:t>predictor </a:t>
              </a:r>
              <a:endParaRPr b="1" sz="1800">
                <a:solidFill>
                  <a:srgbClr val="505050"/>
                </a:solidFill>
              </a:endParaRPr>
            </a:p>
            <a:p>
              <a:pPr indent="0" lvl="0" marL="0" marR="0" rtl="0" algn="l">
                <a:spcBef>
                  <a:spcPts val="0"/>
                </a:spcBef>
                <a:spcAft>
                  <a:spcPts val="0"/>
                </a:spcAft>
                <a:buNone/>
              </a:pPr>
              <a:r>
                <a:rPr b="1" lang="en-US" sz="1800">
                  <a:solidFill>
                    <a:srgbClr val="505050"/>
                  </a:solidFill>
                </a:rPr>
                <a:t>discovery and</a:t>
              </a:r>
              <a:endParaRPr b="1" sz="1800">
                <a:solidFill>
                  <a:srgbClr val="505050"/>
                </a:solidFill>
              </a:endParaRPr>
            </a:p>
            <a:p>
              <a:pPr indent="0" lvl="0" marL="0" marR="0" rtl="0" algn="l">
                <a:spcBef>
                  <a:spcPts val="0"/>
                </a:spcBef>
                <a:spcAft>
                  <a:spcPts val="0"/>
                </a:spcAft>
                <a:buNone/>
              </a:pPr>
              <a:r>
                <a:rPr b="1" lang="en-US" sz="1800">
                  <a:solidFill>
                    <a:srgbClr val="505050"/>
                  </a:solidFill>
                </a:rPr>
                <a:t>specification</a:t>
              </a:r>
              <a:endParaRPr b="1" sz="1800">
                <a:solidFill>
                  <a:srgbClr val="505050"/>
                </a:solidFill>
              </a:endParaRPr>
            </a:p>
          </p:txBody>
        </p:sp>
        <p:sp>
          <p:nvSpPr>
            <p:cNvPr id="400" name="Google Shape;400;g395ca3def7f_0_0"/>
            <p:cNvSpPr/>
            <p:nvPr/>
          </p:nvSpPr>
          <p:spPr>
            <a:xfrm>
              <a:off x="4480057" y="427029"/>
              <a:ext cx="3071100" cy="1074900"/>
            </a:xfrm>
            <a:prstGeom prst="rect">
              <a:avLst/>
            </a:prstGeom>
            <a:solidFill>
              <a:srgbClr val="969696"/>
            </a:solidFill>
            <a:ln cap="flat" cmpd="sng" w="9525">
              <a:solidFill>
                <a:srgbClr val="2222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rPr>
                <a:t>Hyperparameter tuning</a:t>
              </a:r>
              <a:r>
                <a:rPr b="1" lang="en-US" sz="1000">
                  <a:solidFill>
                    <a:srgbClr val="FFFFFF"/>
                  </a:solidFill>
                </a:rPr>
                <a:t> + optimal XGBoost</a:t>
              </a:r>
              <a:br>
                <a:rPr b="1" lang="en-US" sz="1000">
                  <a:solidFill>
                    <a:srgbClr val="FFFFFF"/>
                  </a:solidFill>
                </a:rPr>
              </a:br>
              <a:r>
                <a:rPr b="1" lang="en-US" sz="1000">
                  <a:solidFill>
                    <a:srgbClr val="FFFFFF"/>
                  </a:solidFill>
                </a:rPr>
                <a:t>(based on Uno’C &amp; Brier Score):</a:t>
              </a:r>
              <a:endParaRPr b="1" sz="1000">
                <a:solidFill>
                  <a:srgbClr val="FFFFFF"/>
                </a:solidFill>
              </a:endParaRPr>
            </a:p>
            <a:p>
              <a:pPr indent="0" lvl="0" marL="0" marR="0" rtl="0" algn="ctr">
                <a:spcBef>
                  <a:spcPts val="0"/>
                </a:spcBef>
                <a:spcAft>
                  <a:spcPts val="0"/>
                </a:spcAft>
                <a:buNone/>
              </a:pPr>
              <a:r>
                <a:rPr b="1" lang="en-US" sz="1000">
                  <a:solidFill>
                    <a:srgbClr val="FFFFFF"/>
                  </a:solidFill>
                </a:rPr>
                <a:t>– Optuna algorithm</a:t>
              </a:r>
              <a:endParaRPr b="1" sz="1000">
                <a:solidFill>
                  <a:srgbClr val="FFFFFF"/>
                </a:solidFill>
              </a:endParaRPr>
            </a:p>
          </p:txBody>
        </p:sp>
        <p:cxnSp>
          <p:nvCxnSpPr>
            <p:cNvPr id="401" name="Google Shape;401;g395ca3def7f_0_0"/>
            <p:cNvCxnSpPr/>
            <p:nvPr/>
          </p:nvCxnSpPr>
          <p:spPr>
            <a:xfrm>
              <a:off x="6038061" y="1561184"/>
              <a:ext cx="0" cy="381000"/>
            </a:xfrm>
            <a:prstGeom prst="straightConnector1">
              <a:avLst/>
            </a:prstGeom>
            <a:noFill/>
            <a:ln cap="flat" cmpd="sng" w="19050">
              <a:solidFill>
                <a:srgbClr val="222222"/>
              </a:solidFill>
              <a:prstDash val="solid"/>
              <a:miter lim="800000"/>
              <a:headEnd len="sm" w="sm" type="none"/>
              <a:tailEnd len="med" w="med" type="triangle"/>
            </a:ln>
          </p:spPr>
        </p:cxnSp>
        <p:sp>
          <p:nvSpPr>
            <p:cNvPr id="402" name="Google Shape;402;g395ca3def7f_0_0"/>
            <p:cNvSpPr/>
            <p:nvPr/>
          </p:nvSpPr>
          <p:spPr>
            <a:xfrm>
              <a:off x="4480065" y="1958383"/>
              <a:ext cx="3071100" cy="391500"/>
            </a:xfrm>
            <a:prstGeom prst="rect">
              <a:avLst/>
            </a:prstGeom>
            <a:solidFill>
              <a:srgbClr val="969696"/>
            </a:solidFill>
            <a:ln cap="flat" cmpd="sng" w="9525">
              <a:solidFill>
                <a:srgbClr val="2222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rPr>
                <a:t>Calculate SHAP val</a:t>
              </a:r>
              <a:r>
                <a:rPr b="1" lang="en-US" sz="1000">
                  <a:solidFill>
                    <a:srgbClr val="FFFFFF"/>
                  </a:solidFill>
                </a:rPr>
                <a:t>ues</a:t>
              </a:r>
              <a:endParaRPr b="1" sz="1000"/>
            </a:p>
          </p:txBody>
        </p:sp>
        <p:cxnSp>
          <p:nvCxnSpPr>
            <p:cNvPr id="403" name="Google Shape;403;g395ca3def7f_0_0"/>
            <p:cNvCxnSpPr/>
            <p:nvPr/>
          </p:nvCxnSpPr>
          <p:spPr>
            <a:xfrm>
              <a:off x="6038080" y="2407726"/>
              <a:ext cx="0" cy="381000"/>
            </a:xfrm>
            <a:prstGeom prst="straightConnector1">
              <a:avLst/>
            </a:prstGeom>
            <a:noFill/>
            <a:ln cap="flat" cmpd="sng" w="19050">
              <a:solidFill>
                <a:srgbClr val="222222"/>
              </a:solidFill>
              <a:prstDash val="solid"/>
              <a:miter lim="800000"/>
              <a:headEnd len="sm" w="sm" type="none"/>
              <a:tailEnd len="med" w="med" type="triangle"/>
            </a:ln>
          </p:spPr>
        </p:cxnSp>
        <p:sp>
          <p:nvSpPr>
            <p:cNvPr id="404" name="Google Shape;404;g395ca3def7f_0_0"/>
            <p:cNvSpPr/>
            <p:nvPr/>
          </p:nvSpPr>
          <p:spPr>
            <a:xfrm>
              <a:off x="4480057" y="2817945"/>
              <a:ext cx="3071100" cy="972000"/>
            </a:xfrm>
            <a:prstGeom prst="rect">
              <a:avLst/>
            </a:prstGeom>
            <a:solidFill>
              <a:srgbClr val="969696"/>
            </a:solidFill>
            <a:ln cap="flat" cmpd="sng" w="9525">
              <a:solidFill>
                <a:srgbClr val="2222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b="1" lang="en-US" sz="1000">
                  <a:solidFill>
                    <a:srgbClr val="FFFFFF"/>
                  </a:solidFill>
                </a:rPr>
                <a:t>Select most consistent and influential predictors </a:t>
              </a:r>
              <a:br>
                <a:rPr b="1" lang="en-US" sz="1000">
                  <a:solidFill>
                    <a:srgbClr val="FFFFFF"/>
                  </a:solidFill>
                </a:rPr>
              </a:br>
              <a:r>
                <a:rPr b="1" lang="en-US" sz="1000">
                  <a:solidFill>
                    <a:srgbClr val="FFFFFF"/>
                  </a:solidFill>
                </a:rPr>
                <a:t>(Non-linearity &amp; interactions)</a:t>
              </a:r>
              <a:endParaRPr b="1" sz="1000"/>
            </a:p>
          </p:txBody>
        </p:sp>
      </p:grpSp>
      <p:sp>
        <p:nvSpPr>
          <p:cNvPr id="405" name="Google Shape;405;g395ca3def7f_0_0"/>
          <p:cNvSpPr/>
          <p:nvPr/>
        </p:nvSpPr>
        <p:spPr>
          <a:xfrm>
            <a:off x="7231775" y="1328800"/>
            <a:ext cx="2795400" cy="9414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t>Pre-specified candidate predictors</a:t>
            </a:r>
            <a:endParaRPr b="1" sz="1200">
              <a:solidFill>
                <a:srgbClr val="000000"/>
              </a:solidFill>
              <a:latin typeface="Arial"/>
              <a:ea typeface="Arial"/>
              <a:cs typeface="Arial"/>
              <a:sym typeface="Arial"/>
            </a:endParaRPr>
          </a:p>
          <a:p>
            <a:pPr indent="-279400" lvl="0" marL="285750" marR="0" rtl="0" algn="l">
              <a:spcBef>
                <a:spcPts val="0"/>
              </a:spcBef>
              <a:spcAft>
                <a:spcPts val="0"/>
              </a:spcAft>
              <a:buClr>
                <a:srgbClr val="000000"/>
              </a:buClr>
              <a:buSzPts val="1000"/>
              <a:buFont typeface="Arial"/>
              <a:buChar char="-"/>
            </a:pPr>
            <a:r>
              <a:rPr lang="en-US" sz="1000"/>
              <a:t>Days in treatment</a:t>
            </a:r>
            <a:endParaRPr sz="1000"/>
          </a:p>
          <a:p>
            <a:pPr indent="-279400" lvl="0" marL="285750" marR="0" rtl="0" algn="l">
              <a:spcBef>
                <a:spcPts val="0"/>
              </a:spcBef>
              <a:spcAft>
                <a:spcPts val="0"/>
              </a:spcAft>
              <a:buSzPts val="1000"/>
              <a:buChar char="-"/>
            </a:pPr>
            <a:r>
              <a:rPr lang="en-US" sz="1000"/>
              <a:t>Tr. outcome</a:t>
            </a:r>
            <a:endParaRPr sz="1000"/>
          </a:p>
          <a:p>
            <a:pPr indent="-279400" lvl="0" marL="285750" marR="0" rtl="0" algn="l">
              <a:spcBef>
                <a:spcPts val="0"/>
              </a:spcBef>
              <a:spcAft>
                <a:spcPts val="0"/>
              </a:spcAft>
              <a:buClr>
                <a:srgbClr val="000000"/>
              </a:buClr>
              <a:buSzPts val="1000"/>
              <a:buFont typeface="Arial"/>
              <a:buChar char="-"/>
            </a:pPr>
            <a:r>
              <a:rPr lang="en-US" sz="1000"/>
              <a:t>Primary substance at admission</a:t>
            </a:r>
            <a:br>
              <a:rPr lang="en-US" sz="1000"/>
            </a:br>
            <a:r>
              <a:rPr lang="en-US" sz="1000"/>
              <a:t>. . . </a:t>
            </a:r>
            <a:endParaRPr sz="1000">
              <a:solidFill>
                <a:srgbClr val="000000"/>
              </a:solidFill>
              <a:latin typeface="Arial"/>
              <a:ea typeface="Arial"/>
              <a:cs typeface="Arial"/>
              <a:sym typeface="Arial"/>
            </a:endParaRPr>
          </a:p>
        </p:txBody>
      </p:sp>
      <p:sp>
        <p:nvSpPr>
          <p:cNvPr id="406" name="Google Shape;406;g395ca3def7f_0_0"/>
          <p:cNvSpPr/>
          <p:nvPr/>
        </p:nvSpPr>
        <p:spPr>
          <a:xfrm>
            <a:off x="4707140" y="3066075"/>
            <a:ext cx="4023000" cy="396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t>Collinearity screening</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b="1" lang="en-US" sz="1400">
                <a:solidFill>
                  <a:srgbClr val="000000"/>
                </a:solidFill>
                <a:latin typeface="Arial"/>
                <a:ea typeface="Arial"/>
                <a:cs typeface="Arial"/>
                <a:sym typeface="Arial"/>
              </a:rPr>
              <a:t>(</a:t>
            </a:r>
            <a:r>
              <a:rPr b="1" lang="en-US"/>
              <a:t>thresholds </a:t>
            </a:r>
            <a:r>
              <a:rPr b="1" lang="en-US" sz="1400">
                <a:solidFill>
                  <a:srgbClr val="000000"/>
                </a:solidFill>
                <a:latin typeface="Arial"/>
                <a:ea typeface="Arial"/>
                <a:cs typeface="Arial"/>
                <a:sym typeface="Arial"/>
              </a:rPr>
              <a:t>= 0.9 /GVIF </a:t>
            </a:r>
            <a:r>
              <a:rPr b="1" lang="en-US"/>
              <a:t>&gt;=10</a:t>
            </a:r>
            <a:r>
              <a:rPr b="1" lang="en-US" sz="1400">
                <a:solidFill>
                  <a:srgbClr val="000000"/>
                </a:solidFill>
                <a:latin typeface="Arial"/>
                <a:ea typeface="Arial"/>
                <a:cs typeface="Arial"/>
                <a:sym typeface="Arial"/>
              </a:rPr>
              <a:t>)</a:t>
            </a:r>
            <a:endParaRPr/>
          </a:p>
        </p:txBody>
      </p:sp>
      <p:cxnSp>
        <p:nvCxnSpPr>
          <p:cNvPr id="407" name="Google Shape;407;g395ca3def7f_0_0"/>
          <p:cNvCxnSpPr>
            <a:endCxn id="406" idx="0"/>
          </p:cNvCxnSpPr>
          <p:nvPr/>
        </p:nvCxnSpPr>
        <p:spPr>
          <a:xfrm>
            <a:off x="6714440" y="2865375"/>
            <a:ext cx="4200" cy="200700"/>
          </a:xfrm>
          <a:prstGeom prst="straightConnector1">
            <a:avLst/>
          </a:prstGeom>
          <a:noFill/>
          <a:ln cap="flat" cmpd="sng" w="19050">
            <a:solidFill>
              <a:schemeClr val="accent1"/>
            </a:solidFill>
            <a:prstDash val="solid"/>
            <a:miter lim="800000"/>
            <a:headEnd len="sm" w="sm" type="none"/>
            <a:tailEnd len="med" w="med" type="triangle"/>
          </a:ln>
        </p:spPr>
      </p:cxnSp>
      <p:grpSp>
        <p:nvGrpSpPr>
          <p:cNvPr id="408" name="Google Shape;408;g395ca3def7f_0_0"/>
          <p:cNvGrpSpPr/>
          <p:nvPr/>
        </p:nvGrpSpPr>
        <p:grpSpPr>
          <a:xfrm>
            <a:off x="1638580" y="5133185"/>
            <a:ext cx="8940120" cy="755117"/>
            <a:chOff x="1444751" y="4858941"/>
            <a:chExt cx="8940120" cy="1636932"/>
          </a:xfrm>
        </p:grpSpPr>
        <p:sp>
          <p:nvSpPr>
            <p:cNvPr id="409" name="Google Shape;409;g395ca3def7f_0_0"/>
            <p:cNvSpPr/>
            <p:nvPr/>
          </p:nvSpPr>
          <p:spPr>
            <a:xfrm>
              <a:off x="1444751" y="5131068"/>
              <a:ext cx="291300" cy="1029000"/>
            </a:xfrm>
            <a:prstGeom prst="leftBrace">
              <a:avLst>
                <a:gd fmla="val 8333" name="adj1"/>
                <a:gd fmla="val 50000" name="adj2"/>
              </a:avLst>
            </a:prstGeom>
            <a:noFill/>
            <a:ln cap="flat" cmpd="sng" w="25400">
              <a:solidFill>
                <a:srgbClr val="505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nvGrpSpPr>
            <p:cNvPr id="410" name="Google Shape;410;g395ca3def7f_0_0"/>
            <p:cNvGrpSpPr/>
            <p:nvPr/>
          </p:nvGrpSpPr>
          <p:grpSpPr>
            <a:xfrm>
              <a:off x="2710382" y="4858941"/>
              <a:ext cx="7674488" cy="1636932"/>
              <a:chOff x="2710382" y="4858941"/>
              <a:chExt cx="7674488" cy="1636932"/>
            </a:xfrm>
          </p:grpSpPr>
          <p:cxnSp>
            <p:nvCxnSpPr>
              <p:cNvPr id="411" name="Google Shape;411;g395ca3def7f_0_0"/>
              <p:cNvCxnSpPr/>
              <p:nvPr/>
            </p:nvCxnSpPr>
            <p:spPr>
              <a:xfrm>
                <a:off x="4137839" y="4858941"/>
                <a:ext cx="0" cy="591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12" name="Google Shape;412;g395ca3def7f_0_0"/>
              <p:cNvCxnSpPr/>
              <p:nvPr/>
            </p:nvCxnSpPr>
            <p:spPr>
              <a:xfrm>
                <a:off x="9150335" y="4865750"/>
                <a:ext cx="0" cy="591000"/>
              </a:xfrm>
              <a:prstGeom prst="straightConnector1">
                <a:avLst/>
              </a:prstGeom>
              <a:noFill/>
              <a:ln cap="flat" cmpd="sng" w="19050">
                <a:solidFill>
                  <a:schemeClr val="accent1"/>
                </a:solidFill>
                <a:prstDash val="solid"/>
                <a:miter lim="800000"/>
                <a:headEnd len="sm" w="sm" type="none"/>
                <a:tailEnd len="med" w="med" type="triangle"/>
              </a:ln>
            </p:spPr>
          </p:cxnSp>
          <p:sp>
            <p:nvSpPr>
              <p:cNvPr id="413" name="Google Shape;413;g395ca3def7f_0_0"/>
              <p:cNvSpPr/>
              <p:nvPr/>
            </p:nvSpPr>
            <p:spPr>
              <a:xfrm>
                <a:off x="2710382" y="5458045"/>
                <a:ext cx="2892900" cy="7620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000">
                    <a:solidFill>
                      <a:schemeClr val="dk1"/>
                    </a:solidFill>
                  </a:rPr>
                  <a:t>Predict from better informed Cox model</a:t>
                </a:r>
                <a:endParaRPr b="1" sz="1000"/>
              </a:p>
            </p:txBody>
          </p:sp>
          <p:sp>
            <p:nvSpPr>
              <p:cNvPr id="414" name="Google Shape;414;g395ca3def7f_0_0"/>
              <p:cNvSpPr/>
              <p:nvPr/>
            </p:nvSpPr>
            <p:spPr>
              <a:xfrm>
                <a:off x="7588870" y="5452514"/>
                <a:ext cx="2796000" cy="7620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t>Predict from better informed Cox model</a:t>
                </a:r>
                <a:endParaRPr b="1" sz="1000">
                  <a:solidFill>
                    <a:srgbClr val="000000"/>
                  </a:solidFill>
                  <a:latin typeface="Arial"/>
                  <a:ea typeface="Arial"/>
                  <a:cs typeface="Arial"/>
                  <a:sym typeface="Arial"/>
                </a:endParaRPr>
              </a:p>
            </p:txBody>
          </p:sp>
          <p:sp>
            <p:nvSpPr>
              <p:cNvPr id="415" name="Google Shape;415;g395ca3def7f_0_0"/>
              <p:cNvSpPr/>
              <p:nvPr/>
            </p:nvSpPr>
            <p:spPr>
              <a:xfrm>
                <a:off x="5907064" y="5189673"/>
                <a:ext cx="1269900" cy="1306200"/>
              </a:xfrm>
              <a:prstGeom prst="rect">
                <a:avLst/>
              </a:prstGeom>
              <a:solidFill>
                <a:srgbClr val="FFFFFF"/>
              </a:solidFill>
              <a:ln cap="flat" cmpd="sng" w="19050">
                <a:solidFill>
                  <a:srgbClr val="C8C8C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US" sz="1100"/>
                  <a:t>Performance</a:t>
                </a:r>
                <a:br>
                  <a:rPr b="1" lang="en-US" sz="1100"/>
                </a:br>
                <a:r>
                  <a:rPr b="1" lang="en-US" sz="1100"/>
                  <a:t>metrics</a:t>
                </a:r>
                <a:endParaRPr b="1" sz="1100"/>
              </a:p>
            </p:txBody>
          </p:sp>
          <p:cxnSp>
            <p:nvCxnSpPr>
              <p:cNvPr id="416" name="Google Shape;416;g395ca3def7f_0_0"/>
              <p:cNvCxnSpPr>
                <a:stCxn id="413" idx="3"/>
                <a:endCxn id="415" idx="1"/>
              </p:cNvCxnSpPr>
              <p:nvPr/>
            </p:nvCxnSpPr>
            <p:spPr>
              <a:xfrm>
                <a:off x="5603282" y="5839045"/>
                <a:ext cx="303900" cy="36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17" name="Google Shape;417;g395ca3def7f_0_0"/>
              <p:cNvCxnSpPr>
                <a:stCxn id="414" idx="1"/>
                <a:endCxn id="415" idx="3"/>
              </p:cNvCxnSpPr>
              <p:nvPr/>
            </p:nvCxnSpPr>
            <p:spPr>
              <a:xfrm flipH="1">
                <a:off x="7176970" y="5833514"/>
                <a:ext cx="411900" cy="9300"/>
              </a:xfrm>
              <a:prstGeom prst="straightConnector1">
                <a:avLst/>
              </a:prstGeom>
              <a:noFill/>
              <a:ln cap="flat" cmpd="sng" w="19050">
                <a:solidFill>
                  <a:schemeClr val="accent1"/>
                </a:solidFill>
                <a:prstDash val="solid"/>
                <a:miter lim="800000"/>
                <a:headEnd len="sm" w="sm" type="none"/>
                <a:tailEnd len="med" w="med" type="triangle"/>
              </a:ln>
            </p:spPr>
          </p:cxnSp>
        </p:grpSp>
      </p:grpSp>
      <p:grpSp>
        <p:nvGrpSpPr>
          <p:cNvPr id="418" name="Google Shape;418;g395ca3def7f_0_0"/>
          <p:cNvGrpSpPr/>
          <p:nvPr/>
        </p:nvGrpSpPr>
        <p:grpSpPr>
          <a:xfrm>
            <a:off x="1998675" y="3524219"/>
            <a:ext cx="9013800" cy="1546036"/>
            <a:chOff x="1998674" y="3340434"/>
            <a:chExt cx="9013800" cy="1631700"/>
          </a:xfrm>
        </p:grpSpPr>
        <p:sp>
          <p:nvSpPr>
            <p:cNvPr id="419" name="Google Shape;419;g395ca3def7f_0_0"/>
            <p:cNvSpPr/>
            <p:nvPr/>
          </p:nvSpPr>
          <p:spPr>
            <a:xfrm>
              <a:off x="1998674" y="3340434"/>
              <a:ext cx="9013800" cy="1631700"/>
            </a:xfrm>
            <a:prstGeom prst="rect">
              <a:avLst/>
            </a:prstGeom>
            <a:noFill/>
            <a:ln cap="flat" cmpd="sng" w="25400">
              <a:solidFill>
                <a:srgbClr val="0064C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64C8"/>
                  </a:solidFill>
                  <a:latin typeface="Arial"/>
                  <a:ea typeface="Arial"/>
                  <a:cs typeface="Arial"/>
                  <a:sym typeface="Arial"/>
                </a:rPr>
                <a:t>Cox models for </a:t>
              </a:r>
              <a:br>
                <a:rPr b="1" lang="en-US" sz="1800">
                  <a:solidFill>
                    <a:srgbClr val="0064C8"/>
                  </a:solidFill>
                  <a:latin typeface="Arial"/>
                  <a:ea typeface="Arial"/>
                  <a:cs typeface="Arial"/>
                  <a:sym typeface="Arial"/>
                </a:rPr>
              </a:br>
              <a:r>
                <a:rPr b="1" lang="en-US" sz="1800">
                  <a:solidFill>
                    <a:srgbClr val="0064C8"/>
                  </a:solidFill>
                  <a:latin typeface="Arial"/>
                  <a:ea typeface="Arial"/>
                  <a:cs typeface="Arial"/>
                  <a:sym typeface="Arial"/>
                </a:rPr>
                <a:t>risk prediction</a:t>
              </a:r>
              <a:endParaRPr b="1" sz="1800">
                <a:solidFill>
                  <a:srgbClr val="0064C8"/>
                </a:solidFill>
              </a:endParaRPr>
            </a:p>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0" name="Google Shape;420;g395ca3def7f_0_0"/>
            <p:cNvSpPr/>
            <p:nvPr/>
          </p:nvSpPr>
          <p:spPr>
            <a:xfrm>
              <a:off x="2778101" y="3944550"/>
              <a:ext cx="3012600" cy="8889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Base Cox with </a:t>
              </a:r>
              <a:r>
                <a:rPr lang="en-US" sz="1000">
                  <a:solidFill>
                    <a:srgbClr val="FFFFFF"/>
                  </a:solidFill>
                </a:rPr>
                <a:t>established</a:t>
              </a:r>
              <a:r>
                <a:rPr lang="en-US" sz="1000">
                  <a:solidFill>
                    <a:srgbClr val="FFFFFF"/>
                  </a:solidFill>
                </a:rPr>
                <a:t> predictors</a:t>
              </a:r>
              <a:endParaRPr sz="1000"/>
            </a:p>
            <a:p>
              <a:pPr indent="0" lvl="0" marL="0" marR="0" rtl="0" algn="ctr">
                <a:spcBef>
                  <a:spcPts val="0"/>
                </a:spcBef>
                <a:spcAft>
                  <a:spcPts val="0"/>
                </a:spcAft>
                <a:buNone/>
              </a:pPr>
              <a:r>
                <a:rPr i="1" lang="en-US" sz="900">
                  <a:solidFill>
                    <a:srgbClr val="FFFFFF"/>
                  </a:solidFill>
                  <a:latin typeface="Arial"/>
                  <a:ea typeface="Arial"/>
                  <a:cs typeface="Arial"/>
                  <a:sym typeface="Arial"/>
                </a:rPr>
                <a:t>h</a:t>
              </a:r>
              <a:r>
                <a:rPr lang="en-US" sz="900">
                  <a:solidFill>
                    <a:srgbClr val="FFFFFF"/>
                  </a:solidFill>
                  <a:latin typeface="Arial"/>
                  <a:ea typeface="Arial"/>
                  <a:cs typeface="Arial"/>
                  <a:sym typeface="Arial"/>
                </a:rPr>
                <a:t>(</a:t>
              </a:r>
              <a:r>
                <a:rPr i="1" lang="en-US" sz="900">
                  <a:solidFill>
                    <a:srgbClr val="FFFFFF"/>
                  </a:solidFill>
                  <a:latin typeface="Arial"/>
                  <a:ea typeface="Arial"/>
                  <a:cs typeface="Arial"/>
                  <a:sym typeface="Arial"/>
                </a:rPr>
                <a:t>t</a:t>
              </a:r>
              <a:r>
                <a:rPr lang="en-US" sz="900">
                  <a:solidFill>
                    <a:srgbClr val="FFFFFF"/>
                  </a:solidFill>
                  <a:latin typeface="Arial"/>
                  <a:ea typeface="Arial"/>
                  <a:cs typeface="Arial"/>
                  <a:sym typeface="Arial"/>
                </a:rPr>
                <a:t>) = </a:t>
              </a:r>
              <a:r>
                <a:rPr i="1" lang="en-US" sz="900">
                  <a:solidFill>
                    <a:srgbClr val="FFFFFF"/>
                  </a:solidFill>
                  <a:latin typeface="Arial"/>
                  <a:ea typeface="Arial"/>
                  <a:cs typeface="Arial"/>
                  <a:sym typeface="Arial"/>
                </a:rPr>
                <a:t>h</a:t>
              </a:r>
              <a:r>
                <a:rPr baseline="-25000" i="1" lang="en-US" sz="900">
                  <a:solidFill>
                    <a:srgbClr val="FFFFFF"/>
                  </a:solidFill>
                  <a:latin typeface="Arial"/>
                  <a:ea typeface="Arial"/>
                  <a:cs typeface="Arial"/>
                  <a:sym typeface="Arial"/>
                </a:rPr>
                <a:t>0</a:t>
              </a:r>
              <a:r>
                <a:rPr lang="en-US" sz="900">
                  <a:solidFill>
                    <a:srgbClr val="FFFFFF"/>
                  </a:solidFill>
                  <a:latin typeface="Arial"/>
                  <a:ea typeface="Arial"/>
                  <a:cs typeface="Arial"/>
                  <a:sym typeface="Arial"/>
                </a:rPr>
                <a:t>(</a:t>
              </a:r>
              <a:r>
                <a:rPr i="1" lang="en-US" sz="900">
                  <a:solidFill>
                    <a:srgbClr val="FFFFFF"/>
                  </a:solidFill>
                  <a:latin typeface="Arial"/>
                  <a:ea typeface="Arial"/>
                  <a:cs typeface="Arial"/>
                  <a:sym typeface="Arial"/>
                </a:rPr>
                <a:t>t</a:t>
              </a:r>
              <a:r>
                <a:rPr lang="en-US" sz="900">
                  <a:solidFill>
                    <a:srgbClr val="FFFFFF"/>
                  </a:solidFill>
                  <a:latin typeface="Arial"/>
                  <a:ea typeface="Arial"/>
                  <a:cs typeface="Arial"/>
                  <a:sym typeface="Arial"/>
                </a:rPr>
                <a:t>) exp(a</a:t>
              </a:r>
              <a:r>
                <a:rPr baseline="-25000" lang="en-US" sz="900">
                  <a:solidFill>
                    <a:srgbClr val="FFFFFF"/>
                  </a:solidFill>
                  <a:latin typeface="Arial"/>
                  <a:ea typeface="Arial"/>
                  <a:cs typeface="Arial"/>
                  <a:sym typeface="Arial"/>
                </a:rPr>
                <a:t>1</a:t>
              </a:r>
              <a:r>
                <a:rPr lang="en-US" sz="900">
                  <a:solidFill>
                    <a:srgbClr val="FFFFFF"/>
                  </a:solidFill>
                  <a:latin typeface="Arial"/>
                  <a:ea typeface="Arial"/>
                  <a:cs typeface="Arial"/>
                  <a:sym typeface="Arial"/>
                </a:rPr>
                <a:t>*</a:t>
              </a:r>
              <a:r>
                <a:rPr baseline="-25000" lang="en-US" sz="900">
                  <a:solidFill>
                    <a:srgbClr val="FFFFFF"/>
                  </a:solidFill>
                  <a:latin typeface="Arial"/>
                  <a:ea typeface="Arial"/>
                  <a:cs typeface="Arial"/>
                  <a:sym typeface="Arial"/>
                </a:rPr>
                <a:t>Age</a:t>
              </a:r>
              <a:r>
                <a:rPr baseline="-25000" lang="en-US" sz="900">
                  <a:solidFill>
                    <a:srgbClr val="FFFFFF"/>
                  </a:solidFill>
                </a:rPr>
                <a:t> at admission</a:t>
              </a:r>
              <a:r>
                <a:rPr lang="en-US" sz="900">
                  <a:solidFill>
                    <a:srgbClr val="FFFFFF"/>
                  </a:solidFill>
                  <a:latin typeface="Arial"/>
                  <a:ea typeface="Arial"/>
                  <a:cs typeface="Arial"/>
                  <a:sym typeface="Arial"/>
                </a:rPr>
                <a:t>+ a</a:t>
              </a:r>
              <a:r>
                <a:rPr baseline="-25000" lang="en-US" sz="900">
                  <a:solidFill>
                    <a:srgbClr val="FFFFFF"/>
                  </a:solidFill>
                  <a:latin typeface="Arial"/>
                  <a:ea typeface="Arial"/>
                  <a:cs typeface="Arial"/>
                  <a:sym typeface="Arial"/>
                </a:rPr>
                <a:t>2</a:t>
              </a:r>
              <a:r>
                <a:rPr lang="en-US" sz="900">
                  <a:solidFill>
                    <a:srgbClr val="FFFFFF"/>
                  </a:solidFill>
                  <a:latin typeface="Arial"/>
                  <a:ea typeface="Arial"/>
                  <a:cs typeface="Arial"/>
                  <a:sym typeface="Arial"/>
                </a:rPr>
                <a:t>*</a:t>
              </a:r>
              <a:r>
                <a:rPr baseline="-25000" lang="en-US" sz="900">
                  <a:solidFill>
                    <a:srgbClr val="FFFFFF"/>
                  </a:solidFill>
                </a:rPr>
                <a:t>days in treatment</a:t>
              </a:r>
              <a:r>
                <a:rPr lang="en-US" sz="900">
                  <a:solidFill>
                    <a:srgbClr val="FFFFFF"/>
                  </a:solidFill>
                  <a:latin typeface="Arial"/>
                  <a:ea typeface="Arial"/>
                  <a:cs typeface="Arial"/>
                  <a:sym typeface="Arial"/>
                </a:rPr>
                <a:t> + ...)</a:t>
              </a:r>
              <a:endParaRPr sz="900">
                <a:solidFill>
                  <a:srgbClr val="FFFFFF"/>
                </a:solidFill>
                <a:latin typeface="Arial"/>
                <a:ea typeface="Arial"/>
                <a:cs typeface="Arial"/>
                <a:sym typeface="Arial"/>
              </a:endParaRPr>
            </a:p>
          </p:txBody>
        </p:sp>
        <p:sp>
          <p:nvSpPr>
            <p:cNvPr id="421" name="Google Shape;421;g395ca3def7f_0_0"/>
            <p:cNvSpPr/>
            <p:nvPr/>
          </p:nvSpPr>
          <p:spPr>
            <a:xfrm>
              <a:off x="7639251" y="3944550"/>
              <a:ext cx="3066600" cy="8889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FFFFFF"/>
                  </a:solidFill>
                </a:rPr>
                <a:t>ML-informed parsimonious Cox model</a:t>
              </a:r>
              <a:endParaRPr sz="1000">
                <a:solidFill>
                  <a:srgbClr val="FFFFFF"/>
                </a:solidFill>
                <a:latin typeface="Arial"/>
                <a:ea typeface="Arial"/>
                <a:cs typeface="Arial"/>
                <a:sym typeface="Arial"/>
              </a:endParaRPr>
            </a:p>
            <a:p>
              <a:pPr indent="0" lvl="0" marL="0" rtl="0" algn="ctr">
                <a:spcBef>
                  <a:spcPts val="0"/>
                </a:spcBef>
                <a:spcAft>
                  <a:spcPts val="0"/>
                </a:spcAft>
                <a:buNone/>
              </a:pPr>
              <a:r>
                <a:rPr i="1" lang="en-US" sz="900">
                  <a:solidFill>
                    <a:schemeClr val="lt1"/>
                  </a:solidFill>
                </a:rPr>
                <a:t>h</a:t>
              </a:r>
              <a:r>
                <a:rPr lang="en-US" sz="900">
                  <a:solidFill>
                    <a:schemeClr val="lt1"/>
                  </a:solidFill>
                </a:rPr>
                <a:t>(</a:t>
              </a:r>
              <a:r>
                <a:rPr i="1" lang="en-US" sz="900">
                  <a:solidFill>
                    <a:schemeClr val="lt1"/>
                  </a:solidFill>
                </a:rPr>
                <a:t>t</a:t>
              </a:r>
              <a:r>
                <a:rPr lang="en-US" sz="900">
                  <a:solidFill>
                    <a:schemeClr val="lt1"/>
                  </a:solidFill>
                </a:rPr>
                <a:t>) = </a:t>
              </a:r>
              <a:r>
                <a:rPr i="1" lang="en-US" sz="900">
                  <a:solidFill>
                    <a:schemeClr val="lt1"/>
                  </a:solidFill>
                </a:rPr>
                <a:t>h</a:t>
              </a:r>
              <a:r>
                <a:rPr baseline="-25000" i="1" lang="en-US" sz="900">
                  <a:solidFill>
                    <a:schemeClr val="lt1"/>
                  </a:solidFill>
                </a:rPr>
                <a:t>0</a:t>
              </a:r>
              <a:r>
                <a:rPr lang="en-US" sz="900">
                  <a:solidFill>
                    <a:schemeClr val="lt1"/>
                  </a:solidFill>
                </a:rPr>
                <a:t>(</a:t>
              </a:r>
              <a:r>
                <a:rPr i="1" lang="en-US" sz="900">
                  <a:solidFill>
                    <a:schemeClr val="lt1"/>
                  </a:solidFill>
                </a:rPr>
                <a:t>t</a:t>
              </a:r>
              <a:r>
                <a:rPr lang="en-US" sz="900">
                  <a:solidFill>
                    <a:schemeClr val="lt1"/>
                  </a:solidFill>
                </a:rPr>
                <a:t>) exp(b</a:t>
              </a:r>
              <a:r>
                <a:rPr baseline="-25000" lang="en-US" sz="900">
                  <a:solidFill>
                    <a:schemeClr val="lt1"/>
                  </a:solidFill>
                </a:rPr>
                <a:t>1</a:t>
              </a:r>
              <a:r>
                <a:rPr lang="en-US" sz="900">
                  <a:solidFill>
                    <a:schemeClr val="lt1"/>
                  </a:solidFill>
                </a:rPr>
                <a:t>*</a:t>
              </a:r>
              <a:r>
                <a:rPr baseline="-25000" lang="en-US" sz="900">
                  <a:solidFill>
                    <a:schemeClr val="lt1"/>
                  </a:solidFill>
                </a:rPr>
                <a:t>Age at admission</a:t>
              </a:r>
              <a:r>
                <a:rPr lang="en-US" sz="900">
                  <a:solidFill>
                    <a:schemeClr val="lt1"/>
                  </a:solidFill>
                </a:rPr>
                <a:t>+ b</a:t>
              </a:r>
              <a:r>
                <a:rPr baseline="-25000" lang="en-US" sz="900">
                  <a:solidFill>
                    <a:schemeClr val="lt1"/>
                  </a:solidFill>
                </a:rPr>
                <a:t>2</a:t>
              </a:r>
              <a:r>
                <a:rPr lang="en-US" sz="900">
                  <a:solidFill>
                    <a:schemeClr val="lt1"/>
                  </a:solidFill>
                </a:rPr>
                <a:t>*</a:t>
              </a:r>
              <a:r>
                <a:rPr baseline="-25000" lang="en-US" sz="900">
                  <a:solidFill>
                    <a:schemeClr val="lt1"/>
                  </a:solidFill>
                </a:rPr>
                <a:t>days in treatment</a:t>
              </a:r>
              <a:r>
                <a:rPr lang="en-US" sz="900">
                  <a:solidFill>
                    <a:schemeClr val="lt1"/>
                  </a:solidFill>
                </a:rPr>
                <a:t> + ...)</a:t>
              </a:r>
              <a:endParaRPr sz="900">
                <a:solidFill>
                  <a:srgbClr val="FFFFFF"/>
                </a:solidFill>
              </a:endParaRPr>
            </a:p>
          </p:txBody>
        </p:sp>
        <p:sp>
          <p:nvSpPr>
            <p:cNvPr id="422" name="Google Shape;422;g395ca3def7f_0_0"/>
            <p:cNvSpPr/>
            <p:nvPr/>
          </p:nvSpPr>
          <p:spPr>
            <a:xfrm>
              <a:off x="6080099" y="4031946"/>
              <a:ext cx="1269900" cy="7218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00">
                  <a:solidFill>
                    <a:srgbClr val="FFFFFF"/>
                  </a:solidFill>
                </a:rPr>
                <a:t>Performance</a:t>
              </a:r>
              <a:endParaRPr sz="900">
                <a:solidFill>
                  <a:srgbClr val="FFFFFF"/>
                </a:solidFill>
              </a:endParaRPr>
            </a:p>
            <a:p>
              <a:pPr indent="0" lvl="0" marL="0" marR="0" rtl="0" algn="ctr">
                <a:spcBef>
                  <a:spcPts val="0"/>
                </a:spcBef>
                <a:spcAft>
                  <a:spcPts val="0"/>
                </a:spcAft>
                <a:buNone/>
              </a:pPr>
              <a:r>
                <a:rPr lang="en-US" sz="900">
                  <a:solidFill>
                    <a:srgbClr val="FFFFFF"/>
                  </a:solidFill>
                </a:rPr>
                <a:t>metrics</a:t>
              </a:r>
              <a:endParaRPr sz="900">
                <a:solidFill>
                  <a:srgbClr val="FFFFFF"/>
                </a:solidFill>
              </a:endParaRPr>
            </a:p>
          </p:txBody>
        </p:sp>
        <p:cxnSp>
          <p:nvCxnSpPr>
            <p:cNvPr id="423" name="Google Shape;423;g395ca3def7f_0_0"/>
            <p:cNvCxnSpPr>
              <a:stCxn id="420" idx="3"/>
              <a:endCxn id="422" idx="1"/>
            </p:cNvCxnSpPr>
            <p:nvPr/>
          </p:nvCxnSpPr>
          <p:spPr>
            <a:xfrm>
              <a:off x="5790701" y="4389000"/>
              <a:ext cx="289500" cy="3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24" name="Google Shape;424;g395ca3def7f_0_0"/>
            <p:cNvCxnSpPr>
              <a:stCxn id="421" idx="1"/>
              <a:endCxn id="422" idx="3"/>
            </p:cNvCxnSpPr>
            <p:nvPr/>
          </p:nvCxnSpPr>
          <p:spPr>
            <a:xfrm flipH="1">
              <a:off x="7350051" y="4389000"/>
              <a:ext cx="289200" cy="3900"/>
            </a:xfrm>
            <a:prstGeom prst="straightConnector1">
              <a:avLst/>
            </a:prstGeom>
            <a:noFill/>
            <a:ln cap="flat" cmpd="sng" w="19050">
              <a:solidFill>
                <a:schemeClr val="accent1"/>
              </a:solidFill>
              <a:prstDash val="solid"/>
              <a:miter lim="800000"/>
              <a:headEnd len="sm" w="sm" type="none"/>
              <a:tailEnd len="med" w="med" type="triangle"/>
            </a:ln>
          </p:spPr>
        </p:cxnSp>
        <p:grpSp>
          <p:nvGrpSpPr>
            <p:cNvPr id="425" name="Google Shape;425;g395ca3def7f_0_0"/>
            <p:cNvGrpSpPr/>
            <p:nvPr/>
          </p:nvGrpSpPr>
          <p:grpSpPr>
            <a:xfrm>
              <a:off x="4284401" y="3370303"/>
              <a:ext cx="4888150" cy="557846"/>
              <a:chOff x="3728776" y="4093820"/>
              <a:chExt cx="4888150" cy="795900"/>
            </a:xfrm>
          </p:grpSpPr>
          <p:cxnSp>
            <p:nvCxnSpPr>
              <p:cNvPr id="426" name="Google Shape;426;g395ca3def7f_0_0"/>
              <p:cNvCxnSpPr/>
              <p:nvPr/>
            </p:nvCxnSpPr>
            <p:spPr>
              <a:xfrm flipH="1">
                <a:off x="3728776" y="4093820"/>
                <a:ext cx="2430600" cy="795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27" name="Google Shape;427;g395ca3def7f_0_0"/>
              <p:cNvCxnSpPr/>
              <p:nvPr/>
            </p:nvCxnSpPr>
            <p:spPr>
              <a:xfrm>
                <a:off x="6159626" y="4093820"/>
                <a:ext cx="2457300" cy="795900"/>
              </a:xfrm>
              <a:prstGeom prst="straightConnector1">
                <a:avLst/>
              </a:prstGeom>
              <a:noFill/>
              <a:ln cap="flat" cmpd="sng" w="19050">
                <a:solidFill>
                  <a:schemeClr val="accent1"/>
                </a:solidFill>
                <a:prstDash val="solid"/>
                <a:miter lim="800000"/>
                <a:headEnd len="sm" w="sm" type="none"/>
                <a:tailEnd len="med" w="med" type="triangle"/>
              </a:ln>
            </p:spPr>
          </p:cxnSp>
        </p:grpSp>
      </p:grpSp>
      <p:sp>
        <p:nvSpPr>
          <p:cNvPr id="428" name="Google Shape;428;g395ca3def7f_0_0"/>
          <p:cNvSpPr txBox="1"/>
          <p:nvPr/>
        </p:nvSpPr>
        <p:spPr>
          <a:xfrm>
            <a:off x="4437175" y="2523299"/>
            <a:ext cx="4876800" cy="36480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None/>
            </a:pPr>
            <a:r>
              <a:rPr b="1" lang="en-US" sz="1800">
                <a:solidFill>
                  <a:schemeClr val="dk1"/>
                </a:solidFill>
              </a:rPr>
              <a:t>Combined candidate predictor set</a:t>
            </a:r>
            <a:endParaRPr b="1" sz="1800">
              <a:solidFill>
                <a:schemeClr val="dk1"/>
              </a:solidFill>
              <a:latin typeface="Arial"/>
              <a:ea typeface="Arial"/>
              <a:cs typeface="Arial"/>
              <a:sym typeface="Arial"/>
            </a:endParaRPr>
          </a:p>
        </p:txBody>
      </p:sp>
      <p:sp>
        <p:nvSpPr>
          <p:cNvPr id="429" name="Google Shape;429;g395ca3def7f_0_0"/>
          <p:cNvSpPr/>
          <p:nvPr/>
        </p:nvSpPr>
        <p:spPr>
          <a:xfrm rot="5400000">
            <a:off x="6619050" y="452415"/>
            <a:ext cx="195300" cy="3946500"/>
          </a:xfrm>
          <a:prstGeom prst="righ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30" name="Google Shape;430;g395ca3def7f_0_0"/>
          <p:cNvSpPr txBox="1"/>
          <p:nvPr/>
        </p:nvSpPr>
        <p:spPr>
          <a:xfrm>
            <a:off x="68625" y="5366163"/>
            <a:ext cx="15474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chemeClr val="dk1"/>
                </a:solidFill>
              </a:rPr>
              <a:t>Held-out test sample </a:t>
            </a:r>
            <a:r>
              <a:rPr b="1" lang="en-US" sz="1400">
                <a:solidFill>
                  <a:schemeClr val="dk1"/>
                </a:solidFill>
                <a:latin typeface="Arial"/>
                <a:ea typeface="Arial"/>
                <a:cs typeface="Arial"/>
                <a:sym typeface="Arial"/>
              </a:rPr>
              <a:t>(20%)</a:t>
            </a:r>
            <a:endParaRPr/>
          </a:p>
        </p:txBody>
      </p:sp>
      <p:sp>
        <p:nvSpPr>
          <p:cNvPr id="431" name="Google Shape;431;g395ca3def7f_0_0"/>
          <p:cNvSpPr/>
          <p:nvPr/>
        </p:nvSpPr>
        <p:spPr>
          <a:xfrm rot="5400000">
            <a:off x="6641875" y="3079880"/>
            <a:ext cx="146400" cy="57366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g395ca3def7f_0_0"/>
          <p:cNvSpPr/>
          <p:nvPr/>
        </p:nvSpPr>
        <p:spPr>
          <a:xfrm>
            <a:off x="5802300" y="6035073"/>
            <a:ext cx="1828800" cy="1953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t>Optional recalibration</a:t>
            </a:r>
            <a:endParaRPr b="1" sz="1100"/>
          </a:p>
        </p:txBody>
      </p:sp>
      <p:cxnSp>
        <p:nvCxnSpPr>
          <p:cNvPr id="433" name="Google Shape;433;g395ca3def7f_0_0"/>
          <p:cNvCxnSpPr/>
          <p:nvPr/>
        </p:nvCxnSpPr>
        <p:spPr>
          <a:xfrm flipH="1">
            <a:off x="6714325" y="6273675"/>
            <a:ext cx="1500" cy="228600"/>
          </a:xfrm>
          <a:prstGeom prst="straightConnector1">
            <a:avLst/>
          </a:prstGeom>
          <a:noFill/>
          <a:ln cap="flat" cmpd="sng" w="19050">
            <a:solidFill>
              <a:schemeClr val="accent1"/>
            </a:solidFill>
            <a:prstDash val="solid"/>
            <a:miter lim="800000"/>
            <a:headEnd len="sm" w="sm" type="none"/>
            <a:tailEnd len="med" w="med" type="triangle"/>
          </a:ln>
        </p:spPr>
      </p:cxnSp>
      <p:sp>
        <p:nvSpPr>
          <p:cNvPr id="434" name="Google Shape;434;g395ca3def7f_0_0"/>
          <p:cNvSpPr/>
          <p:nvPr/>
        </p:nvSpPr>
        <p:spPr>
          <a:xfrm>
            <a:off x="6029275" y="6536528"/>
            <a:ext cx="1371600" cy="192024"/>
          </a:xfrm>
          <a:prstGeom prst="flowChartProcess">
            <a:avLst/>
          </a:prstGeom>
          <a:noFill/>
          <a:ln cap="flat" cmpd="sng" w="28575">
            <a:solidFill>
              <a:srgbClr val="7575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t>DCA</a:t>
            </a:r>
            <a:endParaRPr b="1" sz="1200"/>
          </a:p>
        </p:txBody>
      </p:sp>
      <p:sp>
        <p:nvSpPr>
          <p:cNvPr id="435" name="Google Shape;435;g395ca3def7f_0_0"/>
          <p:cNvSpPr txBox="1"/>
          <p:nvPr/>
        </p:nvSpPr>
        <p:spPr>
          <a:xfrm>
            <a:off x="1875" y="2509300"/>
            <a:ext cx="1680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a:solidFill>
                  <a:schemeClr val="dk1"/>
                </a:solidFill>
              </a:rPr>
              <a:t>Training </a:t>
            </a:r>
            <a:r>
              <a:rPr b="1" lang="en-US">
                <a:solidFill>
                  <a:schemeClr val="dk1"/>
                </a:solidFill>
              </a:rPr>
              <a:t>(80%) (*)</a:t>
            </a:r>
            <a:endParaRPr/>
          </a:p>
        </p:txBody>
      </p:sp>
      <p:sp>
        <p:nvSpPr>
          <p:cNvPr id="436" name="Google Shape;436;g395ca3def7f_0_0"/>
          <p:cNvSpPr txBox="1"/>
          <p:nvPr/>
        </p:nvSpPr>
        <p:spPr>
          <a:xfrm>
            <a:off x="9192000" y="611590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1"/>
          <p:cNvSpPr txBox="1"/>
          <p:nvPr>
            <p:ph type="title"/>
          </p:nvPr>
        </p:nvSpPr>
        <p:spPr>
          <a:xfrm>
            <a:off x="304800" y="79215"/>
            <a:ext cx="554736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Cox Net </a:t>
            </a:r>
            <a:br>
              <a:rPr lang="en-US"/>
            </a:br>
            <a:r>
              <a:rPr lang="en-US"/>
              <a:t>(Elastic Net) (Feb26)</a:t>
            </a:r>
            <a:endParaRPr/>
          </a:p>
        </p:txBody>
      </p:sp>
      <p:sp>
        <p:nvSpPr>
          <p:cNvPr id="443" name="Google Shape;443;p21"/>
          <p:cNvSpPr txBox="1"/>
          <p:nvPr>
            <p:ph idx="1" type="body"/>
          </p:nvPr>
        </p:nvSpPr>
        <p:spPr>
          <a:xfrm>
            <a:off x="185175" y="1691700"/>
            <a:ext cx="6035100" cy="5166300"/>
          </a:xfrm>
          <a:prstGeom prst="rect">
            <a:avLst/>
          </a:prstGeom>
          <a:noFill/>
          <a:ln>
            <a:noFill/>
          </a:ln>
        </p:spPr>
        <p:txBody>
          <a:bodyPr anchorCtr="0" anchor="t" bIns="45700" lIns="91425" spcFirstLastPara="1" rIns="91425" wrap="square" tIns="45700">
            <a:noAutofit/>
          </a:bodyPr>
          <a:lstStyle/>
          <a:p>
            <a:pPr indent="-215900" lvl="0" marL="228600" rtl="0" algn="l">
              <a:lnSpc>
                <a:spcPct val="80000"/>
              </a:lnSpc>
              <a:spcBef>
                <a:spcPts val="0"/>
              </a:spcBef>
              <a:spcAft>
                <a:spcPts val="0"/>
              </a:spcAft>
              <a:buClr>
                <a:schemeClr val="dk1"/>
              </a:buClr>
              <a:buSzPts val="2390"/>
              <a:buChar char="•"/>
            </a:pPr>
            <a:r>
              <a:rPr lang="en-US" sz="2390"/>
              <a:t> λ ( α Σ |βⱼ|    +   (1 − α) Σ βⱼ² )</a:t>
            </a:r>
            <a:endParaRPr sz="2390"/>
          </a:p>
          <a:p>
            <a:pPr indent="-215900" lvl="0" marL="228600" rtl="0" algn="l">
              <a:lnSpc>
                <a:spcPct val="80000"/>
              </a:lnSpc>
              <a:spcBef>
                <a:spcPts val="1000"/>
              </a:spcBef>
              <a:spcAft>
                <a:spcPts val="0"/>
              </a:spcAft>
              <a:buClr>
                <a:schemeClr val="dk1"/>
              </a:buClr>
              <a:buSzPts val="2390"/>
              <a:buChar char="•"/>
            </a:pPr>
            <a:r>
              <a:rPr lang="en-US" sz="2390"/>
              <a:t>Hyperparameter tuning</a:t>
            </a:r>
            <a:endParaRPr sz="2390"/>
          </a:p>
          <a:p>
            <a:pPr indent="-215900" lvl="1" marL="685800" rtl="0" algn="l">
              <a:lnSpc>
                <a:spcPct val="80000"/>
              </a:lnSpc>
              <a:spcBef>
                <a:spcPts val="500"/>
              </a:spcBef>
              <a:spcAft>
                <a:spcPts val="0"/>
              </a:spcAft>
              <a:buClr>
                <a:schemeClr val="dk1"/>
              </a:buClr>
              <a:buSzPts val="2020"/>
              <a:buChar char="•"/>
            </a:pPr>
            <a:r>
              <a:rPr lang="en-US" sz="2020"/>
              <a:t>Regla 1- Error Estándar (SE)= Modelo con mayor penalización que se encuentre 1-SE del mejor modelo en discriminación Hastie, Tibshirani, &amp; Friedman, 2009)</a:t>
            </a:r>
            <a:endParaRPr sz="2020"/>
          </a:p>
          <a:p>
            <a:pPr indent="-215900" lvl="1" marL="685800" rtl="0" algn="l">
              <a:lnSpc>
                <a:spcPct val="80000"/>
              </a:lnSpc>
              <a:spcBef>
                <a:spcPts val="500"/>
              </a:spcBef>
              <a:spcAft>
                <a:spcPts val="0"/>
              </a:spcAft>
              <a:buClr>
                <a:schemeClr val="dk1"/>
              </a:buClr>
              <a:buSzPts val="2020"/>
              <a:buChar char="•"/>
            </a:pPr>
            <a:r>
              <a:rPr lang="en-US" sz="2020"/>
              <a:t>Validación interna, equilibrio por evento y tipo de plan, K=10 x M=5</a:t>
            </a:r>
            <a:endParaRPr sz="2020"/>
          </a:p>
          <a:p>
            <a:pPr indent="-215900" lvl="1" marL="685800" rtl="0" algn="l">
              <a:lnSpc>
                <a:spcPct val="80000"/>
              </a:lnSpc>
              <a:spcBef>
                <a:spcPts val="500"/>
              </a:spcBef>
              <a:spcAft>
                <a:spcPts val="0"/>
              </a:spcAft>
              <a:buClr>
                <a:schemeClr val="dk1"/>
              </a:buClr>
              <a:buSzPts val="2020"/>
              <a:buChar char="•"/>
            </a:pPr>
            <a:r>
              <a:rPr lang="en-US" sz="2020"/>
              <a:t>Discriminación Uno-C</a:t>
            </a:r>
            <a:endParaRPr sz="2020"/>
          </a:p>
          <a:p>
            <a:pPr indent="-215900" lvl="1" marL="685800" rtl="0" algn="l">
              <a:lnSpc>
                <a:spcPct val="80000"/>
              </a:lnSpc>
              <a:spcBef>
                <a:spcPts val="500"/>
              </a:spcBef>
              <a:spcAft>
                <a:spcPts val="0"/>
              </a:spcAft>
              <a:buClr>
                <a:schemeClr val="dk1"/>
              </a:buClr>
              <a:buSzPts val="2020"/>
              <a:buChar char="•"/>
            </a:pPr>
            <a:r>
              <a:rPr lang="en-US" sz="2020"/>
              <a:t>Combinaciones por Penalización (alfa/lambda) y Tipo de penalización (L1/L2) </a:t>
            </a:r>
            <a:endParaRPr sz="2020"/>
          </a:p>
          <a:p>
            <a:pPr indent="-215900" lvl="1" marL="685800" rtl="0" algn="l">
              <a:lnSpc>
                <a:spcPct val="80000"/>
              </a:lnSpc>
              <a:spcBef>
                <a:spcPts val="500"/>
              </a:spcBef>
              <a:spcAft>
                <a:spcPts val="0"/>
              </a:spcAft>
              <a:buClr>
                <a:schemeClr val="dk1"/>
              </a:buClr>
              <a:buSzPts val="2020"/>
              <a:buChar char="•"/>
            </a:pPr>
            <a:r>
              <a:rPr b="1" lang="en-US" sz="2020"/>
              <a:t>Readmisión</a:t>
            </a:r>
            <a:r>
              <a:rPr lang="en-US" sz="2020"/>
              <a:t>=  λ=0.0028 (baja penalización), L1=0.1 (++ Ridge), Uno-C= .6085</a:t>
            </a:r>
            <a:endParaRPr sz="2020"/>
          </a:p>
          <a:p>
            <a:pPr indent="-215900" lvl="1" marL="685800" rtl="0" algn="l">
              <a:lnSpc>
                <a:spcPct val="80000"/>
              </a:lnSpc>
              <a:spcBef>
                <a:spcPts val="500"/>
              </a:spcBef>
              <a:spcAft>
                <a:spcPts val="0"/>
              </a:spcAft>
              <a:buClr>
                <a:schemeClr val="dk1"/>
              </a:buClr>
              <a:buSzPts val="2020"/>
              <a:buChar char="•"/>
            </a:pPr>
            <a:r>
              <a:rPr b="1" lang="en-US" sz="2020"/>
              <a:t>Mortalidad</a:t>
            </a:r>
            <a:r>
              <a:rPr lang="en-US" sz="2020"/>
              <a:t>=  λ=0.00260 (L1=0.1), Uno-C=.7449</a:t>
            </a:r>
            <a:endParaRPr sz="2020"/>
          </a:p>
          <a:p>
            <a:pPr indent="0" lvl="0" marL="0" rtl="0" algn="l">
              <a:lnSpc>
                <a:spcPct val="80000"/>
              </a:lnSpc>
              <a:spcBef>
                <a:spcPts val="1000"/>
              </a:spcBef>
              <a:spcAft>
                <a:spcPts val="0"/>
              </a:spcAft>
              <a:buClr>
                <a:schemeClr val="dk1"/>
              </a:buClr>
              <a:buSzPts val="2590"/>
              <a:buNone/>
            </a:pPr>
            <a:r>
              <a:t/>
            </a:r>
            <a:endParaRPr sz="2390"/>
          </a:p>
        </p:txBody>
      </p:sp>
      <p:sp>
        <p:nvSpPr>
          <p:cNvPr id="444" name="Google Shape;444;p21"/>
          <p:cNvSpPr txBox="1"/>
          <p:nvPr>
            <p:ph idx="2" type="body"/>
          </p:nvPr>
        </p:nvSpPr>
        <p:spPr>
          <a:xfrm>
            <a:off x="6240162" y="302777"/>
            <a:ext cx="5791200" cy="63279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Variables que afectan la discriminación </a:t>
            </a:r>
            <a:endParaRPr/>
          </a:p>
          <a:p>
            <a:pPr indent="-228600" lvl="1" marL="685800" rtl="0" algn="l">
              <a:lnSpc>
                <a:spcPct val="90000"/>
              </a:lnSpc>
              <a:spcBef>
                <a:spcPts val="500"/>
              </a:spcBef>
              <a:spcAft>
                <a:spcPts val="0"/>
              </a:spcAft>
              <a:buClr>
                <a:schemeClr val="dk1"/>
              </a:buClr>
              <a:buSzPct val="100000"/>
              <a:buChar char="•"/>
            </a:pPr>
            <a:r>
              <a:rPr lang="en-US"/>
              <a:t>Readmision: </a:t>
            </a:r>
            <a:endParaRPr/>
          </a:p>
          <a:p>
            <a:pPr indent="-228600" lvl="2" marL="1143000" rtl="0" algn="l">
              <a:lnSpc>
                <a:spcPct val="90000"/>
              </a:lnSpc>
              <a:spcBef>
                <a:spcPts val="500"/>
              </a:spcBef>
              <a:spcAft>
                <a:spcPts val="0"/>
              </a:spcAft>
              <a:buClr>
                <a:schemeClr val="dk1"/>
              </a:buClr>
              <a:buSzPct val="100000"/>
              <a:buChar char="•"/>
            </a:pPr>
            <a:r>
              <a:rPr lang="en-US"/>
              <a:t>Plan Residencial GP</a:t>
            </a:r>
            <a:endParaRPr/>
          </a:p>
          <a:p>
            <a:pPr indent="-228600" lvl="2" marL="1143000" rtl="0" algn="l">
              <a:lnSpc>
                <a:spcPct val="90000"/>
              </a:lnSpc>
              <a:spcBef>
                <a:spcPts val="500"/>
              </a:spcBef>
              <a:spcAft>
                <a:spcPts val="0"/>
              </a:spcAft>
              <a:buClr>
                <a:schemeClr val="dk1"/>
              </a:buClr>
              <a:buSzPct val="100000"/>
              <a:buChar char="•"/>
            </a:pPr>
            <a:r>
              <a:rPr lang="en-US"/>
              <a:t>Etnia</a:t>
            </a:r>
            <a:endParaRPr/>
          </a:p>
          <a:p>
            <a:pPr indent="-228600" lvl="2" marL="1143000" rtl="0" algn="l">
              <a:lnSpc>
                <a:spcPct val="90000"/>
              </a:lnSpc>
              <a:spcBef>
                <a:spcPts val="500"/>
              </a:spcBef>
              <a:spcAft>
                <a:spcPts val="0"/>
              </a:spcAft>
              <a:buClr>
                <a:schemeClr val="dk1"/>
              </a:buClr>
              <a:buSzPct val="100000"/>
              <a:buChar char="•"/>
            </a:pPr>
            <a:r>
              <a:rPr lang="en-US"/>
              <a:t>Mujer</a:t>
            </a:r>
            <a:endParaRPr/>
          </a:p>
          <a:p>
            <a:pPr indent="-228600" lvl="2" marL="1143000" rtl="0" algn="l">
              <a:lnSpc>
                <a:spcPct val="90000"/>
              </a:lnSpc>
              <a:spcBef>
                <a:spcPts val="500"/>
              </a:spcBef>
              <a:spcAft>
                <a:spcPts val="0"/>
              </a:spcAft>
              <a:buClr>
                <a:schemeClr val="dk1"/>
              </a:buClr>
              <a:buSzPct val="100000"/>
              <a:buChar char="•"/>
            </a:pPr>
            <a:r>
              <a:rPr lang="en-US"/>
              <a:t>Sus. ingreso= Alcohol</a:t>
            </a:r>
            <a:endParaRPr/>
          </a:p>
          <a:p>
            <a:pPr indent="-228600" lvl="2" marL="1143000" rtl="0" algn="l">
              <a:lnSpc>
                <a:spcPct val="90000"/>
              </a:lnSpc>
              <a:spcBef>
                <a:spcPts val="500"/>
              </a:spcBef>
              <a:spcAft>
                <a:spcPts val="0"/>
              </a:spcAft>
              <a:buClr>
                <a:schemeClr val="dk1"/>
              </a:buClr>
              <a:buSzPct val="100000"/>
              <a:buChar char="•"/>
            </a:pPr>
            <a:r>
              <a:rPr lang="en-US"/>
              <a:t>Plan Residencial Mujeres</a:t>
            </a:r>
            <a:endParaRPr/>
          </a:p>
          <a:p>
            <a:pPr indent="-228600" lvl="2" marL="1143000" rtl="0" algn="l">
              <a:lnSpc>
                <a:spcPct val="90000"/>
              </a:lnSpc>
              <a:spcBef>
                <a:spcPts val="500"/>
              </a:spcBef>
              <a:spcAft>
                <a:spcPts val="0"/>
              </a:spcAft>
              <a:buClr>
                <a:schemeClr val="dk1"/>
              </a:buClr>
              <a:buSzPct val="100000"/>
              <a:buChar char="•"/>
            </a:pPr>
            <a:r>
              <a:rPr lang="en-US"/>
              <a:t>Sus. ingreso= Marihuana</a:t>
            </a:r>
            <a:endParaRPr/>
          </a:p>
          <a:p>
            <a:pPr indent="-228600" lvl="2" marL="1143000" rtl="0" algn="l">
              <a:lnSpc>
                <a:spcPct val="90000"/>
              </a:lnSpc>
              <a:spcBef>
                <a:spcPts val="500"/>
              </a:spcBef>
              <a:spcAft>
                <a:spcPts val="0"/>
              </a:spcAft>
              <a:buClr>
                <a:schemeClr val="dk1"/>
              </a:buClr>
              <a:buSzPct val="100000"/>
              <a:buChar char="•"/>
            </a:pPr>
            <a:r>
              <a:rPr lang="en-US"/>
              <a:t>Edad ingreso</a:t>
            </a:r>
            <a:endParaRPr/>
          </a:p>
          <a:p>
            <a:pPr indent="-228600" lvl="2" marL="1143000" rtl="0" algn="l">
              <a:lnSpc>
                <a:spcPct val="90000"/>
              </a:lnSpc>
              <a:spcBef>
                <a:spcPts val="500"/>
              </a:spcBef>
              <a:spcAft>
                <a:spcPts val="0"/>
              </a:spcAft>
              <a:buClr>
                <a:schemeClr val="dk1"/>
              </a:buClr>
              <a:buSzPct val="100000"/>
              <a:buChar char="•"/>
            </a:pPr>
            <a:r>
              <a:rPr lang="en-US"/>
              <a:t>Nivel educacional (inestable)</a:t>
            </a:r>
            <a:endParaRPr/>
          </a:p>
          <a:p>
            <a:pPr indent="-228600" lvl="2" marL="1143000" rtl="0" algn="l">
              <a:lnSpc>
                <a:spcPct val="90000"/>
              </a:lnSpc>
              <a:spcBef>
                <a:spcPts val="500"/>
              </a:spcBef>
              <a:spcAft>
                <a:spcPts val="0"/>
              </a:spcAft>
              <a:buClr>
                <a:schemeClr val="dk1"/>
              </a:buClr>
              <a:buSzPct val="100000"/>
              <a:buChar char="•"/>
            </a:pPr>
            <a:r>
              <a:rPr lang="en-US"/>
              <a:t>Abandono por violación de reglas (inestable)</a:t>
            </a:r>
            <a:br>
              <a:rPr lang="en-US"/>
            </a:br>
            <a:endParaRPr/>
          </a:p>
          <a:p>
            <a:pPr indent="-228600" lvl="1" marL="685800" rtl="0" algn="l">
              <a:lnSpc>
                <a:spcPct val="90000"/>
              </a:lnSpc>
              <a:spcBef>
                <a:spcPts val="500"/>
              </a:spcBef>
              <a:spcAft>
                <a:spcPts val="0"/>
              </a:spcAft>
              <a:buClr>
                <a:schemeClr val="dk1"/>
              </a:buClr>
              <a:buSzPct val="100000"/>
              <a:buChar char="•"/>
            </a:pPr>
            <a:r>
              <a:rPr lang="en-US"/>
              <a:t>Mortalidad</a:t>
            </a:r>
            <a:endParaRPr/>
          </a:p>
          <a:p>
            <a:pPr indent="-228600" lvl="2" marL="1143000" rtl="0" algn="l">
              <a:lnSpc>
                <a:spcPct val="90000"/>
              </a:lnSpc>
              <a:spcBef>
                <a:spcPts val="500"/>
              </a:spcBef>
              <a:spcAft>
                <a:spcPts val="0"/>
              </a:spcAft>
              <a:buClr>
                <a:schemeClr val="dk1"/>
              </a:buClr>
              <a:buSzPct val="100000"/>
              <a:buChar char="•"/>
            </a:pPr>
            <a:r>
              <a:rPr lang="en-US"/>
              <a:t>Edad</a:t>
            </a:r>
            <a:endParaRPr/>
          </a:p>
          <a:p>
            <a:pPr indent="-228600" lvl="2" marL="1143000" rtl="0" algn="l">
              <a:lnSpc>
                <a:spcPct val="90000"/>
              </a:lnSpc>
              <a:spcBef>
                <a:spcPts val="500"/>
              </a:spcBef>
              <a:spcAft>
                <a:spcPts val="0"/>
              </a:spcAft>
              <a:buClr>
                <a:schemeClr val="dk1"/>
              </a:buClr>
              <a:buSzPct val="100000"/>
              <a:buChar char="•"/>
            </a:pPr>
            <a:r>
              <a:rPr lang="en-US"/>
              <a:t>Sus. Ingreso= alcohol</a:t>
            </a:r>
            <a:endParaRPr/>
          </a:p>
          <a:p>
            <a:pPr indent="-228600" lvl="2" marL="1143000" rtl="0" algn="l">
              <a:lnSpc>
                <a:spcPct val="90000"/>
              </a:lnSpc>
              <a:spcBef>
                <a:spcPts val="500"/>
              </a:spcBef>
              <a:spcAft>
                <a:spcPts val="0"/>
              </a:spcAft>
              <a:buClr>
                <a:schemeClr val="dk1"/>
              </a:buClr>
              <a:buSzPct val="100000"/>
              <a:buChar char="•"/>
            </a:pPr>
            <a:r>
              <a:rPr lang="en-US"/>
              <a:t>Diagnóstico com. física</a:t>
            </a:r>
            <a:endParaRPr/>
          </a:p>
          <a:p>
            <a:pPr indent="-228600" lvl="2" marL="1143000" rtl="0" algn="l">
              <a:lnSpc>
                <a:spcPct val="90000"/>
              </a:lnSpc>
              <a:spcBef>
                <a:spcPts val="500"/>
              </a:spcBef>
              <a:spcAft>
                <a:spcPts val="0"/>
              </a:spcAft>
              <a:buClr>
                <a:schemeClr val="dk1"/>
              </a:buClr>
              <a:buSzPct val="100000"/>
              <a:buChar char="•"/>
            </a:pPr>
            <a:r>
              <a:rPr lang="en-US"/>
              <a:t>Frecuencia consumo sus. principal (diaria) (inestable)</a:t>
            </a:r>
            <a:endParaRPr/>
          </a:p>
          <a:p>
            <a:pPr indent="-228600" lvl="2" marL="1143000" rtl="0" algn="l">
              <a:lnSpc>
                <a:spcPct val="90000"/>
              </a:lnSpc>
              <a:spcBef>
                <a:spcPts val="500"/>
              </a:spcBef>
              <a:spcAft>
                <a:spcPts val="0"/>
              </a:spcAft>
              <a:buClr>
                <a:schemeClr val="dk1"/>
              </a:buClr>
              <a:buSzPct val="100000"/>
              <a:buChar char="•"/>
            </a:pPr>
            <a:r>
              <a:rPr lang="en-US"/>
              <a:t>Ev. ocupacional al egreso (inestable)</a:t>
            </a:r>
            <a:endParaRPr/>
          </a:p>
          <a:p>
            <a:pPr indent="-228600" lvl="2" marL="1143000" rtl="0" algn="l">
              <a:lnSpc>
                <a:spcPct val="90000"/>
              </a:lnSpc>
              <a:spcBef>
                <a:spcPts val="500"/>
              </a:spcBef>
              <a:spcAft>
                <a:spcPts val="0"/>
              </a:spcAft>
              <a:buClr>
                <a:schemeClr val="dk1"/>
              </a:buClr>
              <a:buSzPct val="100000"/>
              <a:buChar char="•"/>
            </a:pPr>
            <a:r>
              <a:rPr lang="en-US"/>
              <a:t>Condición ocup., desempleado (inestable)</a:t>
            </a:r>
            <a:endParaRPr/>
          </a:p>
          <a:p>
            <a:pPr indent="-228600" lvl="2" marL="1143000" rtl="0" algn="l">
              <a:lnSpc>
                <a:spcPct val="90000"/>
              </a:lnSpc>
              <a:spcBef>
                <a:spcPts val="500"/>
              </a:spcBef>
              <a:spcAft>
                <a:spcPts val="0"/>
              </a:spcAft>
              <a:buClr>
                <a:schemeClr val="dk1"/>
              </a:buClr>
              <a:buSzPct val="100000"/>
              <a:buChar char="•"/>
            </a:pPr>
            <a:r>
              <a:rPr lang="en-US"/>
              <a:t>Ev. física al egreso (inestable)</a:t>
            </a:r>
            <a:endParaRPr/>
          </a:p>
          <a:p>
            <a:pPr indent="-111125" lvl="2" marL="11430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2"/>
          <p:cNvSpPr txBox="1"/>
          <p:nvPr>
            <p:ph type="title"/>
          </p:nvPr>
        </p:nvSpPr>
        <p:spPr>
          <a:xfrm>
            <a:off x="60950" y="79225"/>
            <a:ext cx="62397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Cox Net </a:t>
            </a:r>
            <a:br>
              <a:rPr lang="en-US"/>
            </a:br>
            <a:r>
              <a:rPr lang="en-US"/>
              <a:t>(Elastic Net) (Feb26) (2)</a:t>
            </a:r>
            <a:endParaRPr/>
          </a:p>
        </p:txBody>
      </p:sp>
      <p:sp>
        <p:nvSpPr>
          <p:cNvPr id="451" name="Google Shape;451;p22"/>
          <p:cNvSpPr txBox="1"/>
          <p:nvPr>
            <p:ph idx="1" type="body"/>
          </p:nvPr>
        </p:nvSpPr>
        <p:spPr>
          <a:xfrm>
            <a:off x="228600" y="1524000"/>
            <a:ext cx="5791200" cy="5166359"/>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Por ventanas de tiempo</a:t>
            </a:r>
            <a:endParaRPr/>
          </a:p>
          <a:p>
            <a:pPr indent="-228600" lvl="0" marL="228600" rtl="0" algn="l">
              <a:lnSpc>
                <a:spcPct val="90000"/>
              </a:lnSpc>
              <a:spcBef>
                <a:spcPts val="1000"/>
              </a:spcBef>
              <a:spcAft>
                <a:spcPts val="0"/>
              </a:spcAft>
              <a:buClr>
                <a:schemeClr val="dk1"/>
              </a:buClr>
              <a:buSzPts val="2800"/>
              <a:buChar char="•"/>
            </a:pPr>
            <a:r>
              <a:rPr b="1" lang="en-US"/>
              <a:t>Readmisión</a:t>
            </a:r>
            <a:endParaRPr b="1"/>
          </a:p>
          <a:p>
            <a:pPr indent="-228600" lvl="1" marL="685800" rtl="0" algn="l">
              <a:lnSpc>
                <a:spcPct val="90000"/>
              </a:lnSpc>
              <a:spcBef>
                <a:spcPts val="500"/>
              </a:spcBef>
              <a:spcAft>
                <a:spcPts val="0"/>
              </a:spcAft>
              <a:buClr>
                <a:schemeClr val="dk1"/>
              </a:buClr>
              <a:buSzPts val="2400"/>
              <a:buChar char="•"/>
            </a:pPr>
            <a:r>
              <a:rPr lang="en-US"/>
              <a:t>Discriminación/estratificación temprana(AUC ~0.74 at 3 months)</a:t>
            </a:r>
            <a:endParaRPr/>
          </a:p>
          <a:p>
            <a:pPr indent="-228600" lvl="2" marL="1143000" rtl="0" algn="l">
              <a:lnSpc>
                <a:spcPct val="90000"/>
              </a:lnSpc>
              <a:spcBef>
                <a:spcPts val="500"/>
              </a:spcBef>
              <a:spcAft>
                <a:spcPts val="0"/>
              </a:spcAft>
              <a:buClr>
                <a:schemeClr val="dk1"/>
              </a:buClr>
              <a:buSzPts val="2000"/>
              <a:buChar char="•"/>
            </a:pPr>
            <a:r>
              <a:rPr lang="en-US"/>
              <a:t>Descarta riesgo (NPV) + que identifica (1/10 PPV al año)</a:t>
            </a:r>
            <a:endParaRPr/>
          </a:p>
          <a:p>
            <a:pPr indent="-228600" lvl="2" marL="1143000" rtl="0" algn="l">
              <a:lnSpc>
                <a:spcPct val="90000"/>
              </a:lnSpc>
              <a:spcBef>
                <a:spcPts val="500"/>
              </a:spcBef>
              <a:spcAft>
                <a:spcPts val="0"/>
              </a:spcAft>
              <a:buClr>
                <a:schemeClr val="dk1"/>
              </a:buClr>
              <a:buSzPts val="2000"/>
              <a:buChar char="•"/>
            </a:pPr>
            <a:r>
              <a:rPr lang="en-US"/>
              <a:t>Sensibilidad ~0.70 a los 6 meses</a:t>
            </a:r>
            <a:endParaRPr/>
          </a:p>
          <a:p>
            <a:pPr indent="-228600" lvl="2" marL="1143000" rtl="0" algn="l">
              <a:lnSpc>
                <a:spcPct val="90000"/>
              </a:lnSpc>
              <a:spcBef>
                <a:spcPts val="500"/>
              </a:spcBef>
              <a:spcAft>
                <a:spcPts val="0"/>
              </a:spcAft>
              <a:buClr>
                <a:schemeClr val="dk1"/>
              </a:buClr>
              <a:buSzPts val="2000"/>
              <a:buChar char="•"/>
            </a:pPr>
            <a:r>
              <a:rPr lang="en-US"/>
              <a:t>AUC ~0.69–0.74 al año</a:t>
            </a:r>
            <a:endParaRPr/>
          </a:p>
          <a:p>
            <a:pPr indent="-228600" lvl="1" marL="685800" rtl="0" algn="l">
              <a:lnSpc>
                <a:spcPct val="90000"/>
              </a:lnSpc>
              <a:spcBef>
                <a:spcPts val="500"/>
              </a:spcBef>
              <a:spcAft>
                <a:spcPts val="0"/>
              </a:spcAft>
              <a:buClr>
                <a:schemeClr val="dk1"/>
              </a:buClr>
              <a:buSzPts val="2400"/>
              <a:buChar char="•"/>
            </a:pPr>
            <a:r>
              <a:rPr lang="en-US"/>
              <a:t>Disminuye a largo plazo (AUC ~0.56, 9a)</a:t>
            </a:r>
            <a:endParaRPr/>
          </a:p>
          <a:p>
            <a:pPr indent="-228600" lvl="2" marL="1143000" rtl="0" algn="l">
              <a:lnSpc>
                <a:spcPct val="90000"/>
              </a:lnSpc>
              <a:spcBef>
                <a:spcPts val="500"/>
              </a:spcBef>
              <a:spcAft>
                <a:spcPts val="0"/>
              </a:spcAft>
              <a:buClr>
                <a:schemeClr val="dk1"/>
              </a:buClr>
              <a:buSzPts val="2000"/>
              <a:buChar char="•"/>
            </a:pPr>
            <a:r>
              <a:rPr lang="en-US"/>
              <a:t>Discriminación pierde relevancia 3+añs</a:t>
            </a:r>
            <a:endParaRPr/>
          </a:p>
          <a:p>
            <a:pPr indent="-228600" lvl="1" marL="685800" rtl="0" algn="l">
              <a:lnSpc>
                <a:spcPct val="90000"/>
              </a:lnSpc>
              <a:spcBef>
                <a:spcPts val="500"/>
              </a:spcBef>
              <a:spcAft>
                <a:spcPts val="0"/>
              </a:spcAft>
              <a:buClr>
                <a:schemeClr val="dk1"/>
              </a:buClr>
              <a:buSzPts val="2400"/>
              <a:buChar char="•"/>
            </a:pPr>
            <a:r>
              <a:rPr lang="en-US"/>
              <a:t>Error de calibración incrementa  con el tiempo </a:t>
            </a:r>
            <a:endParaRPr/>
          </a:p>
          <a:p>
            <a:pPr indent="-228600" lvl="2" marL="1143000" rtl="0" algn="l">
              <a:lnSpc>
                <a:spcPct val="90000"/>
              </a:lnSpc>
              <a:spcBef>
                <a:spcPts val="500"/>
              </a:spcBef>
              <a:spcAft>
                <a:spcPts val="0"/>
              </a:spcAft>
              <a:buClr>
                <a:schemeClr val="dk1"/>
              </a:buClr>
              <a:buSzPts val="2000"/>
              <a:buChar char="•"/>
            </a:pPr>
            <a:r>
              <a:rPr lang="en-US"/>
              <a:t>El modelo se vuelve conservador y sistemáticamente infraestima.</a:t>
            </a:r>
            <a:endParaRPr/>
          </a:p>
          <a:p>
            <a:pPr indent="-228600" lvl="2" marL="1143000" rtl="0" algn="l">
              <a:lnSpc>
                <a:spcPct val="90000"/>
              </a:lnSpc>
              <a:spcBef>
                <a:spcPts val="500"/>
              </a:spcBef>
              <a:spcAft>
                <a:spcPts val="0"/>
              </a:spcAft>
              <a:buClr>
                <a:schemeClr val="dk1"/>
              </a:buClr>
              <a:buSzPts val="2000"/>
              <a:buChar char="•"/>
            </a:pPr>
            <a:r>
              <a:rPr lang="en-US"/>
              <a:t>Desde los 3 años en adelante</a:t>
            </a:r>
            <a:endParaRPr/>
          </a:p>
        </p:txBody>
      </p:sp>
      <p:pic>
        <p:nvPicPr>
          <p:cNvPr id="452" name="Google Shape;452;p22"/>
          <p:cNvPicPr preferRelativeResize="0"/>
          <p:nvPr/>
        </p:nvPicPr>
        <p:blipFill rotWithShape="1">
          <a:blip r:embed="rId3">
            <a:alphaModFix/>
          </a:blip>
          <a:srcRect b="0" l="0" r="0" t="0"/>
          <a:stretch/>
        </p:blipFill>
        <p:spPr>
          <a:xfrm>
            <a:off x="6300787" y="79215"/>
            <a:ext cx="5662613" cy="2809875"/>
          </a:xfrm>
          <a:prstGeom prst="rect">
            <a:avLst/>
          </a:prstGeom>
          <a:noFill/>
          <a:ln>
            <a:noFill/>
          </a:ln>
        </p:spPr>
      </p:pic>
      <p:pic>
        <p:nvPicPr>
          <p:cNvPr id="453" name="Google Shape;453;p22"/>
          <p:cNvPicPr preferRelativeResize="0"/>
          <p:nvPr/>
        </p:nvPicPr>
        <p:blipFill rotWithShape="1">
          <a:blip r:embed="rId4">
            <a:alphaModFix/>
          </a:blip>
          <a:srcRect b="0" l="0" r="0" t="0"/>
          <a:stretch/>
        </p:blipFill>
        <p:spPr>
          <a:xfrm>
            <a:off x="6172202" y="3108959"/>
            <a:ext cx="5662613" cy="2809875"/>
          </a:xfrm>
          <a:prstGeom prst="rect">
            <a:avLst/>
          </a:prstGeom>
          <a:noFill/>
          <a:ln>
            <a:noFill/>
          </a:ln>
        </p:spPr>
      </p:pic>
      <p:sp>
        <p:nvSpPr>
          <p:cNvPr id="454" name="Google Shape;454;p22"/>
          <p:cNvSpPr txBox="1"/>
          <p:nvPr/>
        </p:nvSpPr>
        <p:spPr>
          <a:xfrm>
            <a:off x="6516055" y="6132454"/>
            <a:ext cx="53187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Evidentes variables tiempo-dependientes no observadas o no capturadas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3"/>
          <p:cNvSpPr txBox="1"/>
          <p:nvPr>
            <p:ph type="title"/>
          </p:nvPr>
        </p:nvSpPr>
        <p:spPr>
          <a:xfrm>
            <a:off x="60950" y="79225"/>
            <a:ext cx="57912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Cox Net </a:t>
            </a:r>
            <a:br>
              <a:rPr lang="en-US"/>
            </a:br>
            <a:r>
              <a:rPr lang="en-US"/>
              <a:t>(Elastic Net) (Feb26) (3)</a:t>
            </a:r>
            <a:endParaRPr/>
          </a:p>
        </p:txBody>
      </p:sp>
      <p:sp>
        <p:nvSpPr>
          <p:cNvPr id="461" name="Google Shape;461;p23"/>
          <p:cNvSpPr txBox="1"/>
          <p:nvPr>
            <p:ph idx="1" type="body"/>
          </p:nvPr>
        </p:nvSpPr>
        <p:spPr>
          <a:xfrm>
            <a:off x="228600" y="1524000"/>
            <a:ext cx="5791200" cy="516635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Mortalidad</a:t>
            </a:r>
            <a:endParaRPr b="1"/>
          </a:p>
          <a:p>
            <a:pPr indent="-228600" lvl="1" marL="685800" rtl="0" algn="l">
              <a:lnSpc>
                <a:spcPct val="90000"/>
              </a:lnSpc>
              <a:spcBef>
                <a:spcPts val="500"/>
              </a:spcBef>
              <a:spcAft>
                <a:spcPts val="0"/>
              </a:spcAft>
              <a:buClr>
                <a:schemeClr val="dk1"/>
              </a:buClr>
              <a:buSzPts val="2400"/>
              <a:buChar char="•"/>
            </a:pPr>
            <a:r>
              <a:rPr lang="en-US"/>
              <a:t>Discriminación/estratificación estable</a:t>
            </a:r>
            <a:endParaRPr/>
          </a:p>
          <a:p>
            <a:pPr indent="-228600" lvl="2" marL="1143000" rtl="0" algn="l">
              <a:lnSpc>
                <a:spcPct val="90000"/>
              </a:lnSpc>
              <a:spcBef>
                <a:spcPts val="500"/>
              </a:spcBef>
              <a:spcAft>
                <a:spcPts val="0"/>
              </a:spcAft>
              <a:buClr>
                <a:schemeClr val="dk1"/>
              </a:buClr>
              <a:buSzPts val="2000"/>
              <a:buChar char="•"/>
            </a:pPr>
            <a:r>
              <a:rPr lang="en-US"/>
              <a:t>Separa bajo-alto riesgo</a:t>
            </a:r>
            <a:endParaRPr/>
          </a:p>
          <a:p>
            <a:pPr indent="-228600" lvl="2" marL="1143000" rtl="0" algn="l">
              <a:lnSpc>
                <a:spcPct val="90000"/>
              </a:lnSpc>
              <a:spcBef>
                <a:spcPts val="500"/>
              </a:spcBef>
              <a:spcAft>
                <a:spcPts val="0"/>
              </a:spcAft>
              <a:buClr>
                <a:schemeClr val="dk1"/>
              </a:buClr>
              <a:buSzPts val="2000"/>
              <a:buChar char="•"/>
            </a:pPr>
            <a:r>
              <a:rPr lang="en-US"/>
              <a:t>Descarta riesgo (NPV) + que identifica (1/10 PPV)</a:t>
            </a:r>
            <a:endParaRPr/>
          </a:p>
          <a:p>
            <a:pPr indent="-228600" lvl="1" marL="685800" rtl="0" algn="l">
              <a:lnSpc>
                <a:spcPct val="90000"/>
              </a:lnSpc>
              <a:spcBef>
                <a:spcPts val="500"/>
              </a:spcBef>
              <a:spcAft>
                <a:spcPts val="0"/>
              </a:spcAft>
              <a:buClr>
                <a:schemeClr val="dk1"/>
              </a:buClr>
              <a:buSzPts val="2400"/>
              <a:buChar char="•"/>
            </a:pPr>
            <a:r>
              <a:rPr lang="en-US"/>
              <a:t>Hasta los 6 años , leve subestimación; bajo error.</a:t>
            </a:r>
            <a:endParaRPr/>
          </a:p>
          <a:p>
            <a:pPr indent="-228600" lvl="2" marL="1143000" rtl="0" algn="l">
              <a:lnSpc>
                <a:spcPct val="90000"/>
              </a:lnSpc>
              <a:spcBef>
                <a:spcPts val="500"/>
              </a:spcBef>
              <a:spcAft>
                <a:spcPts val="0"/>
              </a:spcAft>
              <a:buClr>
                <a:schemeClr val="dk1"/>
              </a:buClr>
              <a:buSzPts val="2000"/>
              <a:buChar char="•"/>
            </a:pPr>
            <a:r>
              <a:rPr lang="en-US"/>
              <a:t>Esperable= mortalidad ocurre poco</a:t>
            </a:r>
            <a:endParaRPr/>
          </a:p>
          <a:p>
            <a:pPr indent="-228600" lvl="1" marL="685800" rtl="0" algn="l">
              <a:lnSpc>
                <a:spcPct val="90000"/>
              </a:lnSpc>
              <a:spcBef>
                <a:spcPts val="500"/>
              </a:spcBef>
              <a:spcAft>
                <a:spcPts val="0"/>
              </a:spcAft>
              <a:buClr>
                <a:schemeClr val="dk1"/>
              </a:buClr>
              <a:buSzPts val="2400"/>
              <a:buChar char="•"/>
            </a:pPr>
            <a:r>
              <a:rPr lang="en-US"/>
              <a:t>Pero sensibilidad ~.65 (captura 2/3 fallecimientos) y especificidad ~0.80 (1/5 falsos positivos)</a:t>
            </a:r>
            <a:endParaRPr/>
          </a:p>
        </p:txBody>
      </p:sp>
      <p:pic>
        <p:nvPicPr>
          <p:cNvPr id="462" name="Google Shape;462;p23"/>
          <p:cNvPicPr preferRelativeResize="0"/>
          <p:nvPr/>
        </p:nvPicPr>
        <p:blipFill rotWithShape="1">
          <a:blip r:embed="rId3">
            <a:alphaModFix/>
          </a:blip>
          <a:srcRect b="0" l="0" r="0" t="0"/>
          <a:stretch/>
        </p:blipFill>
        <p:spPr>
          <a:xfrm>
            <a:off x="6172202" y="238125"/>
            <a:ext cx="5662613" cy="2809875"/>
          </a:xfrm>
          <a:prstGeom prst="rect">
            <a:avLst/>
          </a:prstGeom>
          <a:noFill/>
          <a:ln>
            <a:noFill/>
          </a:ln>
        </p:spPr>
      </p:pic>
      <p:pic>
        <p:nvPicPr>
          <p:cNvPr id="463" name="Google Shape;463;p23"/>
          <p:cNvPicPr preferRelativeResize="0"/>
          <p:nvPr/>
        </p:nvPicPr>
        <p:blipFill rotWithShape="1">
          <a:blip r:embed="rId4">
            <a:alphaModFix/>
          </a:blip>
          <a:srcRect b="0" l="0" r="0" t="0"/>
          <a:stretch/>
        </p:blipFill>
        <p:spPr>
          <a:xfrm>
            <a:off x="6172202" y="3590925"/>
            <a:ext cx="5662613" cy="2809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5"/>
          <p:cNvSpPr txBox="1"/>
          <p:nvPr>
            <p:ph type="title"/>
          </p:nvPr>
        </p:nvSpPr>
        <p:spPr>
          <a:xfrm>
            <a:off x="839788" y="198031"/>
            <a:ext cx="3932100" cy="105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Modelo no-lineal</a:t>
            </a:r>
            <a:br>
              <a:rPr lang="en-US"/>
            </a:br>
            <a:r>
              <a:rPr lang="en-US"/>
              <a:t>ML (XGBoost)</a:t>
            </a:r>
            <a:endParaRPr/>
          </a:p>
        </p:txBody>
      </p:sp>
      <p:sp>
        <p:nvSpPr>
          <p:cNvPr id="469" name="Google Shape;469;p25"/>
          <p:cNvSpPr txBox="1"/>
          <p:nvPr>
            <p:ph idx="2" type="body"/>
          </p:nvPr>
        </p:nvSpPr>
        <p:spPr>
          <a:xfrm>
            <a:off x="55375" y="1249150"/>
            <a:ext cx="4716600" cy="5536800"/>
          </a:xfrm>
          <a:prstGeom prst="rect">
            <a:avLst/>
          </a:prstGeom>
          <a:noFill/>
          <a:ln>
            <a:noFill/>
          </a:ln>
        </p:spPr>
        <p:txBody>
          <a:bodyPr anchorCtr="0" anchor="ctr" bIns="45700" lIns="91425" spcFirstLastPara="1" rIns="91425" wrap="square" tIns="45700">
            <a:noAutofit/>
          </a:bodyPr>
          <a:lstStyle/>
          <a:p>
            <a:pPr indent="-284480" lvl="0" marL="285750" rtl="0" algn="just">
              <a:lnSpc>
                <a:spcPct val="70000"/>
              </a:lnSpc>
              <a:spcBef>
                <a:spcPts val="0"/>
              </a:spcBef>
              <a:spcAft>
                <a:spcPts val="0"/>
              </a:spcAft>
              <a:buClr>
                <a:schemeClr val="dk1"/>
              </a:buClr>
              <a:buSzPts val="1340"/>
              <a:buFont typeface="Calibri"/>
              <a:buChar char="-"/>
            </a:pPr>
            <a:r>
              <a:rPr lang="en-US" sz="1340"/>
              <a:t>Liu, Morelli, Littlejohns et al. 2023= “extreme gradient boosting” (XGBoost), aprende scores de riesgo (no tiempos al evento, sino log-hazards) en base al modelo Cox (optimiza partial likelihood) mediante secuenciales árboles pequeños de decisión, no maneja del todo riesgos competidores (solo corregimos la censura de la readmission por fallecimiento), sin asociaciones tiempo-dependientes.</a:t>
            </a:r>
            <a:endParaRPr sz="1340"/>
          </a:p>
          <a:p>
            <a:pPr indent="-285432" lvl="1" marL="742950" rtl="0" algn="l">
              <a:lnSpc>
                <a:spcPct val="70000"/>
              </a:lnSpc>
              <a:spcBef>
                <a:spcPts val="500"/>
              </a:spcBef>
              <a:spcAft>
                <a:spcPts val="0"/>
              </a:spcAft>
              <a:buClr>
                <a:schemeClr val="dk1"/>
              </a:buClr>
              <a:buSzPts val="1185"/>
              <a:buFont typeface="Calibri"/>
              <a:buChar char="-"/>
            </a:pPr>
            <a:r>
              <a:rPr lang="en-US" sz="1185"/>
              <a:t>Parameter tuning: Probamos distintos parámetros para mejorar la capacidad de discriminación (Uno’s C-index), para cada uno de los desenlaces.</a:t>
            </a:r>
            <a:endParaRPr sz="1185"/>
          </a:p>
          <a:p>
            <a:pPr indent="-285432" lvl="1" marL="742950" rtl="0" algn="l">
              <a:lnSpc>
                <a:spcPct val="70000"/>
              </a:lnSpc>
              <a:spcBef>
                <a:spcPts val="500"/>
              </a:spcBef>
              <a:spcAft>
                <a:spcPts val="0"/>
              </a:spcAft>
              <a:buClr>
                <a:schemeClr val="dk1"/>
              </a:buClr>
              <a:buSzPts val="1185"/>
              <a:buFont typeface="Calibri"/>
              <a:buChar char="-"/>
            </a:pPr>
            <a:r>
              <a:rPr lang="en-US" sz="1185"/>
              <a:t>Generamos modelos por separado siguiendo los hiperparámetros que mejoraban la discriminación de cada desenlace</a:t>
            </a:r>
            <a:endParaRPr sz="1185"/>
          </a:p>
          <a:p>
            <a:pPr indent="-181610" lvl="2" marL="987425" rtl="0" algn="l">
              <a:lnSpc>
                <a:spcPct val="70000"/>
              </a:lnSpc>
              <a:spcBef>
                <a:spcPts val="500"/>
              </a:spcBef>
              <a:spcAft>
                <a:spcPts val="0"/>
              </a:spcAft>
              <a:buClr>
                <a:schemeClr val="dk1"/>
              </a:buClr>
              <a:buSzPts val="1030"/>
              <a:buFont typeface="Calibri"/>
              <a:buChar char="-"/>
            </a:pPr>
            <a:r>
              <a:rPr b="1" lang="en-US" sz="1030" u="sng">
                <a:solidFill>
                  <a:schemeClr val="hlink"/>
                </a:solidFill>
                <a:hlinkClick r:id="rId3"/>
              </a:rPr>
              <a:t>https://agscl.github.io/DSPUCH/XGboost_readm_jan26.html</a:t>
            </a:r>
            <a:endParaRPr b="1" sz="1030"/>
          </a:p>
          <a:p>
            <a:pPr indent="-181610" lvl="2" marL="987425" rtl="0" algn="l">
              <a:lnSpc>
                <a:spcPct val="70000"/>
              </a:lnSpc>
              <a:spcBef>
                <a:spcPts val="500"/>
              </a:spcBef>
              <a:spcAft>
                <a:spcPts val="0"/>
              </a:spcAft>
              <a:buClr>
                <a:schemeClr val="dk1"/>
              </a:buClr>
              <a:buSzPts val="1030"/>
              <a:buFont typeface="Calibri"/>
              <a:buChar char="-"/>
            </a:pPr>
            <a:r>
              <a:rPr b="1" lang="en-US" sz="1030" u="sng">
                <a:solidFill>
                  <a:schemeClr val="hlink"/>
                </a:solidFill>
                <a:hlinkClick r:id="rId4"/>
              </a:rPr>
              <a:t>https://agscl.github.io/DSPUCH/XGboost_death_jan26.html</a:t>
            </a:r>
            <a:endParaRPr b="1" sz="1030"/>
          </a:p>
          <a:p>
            <a:pPr indent="-181610" lvl="2" marL="987425" rtl="0" algn="l">
              <a:lnSpc>
                <a:spcPct val="70000"/>
              </a:lnSpc>
              <a:spcBef>
                <a:spcPts val="500"/>
              </a:spcBef>
              <a:spcAft>
                <a:spcPts val="0"/>
              </a:spcAft>
              <a:buClr>
                <a:schemeClr val="dk1"/>
              </a:buClr>
              <a:buSzPts val="1030"/>
              <a:buFont typeface="Calibri"/>
              <a:buChar char="-"/>
            </a:pPr>
            <a:r>
              <a:rPr b="1" lang="en-US" sz="1030" u="sng">
                <a:solidFill>
                  <a:schemeClr val="hlink"/>
                </a:solidFill>
                <a:hlinkClick r:id="rId5"/>
              </a:rPr>
              <a:t>https://agscl.github.io/DSPUCH/XGboost_combined_jan26.html</a:t>
            </a:r>
            <a:endParaRPr b="1" sz="1030"/>
          </a:p>
          <a:p>
            <a:pPr indent="-285432" lvl="1" marL="742950" rtl="0" algn="l">
              <a:lnSpc>
                <a:spcPct val="70000"/>
              </a:lnSpc>
              <a:spcBef>
                <a:spcPts val="500"/>
              </a:spcBef>
              <a:spcAft>
                <a:spcPts val="0"/>
              </a:spcAft>
              <a:buClr>
                <a:schemeClr val="dk1"/>
              </a:buClr>
              <a:buSzPts val="1185"/>
              <a:buFont typeface="Calibri"/>
              <a:buChar char="-"/>
            </a:pPr>
            <a:r>
              <a:rPr lang="en-US" sz="1185"/>
              <a:t>Obtenemos para k(10) x m(5), métricas de rendimiento</a:t>
            </a:r>
            <a:endParaRPr sz="1185"/>
          </a:p>
          <a:p>
            <a:pPr indent="-285432" lvl="1" marL="742950" rtl="0" algn="l">
              <a:lnSpc>
                <a:spcPct val="70000"/>
              </a:lnSpc>
              <a:spcBef>
                <a:spcPts val="500"/>
              </a:spcBef>
              <a:spcAft>
                <a:spcPts val="0"/>
              </a:spcAft>
              <a:buClr>
                <a:schemeClr val="dk1"/>
              </a:buClr>
              <a:buSzPts val="1185"/>
              <a:buFont typeface="Calibri"/>
              <a:buChar char="-"/>
            </a:pPr>
            <a:r>
              <a:rPr lang="en-US" sz="1185"/>
              <a:t>Validación Cruzada Agregada sobre la imputación base: En lugar de seleccionar un único modelo representativo, calculamos los valores SHAP sobre el </a:t>
            </a:r>
            <a:r>
              <a:rPr b="1" lang="en-US" sz="1185"/>
              <a:t>conjunto de validación</a:t>
            </a:r>
            <a:r>
              <a:rPr lang="en-US" sz="1185"/>
              <a:t> de cada k y concatenado. </a:t>
            </a:r>
            <a:endParaRPr sz="1185"/>
          </a:p>
          <a:p>
            <a:pPr indent="-286385" lvl="2" marL="1200150" rtl="0" algn="l">
              <a:lnSpc>
                <a:spcPct val="70000"/>
              </a:lnSpc>
              <a:spcBef>
                <a:spcPts val="500"/>
              </a:spcBef>
              <a:spcAft>
                <a:spcPts val="0"/>
              </a:spcAft>
              <a:buClr>
                <a:schemeClr val="dk1"/>
              </a:buClr>
              <a:buSzPts val="1030"/>
              <a:buFont typeface="Calibri"/>
              <a:buChar char="-"/>
            </a:pPr>
            <a:r>
              <a:rPr lang="en-US" sz="1030"/>
              <a:t>explicaciones para </a:t>
            </a:r>
            <a:r>
              <a:rPr b="1" lang="en-US" sz="1030"/>
              <a:t>toda la cohorte</a:t>
            </a:r>
            <a:r>
              <a:rPr lang="en-US" sz="1030"/>
              <a:t> basadas exclusivamente en predicciones 'fuera de muestra' (</a:t>
            </a:r>
            <a:r>
              <a:rPr i="1" lang="en-US" sz="1030"/>
              <a:t>out-of-sample</a:t>
            </a:r>
            <a:r>
              <a:rPr lang="en-US" sz="1030"/>
              <a:t>), </a:t>
            </a:r>
            <a:endParaRPr sz="1030"/>
          </a:p>
          <a:p>
            <a:pPr indent="-286385" lvl="2" marL="1200150" rtl="0" algn="l">
              <a:lnSpc>
                <a:spcPct val="70000"/>
              </a:lnSpc>
              <a:spcBef>
                <a:spcPts val="500"/>
              </a:spcBef>
              <a:spcAft>
                <a:spcPts val="0"/>
              </a:spcAft>
              <a:buClr>
                <a:schemeClr val="dk1"/>
              </a:buClr>
              <a:buSzPts val="1030"/>
              <a:buFont typeface="Calibri"/>
              <a:buChar char="-"/>
            </a:pPr>
            <a:r>
              <a:rPr lang="en-US" sz="1030"/>
              <a:t>elimina sesgo de selección de un solo model</a:t>
            </a:r>
            <a:endParaRPr sz="1030"/>
          </a:p>
          <a:p>
            <a:pPr indent="-284480" lvl="0" marL="285750" rtl="0" algn="l">
              <a:lnSpc>
                <a:spcPct val="70000"/>
              </a:lnSpc>
              <a:spcBef>
                <a:spcPts val="1000"/>
              </a:spcBef>
              <a:spcAft>
                <a:spcPts val="0"/>
              </a:spcAft>
              <a:buClr>
                <a:schemeClr val="dk1"/>
              </a:buClr>
              <a:buSzPts val="1340"/>
              <a:buFont typeface="Calibri"/>
              <a:buChar char="-"/>
            </a:pPr>
            <a:r>
              <a:rPr lang="en-US" sz="1340"/>
              <a:t>Validación cruzada estratificada por el tipo de plan + proporción del evento (evento observado vs. censura)</a:t>
            </a:r>
            <a:endParaRPr sz="1340"/>
          </a:p>
          <a:p>
            <a:pPr indent="-285432" lvl="1" marL="742950" rtl="0" algn="l">
              <a:lnSpc>
                <a:spcPct val="70000"/>
              </a:lnSpc>
              <a:spcBef>
                <a:spcPts val="500"/>
              </a:spcBef>
              <a:spcAft>
                <a:spcPts val="0"/>
              </a:spcAft>
              <a:buClr>
                <a:schemeClr val="dk1"/>
              </a:buClr>
              <a:buSzPts val="1185"/>
              <a:buFont typeface="Calibri"/>
              <a:buChar char="-"/>
            </a:pPr>
            <a:r>
              <a:rPr lang="en-US" sz="1185"/>
              <a:t>Evito Distributional Skew (folds sin eventos)</a:t>
            </a:r>
            <a:endParaRPr sz="1185"/>
          </a:p>
          <a:p>
            <a:pPr indent="-285432" lvl="1" marL="742950" rtl="0" algn="l">
              <a:lnSpc>
                <a:spcPct val="70000"/>
              </a:lnSpc>
              <a:spcBef>
                <a:spcPts val="500"/>
              </a:spcBef>
              <a:spcAft>
                <a:spcPts val="0"/>
              </a:spcAft>
              <a:buClr>
                <a:schemeClr val="dk1"/>
              </a:buClr>
              <a:buSzPts val="1185"/>
              <a:buFont typeface="Calibri"/>
              <a:buChar char="-"/>
            </a:pPr>
            <a:r>
              <a:rPr lang="en-US" sz="1185"/>
              <a:t>Vabalas, Andrius, et al. "Machine Learning Algorithm Validation with a Limited Sample Size." PLOS ONE, vol. 14, no. 11, 2019, p. e0224365,  https://doi.org/10.1371/journal.pone.0224365. Accessed 6 Feb. 2026.</a:t>
            </a:r>
            <a:endParaRPr sz="1185"/>
          </a:p>
        </p:txBody>
      </p:sp>
      <p:graphicFrame>
        <p:nvGraphicFramePr>
          <p:cNvPr id="470" name="Google Shape;470;p25"/>
          <p:cNvGraphicFramePr/>
          <p:nvPr/>
        </p:nvGraphicFramePr>
        <p:xfrm>
          <a:off x="5118266" y="98663"/>
          <a:ext cx="3000000" cy="3000000"/>
        </p:xfrm>
        <a:graphic>
          <a:graphicData uri="http://schemas.openxmlformats.org/drawingml/2006/table">
            <a:tbl>
              <a:tblPr>
                <a:noFill/>
                <a:tableStyleId>{DBD46C37-D01B-4F45-941C-DAD3E01F40E0}</a:tableStyleId>
              </a:tblPr>
              <a:tblGrid>
                <a:gridCol w="1484425"/>
                <a:gridCol w="902525"/>
                <a:gridCol w="1033150"/>
                <a:gridCol w="3059900"/>
              </a:tblGrid>
              <a:tr h="203725">
                <a:tc>
                  <a:txBody>
                    <a:bodyPr/>
                    <a:lstStyle/>
                    <a:p>
                      <a:pPr indent="0" lvl="0" marL="0" marR="0" rtl="0" algn="l">
                        <a:spcBef>
                          <a:spcPts val="0"/>
                        </a:spcBef>
                        <a:spcAft>
                          <a:spcPts val="0"/>
                        </a:spcAft>
                        <a:buClr>
                          <a:schemeClr val="dk1"/>
                        </a:buClr>
                        <a:buSzPts val="1100"/>
                        <a:buFont typeface="Arial"/>
                        <a:buNone/>
                      </a:pPr>
                      <a:r>
                        <a:rPr b="1" lang="en-US" sz="1100" u="none" cap="none" strike="noStrike"/>
                        <a:t>Hiperparámetro</a:t>
                      </a:r>
                      <a:endParaRPr b="1"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READM</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Mortalidad</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Interpretación breve</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44600">
                <a:tc>
                  <a:txBody>
                    <a:bodyPr/>
                    <a:lstStyle/>
                    <a:p>
                      <a:pPr indent="0" lvl="0" marL="0" marR="0" rtl="0" algn="l">
                        <a:spcBef>
                          <a:spcPts val="0"/>
                        </a:spcBef>
                        <a:spcAft>
                          <a:spcPts val="0"/>
                        </a:spcAft>
                        <a:buClr>
                          <a:schemeClr val="dk1"/>
                        </a:buClr>
                        <a:buSzPts val="1100"/>
                        <a:buFont typeface="Arial"/>
                        <a:buNone/>
                      </a:pPr>
                      <a:r>
                        <a:rPr lang="en-US" sz="1100" u="none" cap="none" strike="noStrike"/>
                        <a:t>learning_rate</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0.02</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0.01</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 aprende más lento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max_depth</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6</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4</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 más complejo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min_child_weight</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20</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 evita ruido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reg_alpha</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0.1</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0.0</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Selección solo en reingreso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reg_lambda</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5.0</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1.0</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 más regularizado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subsample</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0.8</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0.6</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 más aleatorio</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colsample_bytree</a:t>
                      </a:r>
                      <a:endParaRPr sz="1100" u="none" cap="none" strike="noStrike"/>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0.7</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0.8</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 usa más variables</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725">
                <a:tc>
                  <a:txBody>
                    <a:bodyPr/>
                    <a:lstStyle/>
                    <a:p>
                      <a:pPr indent="0" lvl="0" marL="0" marR="0" rtl="0" algn="l">
                        <a:spcBef>
                          <a:spcPts val="0"/>
                        </a:spcBef>
                        <a:spcAft>
                          <a:spcPts val="0"/>
                        </a:spcAft>
                        <a:buClr>
                          <a:schemeClr val="dk1"/>
                        </a:buClr>
                        <a:buSzPts val="1100"/>
                        <a:buFont typeface="Arial"/>
                        <a:buNone/>
                      </a:pPr>
                      <a:r>
                        <a:rPr lang="en-US" sz="1100" u="none" cap="none" strike="noStrike"/>
                        <a:t>gamma</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0.5</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0.1</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 más conservador</a:t>
                      </a:r>
                      <a:endParaRPr/>
                    </a:p>
                  </a:txBody>
                  <a:tcPr marT="42650" marB="42650" marR="85325" marL="853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471" name="Google Shape;471;p25"/>
          <p:cNvGraphicFramePr/>
          <p:nvPr/>
        </p:nvGraphicFramePr>
        <p:xfrm>
          <a:off x="4887950" y="5081208"/>
          <a:ext cx="3000000" cy="3000000"/>
        </p:xfrm>
        <a:graphic>
          <a:graphicData uri="http://schemas.openxmlformats.org/drawingml/2006/table">
            <a:tbl>
              <a:tblPr>
                <a:noFill/>
                <a:tableStyleId>{DBD46C37-D01B-4F45-941C-DAD3E01F40E0}</a:tableStyleId>
              </a:tblPr>
              <a:tblGrid>
                <a:gridCol w="972300"/>
                <a:gridCol w="702775"/>
                <a:gridCol w="1241850"/>
              </a:tblGrid>
              <a:tr h="100000">
                <a:tc>
                  <a:txBody>
                    <a:bodyPr/>
                    <a:lstStyle/>
                    <a:p>
                      <a:pPr indent="0" lvl="0" marL="0" marR="0" rtl="0" algn="l">
                        <a:spcBef>
                          <a:spcPts val="0"/>
                        </a:spcBef>
                        <a:spcAft>
                          <a:spcPts val="0"/>
                        </a:spcAft>
                        <a:buClr>
                          <a:schemeClr val="dk1"/>
                        </a:buClr>
                        <a:buSzPts val="1100"/>
                        <a:buFont typeface="Arial"/>
                        <a:buNone/>
                      </a:pPr>
                      <a:r>
                        <a:rPr b="1" lang="en-US" sz="1100" u="none" cap="none" strike="noStrike"/>
                        <a:t>Riesgo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Métrica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Media ± DE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33350">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IBS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0.037 ± 0.002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33350">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a:t>Uno’s 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0.751 ± 0.011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33350">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IBS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0.158 ± 0.001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33350">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a:t>Uno’s 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0.623 ± 0.006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No description has been provided for this image" id="472" name="Google Shape;472;p25"/>
          <p:cNvPicPr preferRelativeResize="0"/>
          <p:nvPr/>
        </p:nvPicPr>
        <p:blipFill rotWithShape="1">
          <a:blip r:embed="rId6">
            <a:alphaModFix/>
          </a:blip>
          <a:srcRect b="0" l="0" r="0" t="0"/>
          <a:stretch/>
        </p:blipFill>
        <p:spPr>
          <a:xfrm>
            <a:off x="4877730" y="2375303"/>
            <a:ext cx="4800660" cy="2375951"/>
          </a:xfrm>
          <a:prstGeom prst="rect">
            <a:avLst/>
          </a:prstGeom>
          <a:noFill/>
          <a:ln>
            <a:noFill/>
          </a:ln>
        </p:spPr>
      </p:pic>
      <p:pic>
        <p:nvPicPr>
          <p:cNvPr descr="No description has been provided for this image" id="473" name="Google Shape;473;p25"/>
          <p:cNvPicPr preferRelativeResize="0"/>
          <p:nvPr/>
        </p:nvPicPr>
        <p:blipFill rotWithShape="1">
          <a:blip r:embed="rId7">
            <a:alphaModFix/>
          </a:blip>
          <a:srcRect b="0" l="0" r="0" t="0"/>
          <a:stretch/>
        </p:blipFill>
        <p:spPr>
          <a:xfrm>
            <a:off x="7920842" y="4671956"/>
            <a:ext cx="4271158" cy="211388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descr="No description has been provided for this image" id="478" name="Google Shape;478;p26"/>
          <p:cNvPicPr preferRelativeResize="0"/>
          <p:nvPr/>
        </p:nvPicPr>
        <p:blipFill rotWithShape="1">
          <a:blip r:embed="rId3">
            <a:alphaModFix/>
          </a:blip>
          <a:srcRect b="0" l="0" r="0" t="0"/>
          <a:stretch/>
        </p:blipFill>
        <p:spPr>
          <a:xfrm>
            <a:off x="3360717" y="3960822"/>
            <a:ext cx="4425324" cy="2748333"/>
          </a:xfrm>
          <a:prstGeom prst="rect">
            <a:avLst/>
          </a:prstGeom>
          <a:noFill/>
          <a:ln>
            <a:noFill/>
          </a:ln>
        </p:spPr>
      </p:pic>
      <p:sp>
        <p:nvSpPr>
          <p:cNvPr id="479" name="Google Shape;479;p26"/>
          <p:cNvSpPr txBox="1"/>
          <p:nvPr>
            <p:ph idx="2" type="body"/>
          </p:nvPr>
        </p:nvSpPr>
        <p:spPr>
          <a:xfrm>
            <a:off x="203335" y="1748640"/>
            <a:ext cx="3932237" cy="38115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en-US"/>
              <a:t>Abrir la caja negra </a:t>
            </a:r>
            <a:endParaRPr/>
          </a:p>
          <a:p>
            <a:pPr indent="0" lvl="0" marL="0" rtl="0" algn="l">
              <a:lnSpc>
                <a:spcPct val="90000"/>
              </a:lnSpc>
              <a:spcBef>
                <a:spcPts val="1000"/>
              </a:spcBef>
              <a:spcAft>
                <a:spcPts val="0"/>
              </a:spcAft>
              <a:buClr>
                <a:schemeClr val="dk1"/>
              </a:buClr>
              <a:buSzPts val="1600"/>
              <a:buNone/>
            </a:pPr>
            <a:r>
              <a:rPr lang="en-US"/>
              <a:t>SHAP con Validación Cruzada (CV-SHAP)</a:t>
            </a:r>
            <a:endParaRPr/>
          </a:p>
          <a:p>
            <a:pPr indent="0" lvl="1" marL="457200" rtl="0" algn="l">
              <a:lnSpc>
                <a:spcPct val="90000"/>
              </a:lnSpc>
              <a:spcBef>
                <a:spcPts val="500"/>
              </a:spcBef>
              <a:spcAft>
                <a:spcPts val="0"/>
              </a:spcAft>
              <a:buClr>
                <a:schemeClr val="dk1"/>
              </a:buClr>
              <a:buSzPts val="1400"/>
              <a:buNone/>
            </a:pPr>
            <a:r>
              <a:rPr lang="en-US"/>
              <a:t>Importancia para c/paciente cuando eran validación</a:t>
            </a:r>
            <a:endParaRPr/>
          </a:p>
          <a:p>
            <a:pPr indent="0" lvl="1" marL="457200" rtl="0" algn="l">
              <a:lnSpc>
                <a:spcPct val="90000"/>
              </a:lnSpc>
              <a:spcBef>
                <a:spcPts val="500"/>
              </a:spcBef>
              <a:spcAft>
                <a:spcPts val="0"/>
              </a:spcAft>
              <a:buClr>
                <a:schemeClr val="dk1"/>
              </a:buClr>
              <a:buSzPts val="1400"/>
              <a:buNone/>
            </a:pPr>
            <a:r>
              <a:rPr lang="en-US"/>
              <a:t>Elimina sesgo sobreajuste</a:t>
            </a:r>
            <a:endParaRPr/>
          </a:p>
          <a:p>
            <a:pPr indent="0" lvl="1" marL="457200" rtl="0" algn="l">
              <a:lnSpc>
                <a:spcPct val="90000"/>
              </a:lnSpc>
              <a:spcBef>
                <a:spcPts val="500"/>
              </a:spcBef>
              <a:spcAft>
                <a:spcPts val="0"/>
              </a:spcAft>
              <a:buClr>
                <a:schemeClr val="dk1"/>
              </a:buClr>
              <a:buSzPts val="1400"/>
              <a:buNone/>
            </a:pPr>
            <a:r>
              <a:rPr lang="en-US"/>
              <a:t>Ranking, jerarquizar impacto global</a:t>
            </a:r>
            <a:endParaRPr/>
          </a:p>
          <a:p>
            <a:pPr indent="0" lvl="1" marL="457200" rtl="0" algn="l">
              <a:lnSpc>
                <a:spcPct val="90000"/>
              </a:lnSpc>
              <a:spcBef>
                <a:spcPts val="500"/>
              </a:spcBef>
              <a:spcAft>
                <a:spcPts val="0"/>
              </a:spcAft>
              <a:buClr>
                <a:schemeClr val="dk1"/>
              </a:buClr>
              <a:buSzPts val="1400"/>
              <a:buNone/>
            </a:pPr>
            <a:r>
              <a:rPr lang="en-US"/>
              <a:t>Beeswarm: dirección efecto (vertical= importancia; horizontal= impacto= riesgo &gt;0; color rojo, alto valor de la variable)</a:t>
            </a:r>
            <a:endParaRPr/>
          </a:p>
          <a:p>
            <a:pPr indent="0" lvl="1" marL="457200" rtl="0" algn="l">
              <a:lnSpc>
                <a:spcPct val="90000"/>
              </a:lnSpc>
              <a:spcBef>
                <a:spcPts val="500"/>
              </a:spcBef>
              <a:spcAft>
                <a:spcPts val="0"/>
              </a:spcAft>
              <a:buClr>
                <a:schemeClr val="dk1"/>
              </a:buClr>
              <a:buSzPts val="1400"/>
              <a:buNone/>
            </a:pPr>
            <a:r>
              <a:rPr lang="en-US"/>
              <a:t>Cascada= paciente de mayor y menor riesgo (horizontal= riesgo; flecha roja= + riesgo evento; E[f(x)]= riesgo promedio población, cuánto se desvía de él</a:t>
            </a:r>
            <a:endParaRPr/>
          </a:p>
          <a:p>
            <a:pPr indent="0" lvl="0" marL="0" rtl="0" algn="l">
              <a:lnSpc>
                <a:spcPct val="90000"/>
              </a:lnSpc>
              <a:spcBef>
                <a:spcPts val="1000"/>
              </a:spcBef>
              <a:spcAft>
                <a:spcPts val="0"/>
              </a:spcAft>
              <a:buClr>
                <a:schemeClr val="dk1"/>
              </a:buClr>
              <a:buSzPts val="1600"/>
              <a:buNone/>
            </a:pPr>
            <a:r>
              <a:t/>
            </a:r>
            <a:endParaRPr/>
          </a:p>
        </p:txBody>
      </p:sp>
      <p:sp>
        <p:nvSpPr>
          <p:cNvPr id="480" name="Google Shape;480;p26"/>
          <p:cNvSpPr txBox="1"/>
          <p:nvPr>
            <p:ph type="title"/>
          </p:nvPr>
        </p:nvSpPr>
        <p:spPr>
          <a:xfrm>
            <a:off x="139144" y="463457"/>
            <a:ext cx="3221573" cy="10511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Modelo no-lineal</a:t>
            </a:r>
            <a:br>
              <a:rPr lang="en-US"/>
            </a:br>
            <a:r>
              <a:rPr lang="en-US"/>
              <a:t>ML (XGBoost)</a:t>
            </a:r>
            <a:endParaRPr/>
          </a:p>
        </p:txBody>
      </p:sp>
      <p:pic>
        <p:nvPicPr>
          <p:cNvPr descr="No description has been provided for this image" id="481" name="Google Shape;481;p26"/>
          <p:cNvPicPr preferRelativeResize="0"/>
          <p:nvPr/>
        </p:nvPicPr>
        <p:blipFill rotWithShape="1">
          <a:blip r:embed="rId4">
            <a:alphaModFix/>
          </a:blip>
          <a:srcRect b="0" l="0" r="0" t="0"/>
          <a:stretch/>
        </p:blipFill>
        <p:spPr>
          <a:xfrm>
            <a:off x="3877274" y="219693"/>
            <a:ext cx="4744856" cy="3675413"/>
          </a:xfrm>
          <a:prstGeom prst="rect">
            <a:avLst/>
          </a:prstGeom>
          <a:noFill/>
          <a:ln>
            <a:noFill/>
          </a:ln>
        </p:spPr>
      </p:pic>
      <p:pic>
        <p:nvPicPr>
          <p:cNvPr descr="No description has been provided for this image" id="482" name="Google Shape;482;p26"/>
          <p:cNvPicPr preferRelativeResize="0"/>
          <p:nvPr/>
        </p:nvPicPr>
        <p:blipFill rotWithShape="1">
          <a:blip r:embed="rId5">
            <a:alphaModFix/>
          </a:blip>
          <a:srcRect b="0" l="0" r="0" t="0"/>
          <a:stretch/>
        </p:blipFill>
        <p:spPr>
          <a:xfrm>
            <a:off x="7681108" y="667662"/>
            <a:ext cx="3766705" cy="2520862"/>
          </a:xfrm>
          <a:prstGeom prst="rect">
            <a:avLst/>
          </a:prstGeom>
          <a:noFill/>
          <a:ln>
            <a:noFill/>
          </a:ln>
        </p:spPr>
      </p:pic>
      <p:pic>
        <p:nvPicPr>
          <p:cNvPr descr="No description has been provided for this image" id="483" name="Google Shape;483;p26"/>
          <p:cNvPicPr preferRelativeResize="0"/>
          <p:nvPr/>
        </p:nvPicPr>
        <p:blipFill rotWithShape="1">
          <a:blip r:embed="rId6">
            <a:alphaModFix/>
          </a:blip>
          <a:srcRect b="0" l="0" r="0" t="0"/>
          <a:stretch/>
        </p:blipFill>
        <p:spPr>
          <a:xfrm>
            <a:off x="7782772" y="3960823"/>
            <a:ext cx="4267550" cy="274833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descr="No description has been provided for this image" id="488" name="Google Shape;488;p27"/>
          <p:cNvPicPr preferRelativeResize="0"/>
          <p:nvPr/>
        </p:nvPicPr>
        <p:blipFill rotWithShape="1">
          <a:blip r:embed="rId3">
            <a:alphaModFix/>
          </a:blip>
          <a:srcRect b="0" l="0" r="0" t="0"/>
          <a:stretch/>
        </p:blipFill>
        <p:spPr>
          <a:xfrm>
            <a:off x="2860757" y="83447"/>
            <a:ext cx="4422775" cy="3429000"/>
          </a:xfrm>
          <a:prstGeom prst="rect">
            <a:avLst/>
          </a:prstGeom>
          <a:noFill/>
          <a:ln>
            <a:noFill/>
          </a:ln>
        </p:spPr>
      </p:pic>
      <p:pic>
        <p:nvPicPr>
          <p:cNvPr descr="No description has been provided for this image" id="489" name="Google Shape;489;p27"/>
          <p:cNvPicPr preferRelativeResize="0"/>
          <p:nvPr/>
        </p:nvPicPr>
        <p:blipFill rotWithShape="1">
          <a:blip r:embed="rId4">
            <a:alphaModFix/>
          </a:blip>
          <a:srcRect b="0" l="0" r="0" t="0"/>
          <a:stretch/>
        </p:blipFill>
        <p:spPr>
          <a:xfrm>
            <a:off x="7196447" y="92395"/>
            <a:ext cx="4737656" cy="3170670"/>
          </a:xfrm>
          <a:prstGeom prst="rect">
            <a:avLst/>
          </a:prstGeom>
          <a:noFill/>
          <a:ln>
            <a:noFill/>
          </a:ln>
        </p:spPr>
      </p:pic>
      <p:pic>
        <p:nvPicPr>
          <p:cNvPr descr="No description has been provided for this image" id="490" name="Google Shape;490;p27"/>
          <p:cNvPicPr preferRelativeResize="0"/>
          <p:nvPr/>
        </p:nvPicPr>
        <p:blipFill rotWithShape="1">
          <a:blip r:embed="rId5">
            <a:alphaModFix/>
          </a:blip>
          <a:srcRect b="0" l="0" r="0" t="0"/>
          <a:stretch/>
        </p:blipFill>
        <p:spPr>
          <a:xfrm>
            <a:off x="1463092" y="3637297"/>
            <a:ext cx="4954084" cy="2953988"/>
          </a:xfrm>
          <a:prstGeom prst="rect">
            <a:avLst/>
          </a:prstGeom>
          <a:noFill/>
          <a:ln>
            <a:noFill/>
          </a:ln>
        </p:spPr>
      </p:pic>
      <p:sp>
        <p:nvSpPr>
          <p:cNvPr id="491" name="Google Shape;491;p27"/>
          <p:cNvSpPr txBox="1"/>
          <p:nvPr>
            <p:ph type="title"/>
          </p:nvPr>
        </p:nvSpPr>
        <p:spPr>
          <a:xfrm>
            <a:off x="139144" y="83447"/>
            <a:ext cx="3221573" cy="10511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Modelo no-lineal</a:t>
            </a:r>
            <a:br>
              <a:rPr lang="en-US"/>
            </a:br>
            <a:r>
              <a:rPr lang="en-US"/>
              <a:t>ML (XGBoost)</a:t>
            </a:r>
            <a:endParaRPr/>
          </a:p>
        </p:txBody>
      </p:sp>
      <p:pic>
        <p:nvPicPr>
          <p:cNvPr descr="No description has been provided for this image" id="492" name="Google Shape;492;p27"/>
          <p:cNvPicPr preferRelativeResize="0"/>
          <p:nvPr/>
        </p:nvPicPr>
        <p:blipFill rotWithShape="1">
          <a:blip r:embed="rId6">
            <a:alphaModFix/>
          </a:blip>
          <a:srcRect b="0" l="0" r="0" t="0"/>
          <a:stretch/>
        </p:blipFill>
        <p:spPr>
          <a:xfrm>
            <a:off x="6467425" y="3637297"/>
            <a:ext cx="5449238" cy="320368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8"/>
          <p:cNvSpPr txBox="1"/>
          <p:nvPr>
            <p:ph type="title"/>
          </p:nvPr>
        </p:nvSpPr>
        <p:spPr>
          <a:xfrm>
            <a:off x="0" y="0"/>
            <a:ext cx="5648327" cy="10511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Modelo no-lineal ML (XGBoost)</a:t>
            </a:r>
            <a:endParaRPr/>
          </a:p>
        </p:txBody>
      </p:sp>
      <p:graphicFrame>
        <p:nvGraphicFramePr>
          <p:cNvPr id="498" name="Google Shape;498;p28"/>
          <p:cNvGraphicFramePr/>
          <p:nvPr/>
        </p:nvGraphicFramePr>
        <p:xfrm>
          <a:off x="483528" y="812167"/>
          <a:ext cx="3000000" cy="3000000"/>
        </p:xfrm>
        <a:graphic>
          <a:graphicData uri="http://schemas.openxmlformats.org/drawingml/2006/table">
            <a:tbl>
              <a:tblPr>
                <a:noFill/>
                <a:tableStyleId>{DBD46C37-D01B-4F45-941C-DAD3E01F40E0}</a:tableStyleId>
              </a:tblPr>
              <a:tblGrid>
                <a:gridCol w="866900"/>
                <a:gridCol w="1401300"/>
                <a:gridCol w="2729700"/>
              </a:tblGrid>
              <a:tr h="202850">
                <a:tc>
                  <a:txBody>
                    <a:bodyPr/>
                    <a:lstStyle/>
                    <a:p>
                      <a:pPr indent="0" lvl="0" marL="0" marR="0" rtl="0" algn="l">
                        <a:spcBef>
                          <a:spcPts val="0"/>
                        </a:spcBef>
                        <a:spcAft>
                          <a:spcPts val="0"/>
                        </a:spcAft>
                        <a:buClr>
                          <a:schemeClr val="dk1"/>
                        </a:buClr>
                        <a:buSzPts val="1100"/>
                        <a:buFont typeface="Arial"/>
                        <a:buNone/>
                      </a:pPr>
                      <a:r>
                        <a:rPr b="1" lang="en-US" sz="1100" u="none" cap="none" strike="noStrike"/>
                        <a:t>Outcome</a:t>
                      </a:r>
                      <a:endParaRPr b="1" sz="1100" u="none" cap="none" strike="noStrike"/>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Tipo</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1100" u="none" cap="none" strike="noStrike"/>
                        <a:t>Predictores clave (ordenados)</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62850">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Perfil de riesgo</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 Age (Older)</a:t>
                      </a:r>
                      <a:br>
                        <a:rPr lang="en-US" sz="1100" u="none" cap="none" strike="noStrike"/>
                      </a:br>
                      <a:r>
                        <a:rPr lang="en-US" sz="1100" u="none" cap="none" strike="noStrike"/>
                        <a:t>2. Primary Substance: Alcohol</a:t>
                      </a:r>
                      <a:br>
                        <a:rPr lang="en-US" sz="1100" u="none" cap="none" strike="noStrike"/>
                      </a:br>
                      <a:r>
                        <a:rPr lang="en-US" sz="1100" u="none" cap="none" strike="noStrike"/>
                        <a:t>3. High Usage Frequency</a:t>
                      </a:r>
                      <a:br>
                        <a:rPr lang="en-US" sz="1100" u="none" cap="none" strike="noStrike"/>
                      </a:br>
                      <a:r>
                        <a:rPr lang="en-US" sz="1100" u="none" cap="none" strike="noStrike"/>
                        <a:t>4. Unemployment</a:t>
                      </a:r>
                      <a:br>
                        <a:rPr lang="en-US" sz="1100" u="none" cap="none" strike="noStrike"/>
                      </a:br>
                      <a:r>
                        <a:rPr lang="en-US" sz="1100" u="none" cap="none" strike="noStrike"/>
                        <a:t>5. Physical Comorbidities</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62850">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Perfil de riesgo</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 Poverty (Area-Level)</a:t>
                      </a:r>
                      <a:br>
                        <a:rPr lang="en-US" sz="1100" u="none" cap="none" strike="noStrike"/>
                      </a:br>
                      <a:r>
                        <a:rPr lang="en-US" sz="1100" u="none" cap="none" strike="noStrike"/>
                        <a:t>2. Female Sex</a:t>
                      </a:r>
                      <a:br>
                        <a:rPr lang="en-US" sz="1100" u="none" cap="none" strike="noStrike"/>
                      </a:br>
                      <a:r>
                        <a:rPr lang="en-US" sz="1100" u="none" cap="none" strike="noStrike"/>
                        <a:t>3. Plan Type (Specific Program Tracks)</a:t>
                      </a:r>
                      <a:br>
                        <a:rPr lang="en-US" sz="1100" u="none" cap="none" strike="noStrike"/>
                      </a:br>
                      <a:r>
                        <a:rPr lang="en-US" sz="1100" u="none" cap="none" strike="noStrike"/>
                        <a:t>4. Ethnicity (Mapuche)</a:t>
                      </a:r>
                      <a:br>
                        <a:rPr lang="en-US" sz="1100" u="none" cap="none" strike="noStrike"/>
                      </a:br>
                      <a:r>
                        <a:rPr lang="en-US" sz="1100" u="none" cap="none" strike="noStrike"/>
                        <a:t>5. Polysubstance Use</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1225">
                <a:tc>
                  <a:txBody>
                    <a:bodyPr/>
                    <a:lstStyle/>
                    <a:p>
                      <a:pPr indent="0" lvl="0" marL="0" marR="0" rtl="0" algn="l">
                        <a:spcBef>
                          <a:spcPts val="0"/>
                        </a:spcBef>
                        <a:spcAft>
                          <a:spcPts val="0"/>
                        </a:spcAft>
                        <a:buClr>
                          <a:schemeClr val="dk1"/>
                        </a:buClr>
                        <a:buSzPts val="1100"/>
                        <a:buFont typeface="Arial"/>
                        <a:buNone/>
                      </a:pPr>
                      <a:r>
                        <a:rPr lang="en-US" sz="1100" u="none" cap="none" strike="noStrike"/>
                        <a:t>Mortalidad</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Factores protectores</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 Female Sex (Biological Resilience)</a:t>
                      </a:r>
                      <a:br>
                        <a:rPr lang="en-US" sz="1100" u="none" cap="none" strike="noStrike"/>
                      </a:br>
                      <a:r>
                        <a:rPr lang="en-US" sz="1100" u="none" cap="none" strike="noStrike"/>
                        <a:t>2. Treatment Retention (Clinical Dose)</a:t>
                      </a:r>
                      <a:br>
                        <a:rPr lang="en-US" sz="1100" u="none" cap="none" strike="noStrike"/>
                      </a:br>
                      <a:r>
                        <a:rPr lang="en-US" sz="1100" u="none" cap="none" strike="noStrike"/>
                        <a:t>3. Family/Partner Cohabitation (Social Support)</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82850">
                <a:tc>
                  <a:txBody>
                    <a:bodyPr/>
                    <a:lstStyle/>
                    <a:p>
                      <a:pPr indent="0" lvl="0" marL="0" marR="0" rtl="0" algn="l">
                        <a:spcBef>
                          <a:spcPts val="0"/>
                        </a:spcBef>
                        <a:spcAft>
                          <a:spcPts val="0"/>
                        </a:spcAft>
                        <a:buClr>
                          <a:schemeClr val="dk1"/>
                        </a:buClr>
                        <a:buSzPts val="1100"/>
                        <a:buFont typeface="Arial"/>
                        <a:buNone/>
                      </a:pPr>
                      <a:r>
                        <a:rPr lang="en-US" sz="1100" u="none" cap="none" strike="noStrike"/>
                        <a:t>Reingreso</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Factores protectores</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u="none" cap="none" strike="noStrike"/>
                        <a:t>1. Older Age (Maturation Effect)</a:t>
                      </a:r>
                      <a:br>
                        <a:rPr lang="en-US" sz="1100" u="none" cap="none" strike="noStrike"/>
                      </a:br>
                      <a:r>
                        <a:rPr lang="en-US" sz="1100" u="none" cap="none" strike="noStrike"/>
                        <a:t>2. Primary Alcohol Use (The "Survivor Paradox")</a:t>
                      </a:r>
                      <a:br>
                        <a:rPr lang="en-US" sz="1100" u="none" cap="none" strike="noStrike"/>
                      </a:br>
                      <a:r>
                        <a:rPr lang="en-US" sz="1100" u="none" cap="none" strike="noStrike"/>
                        <a:t>3. Treatment Retention</a:t>
                      </a:r>
                      <a:endParaRPr/>
                    </a:p>
                  </a:txBody>
                  <a:tcPr marT="41050" marB="41050" marR="82100" marL="82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499" name="Google Shape;499;p28"/>
          <p:cNvGraphicFramePr/>
          <p:nvPr/>
        </p:nvGraphicFramePr>
        <p:xfrm>
          <a:off x="5648327" y="128613"/>
          <a:ext cx="3000000" cy="3000000"/>
        </p:xfrm>
        <a:graphic>
          <a:graphicData uri="http://schemas.openxmlformats.org/drawingml/2006/table">
            <a:tbl>
              <a:tblPr>
                <a:noFill/>
                <a:tableStyleId>{DBD46C37-D01B-4F45-941C-DAD3E01F40E0}</a:tableStyleId>
              </a:tblPr>
              <a:tblGrid>
                <a:gridCol w="1401300"/>
                <a:gridCol w="961900"/>
                <a:gridCol w="1235025"/>
                <a:gridCol w="1249900"/>
                <a:gridCol w="1212025"/>
              </a:tblGrid>
              <a:tr h="361125">
                <a:tc>
                  <a:txBody>
                    <a:bodyPr/>
                    <a:lstStyle/>
                    <a:p>
                      <a:pPr indent="0" lvl="0" marL="0" marR="0" rtl="0" algn="l">
                        <a:spcBef>
                          <a:spcPts val="0"/>
                        </a:spcBef>
                        <a:spcAft>
                          <a:spcPts val="0"/>
                        </a:spcAft>
                        <a:buClr>
                          <a:schemeClr val="dk1"/>
                        </a:buClr>
                        <a:buSzPts val="1200"/>
                        <a:buFont typeface="Arial"/>
                        <a:buNone/>
                      </a:pPr>
                      <a:r>
                        <a:rPr b="1" lang="en-US" sz="1200" u="none" cap="none" strike="noStrike"/>
                        <a:t>Variable</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t>Outcome</a:t>
                      </a:r>
                      <a:endParaRPr b="1"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t>Forma</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t>Especificación</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t>Evidencia / Ajuste</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506400">
                <a:tc>
                  <a:txBody>
                    <a:bodyPr/>
                    <a:lstStyle/>
                    <a:p>
                      <a:pPr indent="0" lvl="0" marL="0" marR="0" rtl="0" algn="l">
                        <a:spcBef>
                          <a:spcPts val="0"/>
                        </a:spcBef>
                        <a:spcAft>
                          <a:spcPts val="0"/>
                        </a:spcAft>
                        <a:buClr>
                          <a:schemeClr val="dk1"/>
                        </a:buClr>
                        <a:buSzPts val="1200"/>
                        <a:buFont typeface="Arial"/>
                        <a:buNone/>
                      </a:pPr>
                      <a:r>
                        <a:rPr lang="en-US" sz="1200" u="none" cap="none" strike="noStrike"/>
                        <a:t>Age (</a:t>
                      </a:r>
                      <a:r>
                        <a:rPr lang="en-US" sz="1200" u="none" cap="none" strike="noStrike">
                          <a:latin typeface="Courier New"/>
                          <a:ea typeface="Courier New"/>
                          <a:cs typeface="Courier New"/>
                          <a:sym typeface="Courier New"/>
                        </a:rPr>
                        <a:t>adm_age_rec3</a:t>
                      </a:r>
                      <a:r>
                        <a:rPr lang="en-US" sz="1200" u="none" cap="none" strike="noStrike"/>
                        <a:t>)</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Death</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Lineal estricta</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Término lineal: </a:t>
                      </a:r>
                      <a:r>
                        <a:rPr lang="en-US" sz="1200" u="none" cap="none" strike="noStrike">
                          <a:latin typeface="Courier New"/>
                          <a:ea typeface="Courier New"/>
                          <a:cs typeface="Courier New"/>
                          <a:sym typeface="Courier New"/>
                        </a:rPr>
                        <a:t>age</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Ajuste casi perfecto (R² ≈ 0.98)</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1675">
                <a:tc>
                  <a:txBody>
                    <a:bodyPr/>
                    <a:lstStyle/>
                    <a:p>
                      <a:pPr indent="0" lvl="0" marL="0" marR="0" rtl="0" algn="l">
                        <a:spcBef>
                          <a:spcPts val="0"/>
                        </a:spcBef>
                        <a:spcAft>
                          <a:spcPts val="0"/>
                        </a:spcAft>
                        <a:buClr>
                          <a:schemeClr val="dk1"/>
                        </a:buClr>
                        <a:buSzPts val="1200"/>
                        <a:buFont typeface="Arial"/>
                        <a:buNone/>
                      </a:pPr>
                      <a:r>
                        <a:rPr lang="en-US" sz="1200" u="none" cap="none" strike="noStrike"/>
                        <a:t>Age (</a:t>
                      </a:r>
                      <a:r>
                        <a:rPr lang="en-US" sz="1200" u="none" cap="none" strike="noStrike">
                          <a:latin typeface="Courier New"/>
                          <a:ea typeface="Courier New"/>
                          <a:cs typeface="Courier New"/>
                          <a:sym typeface="Courier New"/>
                        </a:rPr>
                        <a:t>adm_age_rec3</a:t>
                      </a:r>
                      <a:r>
                        <a:rPr lang="en-US" sz="1200" u="none" cap="none" strike="noStrike"/>
                        <a:t>)</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Readmission</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No lineal (maturación)</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Spline: </a:t>
                      </a:r>
                      <a:r>
                        <a:rPr lang="en-US" sz="1200" u="none" cap="none" strike="noStrike">
                          <a:latin typeface="Courier New"/>
                          <a:ea typeface="Courier New"/>
                          <a:cs typeface="Courier New"/>
                          <a:sym typeface="Courier New"/>
                        </a:rPr>
                        <a:t>pspline(age, df=4)</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Cuadrático supera al lineal (R² ≈ 0.61 vs 0.32)</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6400">
                <a:tc>
                  <a:txBody>
                    <a:bodyPr/>
                    <a:lstStyle/>
                    <a:p>
                      <a:pPr indent="0" lvl="0" marL="0" marR="0" rtl="0" algn="l">
                        <a:spcBef>
                          <a:spcPts val="0"/>
                        </a:spcBef>
                        <a:spcAft>
                          <a:spcPts val="0"/>
                        </a:spcAft>
                        <a:buClr>
                          <a:schemeClr val="dk1"/>
                        </a:buClr>
                        <a:buSzPts val="1200"/>
                        <a:buFont typeface="Arial"/>
                        <a:buNone/>
                      </a:pPr>
                      <a:r>
                        <a:rPr lang="en-US" sz="1200" u="none" cap="none" strike="noStrike"/>
                        <a:t>Poverty (</a:t>
                      </a:r>
                      <a:r>
                        <a:rPr lang="en-US" sz="1200" u="none" cap="none" strike="noStrike">
                          <a:latin typeface="Courier New"/>
                          <a:ea typeface="Courier New"/>
                          <a:cs typeface="Courier New"/>
                          <a:sym typeface="Courier New"/>
                        </a:rPr>
                        <a:t>porc_pobr</a:t>
                      </a:r>
                      <a:r>
                        <a:rPr lang="en-US" sz="1200" u="none" cap="none" strike="noStrike"/>
                        <a:t>)</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Death</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Umbral / escalonado</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Categórica: cuartiles</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Correlación lineal débil (R² ≈ 0.23)</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6400">
                <a:tc>
                  <a:txBody>
                    <a:bodyPr/>
                    <a:lstStyle/>
                    <a:p>
                      <a:pPr indent="0" lvl="0" marL="0" marR="0" rtl="0" algn="l">
                        <a:spcBef>
                          <a:spcPts val="0"/>
                        </a:spcBef>
                        <a:spcAft>
                          <a:spcPts val="0"/>
                        </a:spcAft>
                        <a:buClr>
                          <a:schemeClr val="dk1"/>
                        </a:buClr>
                        <a:buSzPts val="1200"/>
                        <a:buFont typeface="Arial"/>
                        <a:buNone/>
                      </a:pPr>
                      <a:r>
                        <a:rPr lang="en-US" sz="1200" u="none" cap="none" strike="noStrike"/>
                        <a:t>Retention (</a:t>
                      </a:r>
                      <a:r>
                        <a:rPr lang="en-US" sz="1200" u="none" cap="none" strike="noStrike">
                          <a:latin typeface="Courier New"/>
                          <a:ea typeface="Courier New"/>
                          <a:cs typeface="Courier New"/>
                          <a:sym typeface="Courier New"/>
                        </a:rPr>
                        <a:t>dit_m</a:t>
                      </a:r>
                      <a:r>
                        <a:rPr lang="en-US" sz="1200" u="none" cap="none" strike="noStrike"/>
                        <a:t>)</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Readmission</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Rendimientos decrecientes</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Log-transform: </a:t>
                      </a:r>
                      <a:r>
                        <a:rPr lang="en-US" sz="1200" u="none" cap="none" strike="noStrike">
                          <a:latin typeface="Courier New"/>
                          <a:ea typeface="Courier New"/>
                          <a:cs typeface="Courier New"/>
                          <a:sym typeface="Courier New"/>
                        </a:rPr>
                        <a:t>log(days)</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No lineal &gt; lineal (R² ≈ 0.67 vs 0.60)</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125">
                <a:tc>
                  <a:txBody>
                    <a:bodyPr/>
                    <a:lstStyle/>
                    <a:p>
                      <a:pPr indent="0" lvl="0" marL="0" marR="0" rtl="0" algn="l">
                        <a:spcBef>
                          <a:spcPts val="0"/>
                        </a:spcBef>
                        <a:spcAft>
                          <a:spcPts val="0"/>
                        </a:spcAft>
                        <a:buClr>
                          <a:schemeClr val="dk1"/>
                        </a:buClr>
                        <a:buSzPts val="1200"/>
                        <a:buFont typeface="Arial"/>
                        <a:buNone/>
                      </a:pPr>
                      <a:r>
                        <a:rPr lang="en-US" sz="1200" u="none" cap="none" strike="noStrike"/>
                        <a:t>Age</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Readmission</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Dispersión vertical</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Términos de interacción</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Interacción </a:t>
                      </a:r>
                      <a:r>
                        <a:rPr lang="en-US" sz="1200" u="none" cap="none" strike="noStrike">
                          <a:latin typeface="Courier New"/>
                          <a:ea typeface="Courier New"/>
                          <a:cs typeface="Courier New"/>
                          <a:sym typeface="Courier New"/>
                        </a:rPr>
                        <a:t>Age * Alcohol</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6400">
                <a:tc>
                  <a:txBody>
                    <a:bodyPr/>
                    <a:lstStyle/>
                    <a:p>
                      <a:pPr indent="0" lvl="0" marL="0" marR="0" rtl="0" algn="l">
                        <a:spcBef>
                          <a:spcPts val="0"/>
                        </a:spcBef>
                        <a:spcAft>
                          <a:spcPts val="0"/>
                        </a:spcAft>
                        <a:buClr>
                          <a:schemeClr val="dk1"/>
                        </a:buClr>
                        <a:buSzPts val="1200"/>
                        <a:buFont typeface="Arial"/>
                        <a:buNone/>
                      </a:pPr>
                      <a:r>
                        <a:rPr lang="en-US" sz="1200" u="none" cap="none" strike="noStrike"/>
                        <a:t>Retention</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Both</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Cola larga / leverage</a:t>
                      </a:r>
                      <a:endParaRPr sz="1200" u="none" cap="none" strike="noStrike"/>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Winsorización / Log</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t>Compresión de outliers (&gt;24 meses)</a:t>
                      </a:r>
                      <a:endParaRPr/>
                    </a:p>
                  </a:txBody>
                  <a:tcPr marT="44400" marB="44400" marR="88800" marL="88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500" name="Google Shape;500;p28"/>
          <p:cNvGraphicFramePr/>
          <p:nvPr/>
        </p:nvGraphicFramePr>
        <p:xfrm>
          <a:off x="274895" y="4526280"/>
          <a:ext cx="3000000" cy="3000000"/>
        </p:xfrm>
        <a:graphic>
          <a:graphicData uri="http://schemas.openxmlformats.org/drawingml/2006/table">
            <a:tbl>
              <a:tblPr>
                <a:noFill/>
                <a:tableStyleId>{DBD46C37-D01B-4F45-941C-DAD3E01F40E0}</a:tableStyleId>
              </a:tblPr>
              <a:tblGrid>
                <a:gridCol w="1654975"/>
                <a:gridCol w="1880075"/>
                <a:gridCol w="1880075"/>
              </a:tblGrid>
              <a:tr h="139700">
                <a:tc>
                  <a:txBody>
                    <a:bodyPr/>
                    <a:lstStyle/>
                    <a:p>
                      <a:pPr indent="0" lvl="0" marL="0" marR="0" rtl="0" algn="l">
                        <a:spcBef>
                          <a:spcPts val="0"/>
                        </a:spcBef>
                        <a:spcAft>
                          <a:spcPts val="0"/>
                        </a:spcAft>
                        <a:buClr>
                          <a:schemeClr val="dk1"/>
                        </a:buClr>
                        <a:buSzPts val="1100"/>
                        <a:buFont typeface="Arial"/>
                        <a:buNone/>
                      </a:pPr>
                      <a:r>
                        <a:rPr b="1" lang="en-US" sz="900" u="none" cap="none" strike="noStrike"/>
                        <a:t>Outcome de riesgo</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900" u="none" cap="none" strike="noStrike"/>
                        <a:t>Par de interacción</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b="1" lang="en-US" sz="900" u="none" cap="none" strike="noStrike"/>
                        <a:t>Fuerza</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Mortalidad</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Age * Alcohol Use</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Muy alta (0.23)</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Mortalidad</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Unemployment * Inactivity</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Alta (0.21)</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Mortalidad</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Age * Physical Health</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Alta (0.19)</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Mortalidad</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Age * Cohabitation (Family)</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Media (0.14)</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Reingreso</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Cocaine/Paste * Alcohol</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Muy alta (0.22)</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Reingreso</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Plan Type * Female Sex</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Alta (0.19)</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Reingreso</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Alcohol * Marijuana</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Media (0.14)</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9700">
                <a:tc>
                  <a:txBody>
                    <a:bodyPr/>
                    <a:lstStyle/>
                    <a:p>
                      <a:pPr indent="0" lvl="0" marL="0" marR="0" rtl="0" algn="l">
                        <a:spcBef>
                          <a:spcPts val="0"/>
                        </a:spcBef>
                        <a:spcAft>
                          <a:spcPts val="0"/>
                        </a:spcAft>
                        <a:buClr>
                          <a:schemeClr val="dk1"/>
                        </a:buClr>
                        <a:buSzPts val="1100"/>
                        <a:buFont typeface="Arial"/>
                        <a:buNone/>
                      </a:pPr>
                      <a:r>
                        <a:rPr lang="en-US" sz="900" u="none" cap="none" strike="noStrike"/>
                        <a:t>Reingreso</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Clinical Eval * Referral</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900" u="none" cap="none" strike="noStrike"/>
                        <a:t>Media (0.13)</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No description has been provided for this image" id="501" name="Google Shape;501;p28"/>
          <p:cNvPicPr preferRelativeResize="0"/>
          <p:nvPr/>
        </p:nvPicPr>
        <p:blipFill rotWithShape="1">
          <a:blip r:embed="rId3">
            <a:alphaModFix/>
          </a:blip>
          <a:srcRect b="0" l="0" r="0" t="0"/>
          <a:stretch/>
        </p:blipFill>
        <p:spPr>
          <a:xfrm>
            <a:off x="5023263" y="4471449"/>
            <a:ext cx="7061859" cy="232636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9438bb775a_0_0"/>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XGB (actualizado a febrero)</a:t>
            </a:r>
            <a:endParaRPr/>
          </a:p>
        </p:txBody>
      </p:sp>
      <p:sp>
        <p:nvSpPr>
          <p:cNvPr id="508" name="Google Shape;508;g39438bb775a_0_0"/>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431800" lvl="0" marL="457200" rtl="0" algn="l">
              <a:spcBef>
                <a:spcPts val="1000"/>
              </a:spcBef>
              <a:spcAft>
                <a:spcPts val="0"/>
              </a:spcAft>
              <a:buSzPts val="3200"/>
              <a:buChar char="-"/>
            </a:pPr>
            <a:r>
              <a:rPr lang="en-US"/>
              <a:t>Para readmisi</a:t>
            </a:r>
            <a:r>
              <a:rPr lang="en-US"/>
              <a:t>ón, max_depth fue de 9, mortalidad de 3.</a:t>
            </a:r>
            <a:endParaRPr/>
          </a:p>
          <a:p>
            <a:pPr indent="-406400" lvl="1" marL="914400" rtl="0" algn="l">
              <a:spcBef>
                <a:spcPts val="0"/>
              </a:spcBef>
              <a:spcAft>
                <a:spcPts val="0"/>
              </a:spcAft>
              <a:buSzPts val="2800"/>
              <a:buChar char="-"/>
            </a:pPr>
            <a:r>
              <a:rPr lang="en-US"/>
              <a:t>La complejidad de los árboles es exponencial (2^d): 2 vs. 512</a:t>
            </a:r>
            <a:endParaRPr/>
          </a:p>
          <a:p>
            <a:pPr indent="-406400" lvl="1" marL="914400" rtl="0" algn="l">
              <a:spcBef>
                <a:spcPts val="0"/>
              </a:spcBef>
              <a:spcAft>
                <a:spcPts val="0"/>
              </a:spcAft>
              <a:buSzPts val="2800"/>
              <a:buChar char="-"/>
            </a:pPr>
            <a:r>
              <a:rPr lang="en-US"/>
              <a:t>Optimización de trayectorias más lenta: 0.0093 vs. 0.015 de mortalidad</a:t>
            </a:r>
            <a:endParaRPr/>
          </a:p>
          <a:p>
            <a:pPr indent="-381000" lvl="2" marL="1371600" rtl="0" algn="l">
              <a:spcBef>
                <a:spcPts val="0"/>
              </a:spcBef>
              <a:spcAft>
                <a:spcPts val="0"/>
              </a:spcAft>
              <a:buSzPts val="2400"/>
              <a:buChar char="-"/>
            </a:pPr>
            <a:r>
              <a:rPr lang="en-US"/>
              <a:t>Early stopping demora más (i.e., 700 vs. 1200-1500 rondas)</a:t>
            </a:r>
            <a:endParaRPr/>
          </a:p>
          <a:p>
            <a:pPr indent="-406400" lvl="1" marL="914400" rtl="0" algn="l">
              <a:spcBef>
                <a:spcPts val="0"/>
              </a:spcBef>
              <a:spcAft>
                <a:spcPts val="0"/>
              </a:spcAft>
              <a:buSzPts val="2800"/>
              <a:buChar char="-"/>
            </a:pPr>
            <a:r>
              <a:t/>
            </a:r>
            <a:endParaRPr/>
          </a:p>
        </p:txBody>
      </p:sp>
      <p:sp>
        <p:nvSpPr>
          <p:cNvPr id="509" name="Google Shape;509;g39438bb775a_0_0"/>
          <p:cNvSpPr txBox="1"/>
          <p:nvPr>
            <p:ph idx="2" type="body"/>
          </p:nvPr>
        </p:nvSpPr>
        <p:spPr>
          <a:xfrm>
            <a:off x="839788" y="2057400"/>
            <a:ext cx="3932100" cy="3811500"/>
          </a:xfrm>
          <a:prstGeom prst="rect">
            <a:avLst/>
          </a:prstGeom>
        </p:spPr>
        <p:txBody>
          <a:bodyPr anchorCtr="0" anchor="t" bIns="45700" lIns="91425" spcFirstLastPara="1" rIns="91425" wrap="square" tIns="45700">
            <a:normAutofit/>
          </a:bodyPr>
          <a:lstStyle/>
          <a:p>
            <a:pPr indent="-330200" lvl="0" marL="457200" rtl="0" algn="l">
              <a:spcBef>
                <a:spcPts val="1000"/>
              </a:spcBef>
              <a:spcAft>
                <a:spcPts val="0"/>
              </a:spcAft>
              <a:buSzPts val="1600"/>
              <a:buChar char="-"/>
            </a:pPr>
            <a:r>
              <a:rPr lang="en-US"/>
              <a:t>5CV , primero espacio amplio de búsqueda de hiperparámetros, luego restringido.</a:t>
            </a:r>
            <a:endParaRPr/>
          </a:p>
          <a:p>
            <a:pPr indent="-330200" lvl="0" marL="457200" rtl="0" algn="l">
              <a:spcBef>
                <a:spcPts val="0"/>
              </a:spcBef>
              <a:spcAft>
                <a:spcPts val="0"/>
              </a:spcAft>
              <a:buSzPts val="1600"/>
              <a:buChar char="-"/>
            </a:pPr>
            <a:r>
              <a:rPr lang="en-US"/>
              <a:t>Sólo sobre la primera imputación</a:t>
            </a:r>
            <a:endParaRPr/>
          </a:p>
          <a:p>
            <a:pPr indent="-330200" lvl="0" marL="457200" rtl="0" algn="l">
              <a:spcBef>
                <a:spcPts val="0"/>
              </a:spcBef>
              <a:spcAft>
                <a:spcPts val="0"/>
              </a:spcAft>
              <a:buSzPts val="1600"/>
              <a:buChar char="-"/>
            </a:pPr>
            <a:r>
              <a:rPr lang="en-US"/>
              <a:t>La estratificación considera tipo de plan, pero no asegura equilibrio explícito por evento</a:t>
            </a:r>
            <a:endParaRPr/>
          </a:p>
          <a:p>
            <a:pPr indent="-330200" lvl="0" marL="457200" rtl="0" algn="l">
              <a:spcBef>
                <a:spcPts val="0"/>
              </a:spcBef>
              <a:spcAft>
                <a:spcPts val="0"/>
              </a:spcAft>
              <a:buSzPts val="1600"/>
              <a:buChar char="-"/>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DEEP HIT (Modelo CR, neural net, discretized follow-up times n=100)</a:t>
            </a:r>
            <a:endParaRPr/>
          </a:p>
        </p:txBody>
      </p:sp>
      <p:sp>
        <p:nvSpPr>
          <p:cNvPr id="516" name="Google Shape;516;p29"/>
          <p:cNvSpPr txBox="1"/>
          <p:nvPr>
            <p:ph idx="1" type="body"/>
          </p:nvPr>
        </p:nvSpPr>
        <p:spPr>
          <a:xfrm>
            <a:off x="5696850" y="1293575"/>
            <a:ext cx="6172200" cy="36369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None/>
            </a:pPr>
            <a:r>
              <a:rPr lang="en-US" sz="2520" u="sng">
                <a:solidFill>
                  <a:schemeClr val="hlink"/>
                </a:solidFill>
                <a:hlinkClick r:id="rId3"/>
              </a:rPr>
              <a:t>https://fondecytacc.github.io/cons2025/DeepHit_jan26.html</a:t>
            </a:r>
            <a:endParaRPr sz="2520"/>
          </a:p>
          <a:p>
            <a:pPr indent="0" lvl="0" marL="0" rtl="0" algn="l">
              <a:lnSpc>
                <a:spcPct val="100000"/>
              </a:lnSpc>
              <a:spcBef>
                <a:spcPts val="0"/>
              </a:spcBef>
              <a:spcAft>
                <a:spcPts val="0"/>
              </a:spcAft>
              <a:buNone/>
            </a:pPr>
            <a:r>
              <a:t/>
            </a:r>
            <a:endParaRPr sz="2520"/>
          </a:p>
          <a:p>
            <a:pPr indent="0" lvl="0" marL="0" rtl="0" algn="l">
              <a:lnSpc>
                <a:spcPct val="100000"/>
              </a:lnSpc>
              <a:spcBef>
                <a:spcPts val="0"/>
              </a:spcBef>
              <a:spcAft>
                <a:spcPts val="0"/>
              </a:spcAft>
              <a:buNone/>
            </a:pPr>
            <a:r>
              <a:rPr b="1" lang="en-US" sz="2520"/>
              <a:t>Segundo intento (más robusto)</a:t>
            </a:r>
            <a:r>
              <a:rPr lang="en-US" sz="2520"/>
              <a:t>:</a:t>
            </a:r>
            <a:endParaRPr sz="2520"/>
          </a:p>
          <a:p>
            <a:pPr indent="-340614" lvl="0" marL="457200" rtl="0" algn="l">
              <a:lnSpc>
                <a:spcPct val="100000"/>
              </a:lnSpc>
              <a:spcBef>
                <a:spcPts val="0"/>
              </a:spcBef>
              <a:spcAft>
                <a:spcPts val="0"/>
              </a:spcAft>
              <a:buSzPct val="100000"/>
              <a:buChar char="●"/>
            </a:pPr>
            <a:r>
              <a:rPr lang="en-US" sz="2520"/>
              <a:t>Maneja muerte y readmisión como competidores (10=k-CV x 5=M)</a:t>
            </a:r>
            <a:endParaRPr sz="2520"/>
          </a:p>
          <a:p>
            <a:pPr indent="-340614" lvl="0" marL="457200" rtl="0" algn="l">
              <a:lnSpc>
                <a:spcPct val="100000"/>
              </a:lnSpc>
              <a:spcBef>
                <a:spcPts val="0"/>
              </a:spcBef>
              <a:spcAft>
                <a:spcPts val="0"/>
              </a:spcAft>
              <a:buSzPct val="100000"/>
              <a:buChar char="●"/>
            </a:pPr>
            <a:r>
              <a:rPr lang="en-US" sz="2520"/>
              <a:t>Probs. Aalen-Johansen (para manejar censura competitiva)</a:t>
            </a:r>
            <a:endParaRPr sz="2520"/>
          </a:p>
          <a:p>
            <a:pPr indent="-340614" lvl="0" marL="457200" rtl="0" algn="l">
              <a:lnSpc>
                <a:spcPct val="100000"/>
              </a:lnSpc>
              <a:spcBef>
                <a:spcPts val="0"/>
              </a:spcBef>
              <a:spcAft>
                <a:spcPts val="0"/>
              </a:spcAft>
              <a:buSzPct val="100000"/>
              <a:buChar char="●"/>
            </a:pPr>
            <a:r>
              <a:rPr lang="en-US" sz="2520"/>
              <a:t>Intervalos en base a percentiles 2.5 y 97.5 de la distribución empírica</a:t>
            </a:r>
            <a:endParaRPr sz="2520"/>
          </a:p>
          <a:p>
            <a:pPr indent="-340614" lvl="0" marL="457200" rtl="0" algn="l">
              <a:lnSpc>
                <a:spcPct val="100000"/>
              </a:lnSpc>
              <a:spcBef>
                <a:spcPts val="0"/>
              </a:spcBef>
              <a:spcAft>
                <a:spcPts val="0"/>
              </a:spcAft>
              <a:buSzPct val="100000"/>
              <a:buChar char="●"/>
            </a:pPr>
            <a:r>
              <a:rPr lang="en-US" sz="2520"/>
              <a:t>SHAP en múltiples intervalos de tiempo de seguimiento (hasta 6 años)</a:t>
            </a:r>
            <a:endParaRPr sz="2520"/>
          </a:p>
          <a:p>
            <a:pPr indent="-147701" lvl="1" marL="685800" rtl="0" algn="l">
              <a:lnSpc>
                <a:spcPct val="100000"/>
              </a:lnSpc>
              <a:spcBef>
                <a:spcPts val="0"/>
              </a:spcBef>
              <a:spcAft>
                <a:spcPts val="0"/>
              </a:spcAft>
              <a:buSzPct val="100000"/>
              <a:buChar char="○"/>
            </a:pPr>
            <a:r>
              <a:rPr lang="en-US" sz="2180"/>
              <a:t>No hay Deep SHAP para tiempo al evento. Utilizamos Kernel SHAP (toma muestras aleatorias, no del todo representativas).</a:t>
            </a:r>
            <a:endParaRPr sz="2180"/>
          </a:p>
          <a:p>
            <a:pPr indent="-147701" lvl="1" marL="685800" rtl="0" algn="l">
              <a:lnSpc>
                <a:spcPct val="100000"/>
              </a:lnSpc>
              <a:spcBef>
                <a:spcPts val="0"/>
              </a:spcBef>
              <a:spcAft>
                <a:spcPts val="0"/>
              </a:spcAft>
              <a:buSzPct val="100000"/>
              <a:buChar char="○"/>
            </a:pPr>
            <a:r>
              <a:rPr lang="en-US" sz="2180"/>
              <a:t>Validación cruzada por cada Mxk, concatenamos, generando un aprendizaje promedio y suavizando ruido por Mk’s</a:t>
            </a:r>
            <a:endParaRPr sz="2180"/>
          </a:p>
        </p:txBody>
      </p:sp>
      <p:sp>
        <p:nvSpPr>
          <p:cNvPr id="517" name="Google Shape;517;p29"/>
          <p:cNvSpPr txBox="1"/>
          <p:nvPr>
            <p:ph idx="2" type="body"/>
          </p:nvPr>
        </p:nvSpPr>
        <p:spPr>
          <a:xfrm>
            <a:off x="313975" y="2057400"/>
            <a:ext cx="4983900" cy="4718400"/>
          </a:xfrm>
          <a:prstGeom prst="rect">
            <a:avLst/>
          </a:prstGeom>
          <a:noFill/>
          <a:ln>
            <a:noFill/>
          </a:ln>
        </p:spPr>
        <p:txBody>
          <a:bodyPr anchorCtr="0" anchor="t" bIns="45700" lIns="91425" spcFirstLastPara="1" rIns="91425" wrap="square" tIns="45700">
            <a:normAutofit lnSpcReduction="10000"/>
          </a:bodyPr>
          <a:lstStyle/>
          <a:p>
            <a:pPr indent="-228600" lvl="0" marL="457200" rtl="0" algn="l">
              <a:spcBef>
                <a:spcPts val="1200"/>
              </a:spcBef>
              <a:spcAft>
                <a:spcPts val="0"/>
              </a:spcAft>
              <a:buNone/>
            </a:pPr>
            <a:r>
              <a:rPr lang="en-US" sz="1400"/>
              <a:t>Red neuronal de supervivencia en tiempo discreto sin supuestos de riesgos proporcionales (Multilayer perceptrons - Oliver, Allou, Devineau et al., 2024).</a:t>
            </a:r>
            <a:endParaRPr sz="1400"/>
          </a:p>
          <a:p>
            <a:pPr indent="-228600" lvl="0" marL="457200" rtl="0" algn="l">
              <a:spcBef>
                <a:spcPts val="1200"/>
              </a:spcBef>
              <a:spcAft>
                <a:spcPts val="0"/>
              </a:spcAft>
              <a:buNone/>
            </a:pPr>
            <a:r>
              <a:rPr lang="en-US" sz="1400"/>
              <a:t>Características:</a:t>
            </a:r>
            <a:endParaRPr sz="1400"/>
          </a:p>
          <a:p>
            <a:pPr indent="-317500" lvl="0" marL="457200" rtl="0" algn="l">
              <a:spcBef>
                <a:spcPts val="1200"/>
              </a:spcBef>
              <a:spcAft>
                <a:spcPts val="0"/>
              </a:spcAft>
              <a:buSzPts val="1400"/>
              <a:buChar char="●"/>
            </a:pPr>
            <a:r>
              <a:rPr lang="en-US" sz="1400"/>
              <a:t>Estimación flexible y no paramétrica de probabilidades.</a:t>
            </a:r>
            <a:endParaRPr sz="1400"/>
          </a:p>
          <a:p>
            <a:pPr indent="-317500" lvl="0" marL="457200" rtl="0" algn="l">
              <a:spcBef>
                <a:spcPts val="0"/>
              </a:spcBef>
              <a:spcAft>
                <a:spcPts val="0"/>
              </a:spcAft>
              <a:buSzPts val="1400"/>
              <a:buChar char="●"/>
            </a:pPr>
            <a:r>
              <a:rPr lang="en-US" sz="1400"/>
              <a:t>Modela variables tiempo-dependientes y asociaciones no-lineales.</a:t>
            </a:r>
            <a:endParaRPr sz="1400"/>
          </a:p>
          <a:p>
            <a:pPr indent="0" lvl="0" marL="0" rtl="0" algn="l">
              <a:spcBef>
                <a:spcPts val="1200"/>
              </a:spcBef>
              <a:spcAft>
                <a:spcPts val="0"/>
              </a:spcAft>
              <a:buNone/>
            </a:pPr>
            <a:r>
              <a:rPr lang="en-US" sz="1400"/>
              <a:t>Ajuste de hiperparámetros (CV 5-fold, 100 intervalos [~1 mes], discriminación a 5 años):</a:t>
            </a:r>
            <a:endParaRPr sz="1400"/>
          </a:p>
          <a:p>
            <a:pPr indent="-317500" lvl="0" marL="457200" rtl="0" algn="l">
              <a:spcBef>
                <a:spcPts val="1200"/>
              </a:spcBef>
              <a:spcAft>
                <a:spcPts val="0"/>
              </a:spcAft>
              <a:buSzPts val="1400"/>
              <a:buChar char="●"/>
            </a:pPr>
            <a:r>
              <a:rPr b="1" lang="en-US" sz="1400"/>
              <a:t>Dropout 0.5</a:t>
            </a:r>
            <a:r>
              <a:rPr lang="en-US" sz="1400"/>
              <a:t>: prioriza predictores robustos.</a:t>
            </a:r>
            <a:endParaRPr sz="1400"/>
          </a:p>
          <a:p>
            <a:pPr indent="-317500" lvl="0" marL="457200" rtl="0" algn="l">
              <a:spcBef>
                <a:spcPts val="0"/>
              </a:spcBef>
              <a:spcAft>
                <a:spcPts val="0"/>
              </a:spcAft>
              <a:buSzPts val="1400"/>
              <a:buChar char="●"/>
            </a:pPr>
            <a:r>
              <a:rPr b="1" lang="en-US" sz="1400"/>
              <a:t>Capas [256, 256, 128]</a:t>
            </a:r>
            <a:r>
              <a:rPr lang="en-US" sz="1400"/>
              <a:t>: para capturar no-linealidad e interacciones.</a:t>
            </a:r>
            <a:endParaRPr sz="1400"/>
          </a:p>
          <a:p>
            <a:pPr indent="-317500" lvl="0" marL="457200" rtl="0" algn="l">
              <a:spcBef>
                <a:spcPts val="0"/>
              </a:spcBef>
              <a:spcAft>
                <a:spcPts val="0"/>
              </a:spcAft>
              <a:buSzPts val="1400"/>
              <a:buChar char="●"/>
            </a:pPr>
            <a:r>
              <a:rPr b="1" lang="en-US" sz="1400"/>
              <a:t>Alpha=.5 &amp; Sigma=.5</a:t>
            </a:r>
            <a:r>
              <a:rPr lang="en-US" sz="1400"/>
              <a:t>: igual importancia al </a:t>
            </a:r>
            <a:r>
              <a:rPr i="1" lang="en-US" sz="1400"/>
              <a:t>ranking</a:t>
            </a:r>
            <a:r>
              <a:rPr lang="en-US" sz="1400"/>
              <a:t> y al tiempo al evento.</a:t>
            </a:r>
            <a:endParaRPr sz="1400"/>
          </a:p>
          <a:p>
            <a:pPr indent="-317500" lvl="0" marL="457200" rtl="0" algn="l">
              <a:spcBef>
                <a:spcPts val="0"/>
              </a:spcBef>
              <a:spcAft>
                <a:spcPts val="0"/>
              </a:spcAft>
              <a:buSzPts val="1400"/>
              <a:buChar char="●"/>
            </a:pPr>
            <a:r>
              <a:rPr b="1" lang="en-US" sz="1400"/>
              <a:t>Batch 1024</a:t>
            </a:r>
            <a:r>
              <a:rPr lang="en-US" sz="1400"/>
              <a:t>: necesario para capturar eventos infrecuentes.</a:t>
            </a:r>
            <a:endParaRPr sz="1400"/>
          </a:p>
          <a:p>
            <a:pPr indent="0" lvl="0" marL="0" rtl="0" algn="l">
              <a:spcBef>
                <a:spcPts val="1200"/>
              </a:spcBef>
              <a:spcAft>
                <a:spcPts val="0"/>
              </a:spcAft>
              <a:buNone/>
            </a:pPr>
            <a:r>
              <a:rPr b="1" lang="en-US" sz="1400"/>
              <a:t>OJO</a:t>
            </a:r>
            <a:r>
              <a:rPr lang="en-US" sz="1400"/>
              <a:t>= Puede que estos hiperparámetros no sirvan a readmisión.</a:t>
            </a:r>
            <a:endParaRPr sz="1400"/>
          </a:p>
          <a:p>
            <a:pPr indent="0" lvl="0" marL="0" rtl="0" algn="l">
              <a:spcBef>
                <a:spcPts val="1200"/>
              </a:spcBef>
              <a:spcAft>
                <a:spcPts val="1200"/>
              </a:spcAft>
              <a:buNone/>
            </a:pPr>
            <a:r>
              <a:rPr lang="en-US" sz="1400"/>
              <a:t>https://fondecytacc.github.io/cons2025/DeepHit_jan26.html</a:t>
            </a:r>
            <a:endParaRPr sz="1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c8a4bf19fb_0_150"/>
          <p:cNvSpPr txBox="1"/>
          <p:nvPr>
            <p:ph type="title"/>
          </p:nvPr>
        </p:nvSpPr>
        <p:spPr>
          <a:xfrm>
            <a:off x="367725" y="457200"/>
            <a:ext cx="3932100" cy="1221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DEEP HIT (Desempeño)</a:t>
            </a:r>
            <a:endParaRPr/>
          </a:p>
        </p:txBody>
      </p:sp>
      <p:sp>
        <p:nvSpPr>
          <p:cNvPr id="524" name="Google Shape;524;g3c8a4bf19fb_0_150"/>
          <p:cNvSpPr txBox="1"/>
          <p:nvPr>
            <p:ph idx="2" type="body"/>
          </p:nvPr>
        </p:nvSpPr>
        <p:spPr>
          <a:xfrm>
            <a:off x="367725" y="2057400"/>
            <a:ext cx="3932100" cy="4495800"/>
          </a:xfrm>
          <a:prstGeom prst="rect">
            <a:avLst/>
          </a:prstGeom>
        </p:spPr>
        <p:txBody>
          <a:bodyPr anchorCtr="0" anchor="t" bIns="45700" lIns="91425" spcFirstLastPara="1" rIns="91425" wrap="square" tIns="45700">
            <a:normAutofit/>
          </a:bodyPr>
          <a:lstStyle/>
          <a:p>
            <a:pPr indent="-330200" lvl="0" marL="457200" rtl="0" algn="l">
              <a:spcBef>
                <a:spcPts val="1000"/>
              </a:spcBef>
              <a:spcAft>
                <a:spcPts val="0"/>
              </a:spcAft>
              <a:buSzPts val="1600"/>
              <a:buChar char="-"/>
            </a:pPr>
            <a:r>
              <a:rPr b="1" lang="en-US"/>
              <a:t>Mortalidad</a:t>
            </a:r>
            <a:r>
              <a:rPr lang="en-US"/>
              <a:t>= A los 3 meses (</a:t>
            </a:r>
            <a:r>
              <a:rPr lang="en-US"/>
              <a:t>~</a:t>
            </a:r>
            <a:r>
              <a:rPr lang="en-US"/>
              <a:t>0.8) y 12 meses (~.73), alta capacidad de ranking, mucha especificidad+NPV. Después de los 5 años, percibe riesgo, y dispara la sensibilidad (congruente= hyp tun hasta 5 años).</a:t>
            </a:r>
            <a:endParaRPr/>
          </a:p>
          <a:p>
            <a:pPr indent="-317500" lvl="1" marL="914400" rtl="0" algn="l">
              <a:spcBef>
                <a:spcPts val="0"/>
              </a:spcBef>
              <a:spcAft>
                <a:spcPts val="0"/>
              </a:spcAft>
              <a:buSzPts val="1400"/>
              <a:buChar char="-"/>
            </a:pPr>
            <a:r>
              <a:rPr lang="en-US"/>
              <a:t>Subestima riesgo [sesgo conservador] </a:t>
            </a:r>
            <a:r>
              <a:rPr lang="en-US"/>
              <a:t>(BS plot). Utilizar sólo para ordenar riesgo.</a:t>
            </a:r>
            <a:endParaRPr/>
          </a:p>
          <a:p>
            <a:pPr indent="-330200" lvl="0" marL="457200" rtl="0" algn="l">
              <a:spcBef>
                <a:spcPts val="0"/>
              </a:spcBef>
              <a:spcAft>
                <a:spcPts val="0"/>
              </a:spcAft>
              <a:buSzPts val="1600"/>
              <a:buChar char="-"/>
            </a:pPr>
            <a:r>
              <a:rPr b="1" lang="en-US"/>
              <a:t>Readmisión</a:t>
            </a:r>
            <a:r>
              <a:rPr lang="en-US"/>
              <a:t>= Más sensible (PPV), pero + error (baja NPV), &gt;5 años, mucho error. A los 3 meses (~.73), 12m (.58-.60)</a:t>
            </a:r>
            <a:endParaRPr/>
          </a:p>
          <a:p>
            <a:pPr indent="-317500" lvl="1" marL="914400" rtl="0" algn="l">
              <a:spcBef>
                <a:spcPts val="0"/>
              </a:spcBef>
              <a:spcAft>
                <a:spcPts val="0"/>
              </a:spcAft>
              <a:buSzPts val="1400"/>
              <a:buChar char="-"/>
            </a:pPr>
            <a:r>
              <a:rPr lang="en-US"/>
              <a:t>Predicción medianamente realista (BS~.26), sobreestima levemente el riesgo [alarmista] (BS plot)</a:t>
            </a:r>
            <a:endParaRPr/>
          </a:p>
          <a:p>
            <a:pPr indent="-330200" lvl="0" marL="457200" rtl="0" algn="l">
              <a:spcBef>
                <a:spcPts val="0"/>
              </a:spcBef>
              <a:spcAft>
                <a:spcPts val="0"/>
              </a:spcAft>
              <a:buSzPts val="1600"/>
              <a:buChar char="-"/>
            </a:pPr>
            <a:r>
              <a:rPr b="1" lang="en-US"/>
              <a:t>En ambos</a:t>
            </a:r>
            <a:r>
              <a:rPr lang="en-US"/>
              <a:t>= Primeros 5 años, alta especificidad, baja sensibilidad</a:t>
            </a:r>
            <a:endParaRPr/>
          </a:p>
        </p:txBody>
      </p:sp>
      <p:pic>
        <p:nvPicPr>
          <p:cNvPr id="525" name="Google Shape;525;g3c8a4bf19fb_0_150"/>
          <p:cNvPicPr preferRelativeResize="0"/>
          <p:nvPr/>
        </p:nvPicPr>
        <p:blipFill>
          <a:blip r:embed="rId3">
            <a:alphaModFix/>
          </a:blip>
          <a:stretch>
            <a:fillRect/>
          </a:stretch>
        </p:blipFill>
        <p:spPr>
          <a:xfrm>
            <a:off x="4452222" y="92600"/>
            <a:ext cx="5172576" cy="3960850"/>
          </a:xfrm>
          <a:prstGeom prst="rect">
            <a:avLst/>
          </a:prstGeom>
          <a:noFill/>
          <a:ln>
            <a:noFill/>
          </a:ln>
        </p:spPr>
      </p:pic>
      <p:pic>
        <p:nvPicPr>
          <p:cNvPr id="526" name="Google Shape;526;g3c8a4bf19fb_0_150"/>
          <p:cNvPicPr preferRelativeResize="0"/>
          <p:nvPr/>
        </p:nvPicPr>
        <p:blipFill>
          <a:blip r:embed="rId4">
            <a:alphaModFix/>
          </a:blip>
          <a:stretch>
            <a:fillRect/>
          </a:stretch>
        </p:blipFill>
        <p:spPr>
          <a:xfrm>
            <a:off x="9408875" y="4053450"/>
            <a:ext cx="2536136" cy="2499749"/>
          </a:xfrm>
          <a:prstGeom prst="rect">
            <a:avLst/>
          </a:prstGeom>
          <a:noFill/>
          <a:ln>
            <a:noFill/>
          </a:ln>
        </p:spPr>
      </p:pic>
      <p:pic>
        <p:nvPicPr>
          <p:cNvPr id="527" name="Google Shape;527;g3c8a4bf19fb_0_150"/>
          <p:cNvPicPr preferRelativeResize="0"/>
          <p:nvPr/>
        </p:nvPicPr>
        <p:blipFill>
          <a:blip r:embed="rId5">
            <a:alphaModFix/>
          </a:blip>
          <a:stretch>
            <a:fillRect/>
          </a:stretch>
        </p:blipFill>
        <p:spPr>
          <a:xfrm>
            <a:off x="5752250" y="4053450"/>
            <a:ext cx="2572522" cy="24997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c8a4bf19fb_0_170"/>
          <p:cNvSpPr txBox="1"/>
          <p:nvPr>
            <p:ph type="title"/>
          </p:nvPr>
        </p:nvSpPr>
        <p:spPr>
          <a:xfrm>
            <a:off x="367725" y="457200"/>
            <a:ext cx="3932100" cy="1221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DEEP HIT (Predictores)</a:t>
            </a:r>
            <a:endParaRPr/>
          </a:p>
        </p:txBody>
      </p:sp>
      <p:sp>
        <p:nvSpPr>
          <p:cNvPr id="534" name="Google Shape;534;g3c8a4bf19fb_0_170"/>
          <p:cNvSpPr txBox="1"/>
          <p:nvPr>
            <p:ph idx="2" type="body"/>
          </p:nvPr>
        </p:nvSpPr>
        <p:spPr>
          <a:xfrm>
            <a:off x="41800" y="1792575"/>
            <a:ext cx="4068000" cy="49470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b="1" lang="en-US"/>
              <a:t>MORTALIDAD</a:t>
            </a:r>
            <a:endParaRPr b="1"/>
          </a:p>
          <a:p>
            <a:pPr indent="-330200" lvl="0" marL="457200" rtl="0" algn="l">
              <a:spcBef>
                <a:spcPts val="1000"/>
              </a:spcBef>
              <a:spcAft>
                <a:spcPts val="0"/>
              </a:spcAft>
              <a:buSzPts val="1600"/>
              <a:buChar char="-"/>
            </a:pPr>
            <a:r>
              <a:rPr lang="en-US"/>
              <a:t>Valores altos/presencia, aumenta riesgo</a:t>
            </a:r>
            <a:endParaRPr/>
          </a:p>
          <a:p>
            <a:pPr indent="-317500" lvl="1" marL="914400" rtl="0" algn="l">
              <a:spcBef>
                <a:spcPts val="0"/>
              </a:spcBef>
              <a:spcAft>
                <a:spcPts val="0"/>
              </a:spcAft>
              <a:buSzPts val="1400"/>
              <a:buChar char="-"/>
            </a:pPr>
            <a:r>
              <a:rPr lang="en-US"/>
              <a:t>+Días en tratamiento (aumenta con el tiempo)</a:t>
            </a:r>
            <a:endParaRPr/>
          </a:p>
          <a:p>
            <a:pPr indent="-317500" lvl="1" marL="914400" rtl="0" algn="l">
              <a:spcBef>
                <a:spcPts val="0"/>
              </a:spcBef>
              <a:spcAft>
                <a:spcPts val="0"/>
              </a:spcAft>
              <a:buSzPts val="1400"/>
              <a:buChar char="-"/>
            </a:pPr>
            <a:r>
              <a:rPr lang="en-US"/>
              <a:t>Etnia</a:t>
            </a:r>
            <a:endParaRPr/>
          </a:p>
          <a:p>
            <a:pPr indent="-317500" lvl="1" marL="914400" rtl="0" algn="l">
              <a:spcBef>
                <a:spcPts val="0"/>
              </a:spcBef>
              <a:spcAft>
                <a:spcPts val="0"/>
              </a:spcAft>
              <a:buSzPts val="1400"/>
              <a:buChar char="-"/>
            </a:pPr>
            <a:r>
              <a:rPr lang="en-US"/>
              <a:t>Edad al ingreso (aumenta con el tiempo)</a:t>
            </a:r>
            <a:endParaRPr/>
          </a:p>
          <a:p>
            <a:pPr indent="-317500" lvl="1" marL="914400" rtl="0" algn="l">
              <a:spcBef>
                <a:spcPts val="0"/>
              </a:spcBef>
              <a:spcAft>
                <a:spcPts val="0"/>
              </a:spcAft>
              <a:buSzPts val="1400"/>
              <a:buChar char="-"/>
            </a:pPr>
            <a:r>
              <a:rPr lang="en-US"/>
              <a:t>Plan residencial mujeres</a:t>
            </a:r>
            <a:endParaRPr/>
          </a:p>
          <a:p>
            <a:pPr indent="-317500" lvl="1" marL="914400" rtl="0" algn="l">
              <a:spcBef>
                <a:spcPts val="0"/>
              </a:spcBef>
              <a:spcAft>
                <a:spcPts val="0"/>
              </a:spcAft>
              <a:buSzPts val="1400"/>
              <a:buChar char="-"/>
            </a:pPr>
            <a:r>
              <a:rPr lang="en-US"/>
              <a:t>Plan residencial población general</a:t>
            </a:r>
            <a:endParaRPr/>
          </a:p>
          <a:p>
            <a:pPr indent="-317500" lvl="1" marL="914400" rtl="0" algn="l">
              <a:spcBef>
                <a:spcPts val="0"/>
              </a:spcBef>
              <a:spcAft>
                <a:spcPts val="0"/>
              </a:spcAft>
              <a:buSzPts val="1400"/>
              <a:buChar char="-"/>
            </a:pPr>
            <a:r>
              <a:rPr lang="en-US"/>
              <a:t>Desempleo</a:t>
            </a:r>
            <a:endParaRPr/>
          </a:p>
          <a:p>
            <a:pPr indent="-317500" lvl="1" marL="914400" rtl="0" algn="l">
              <a:spcBef>
                <a:spcPts val="0"/>
              </a:spcBef>
              <a:spcAft>
                <a:spcPts val="0"/>
              </a:spcAft>
              <a:buSzPts val="1400"/>
              <a:buChar char="-"/>
            </a:pPr>
            <a:r>
              <a:rPr lang="en-US"/>
              <a:t>3-6 meses, sólo en ese período:</a:t>
            </a:r>
            <a:endParaRPr/>
          </a:p>
          <a:p>
            <a:pPr indent="-304800" lvl="2" marL="1371600" rtl="0" algn="l">
              <a:spcBef>
                <a:spcPts val="0"/>
              </a:spcBef>
              <a:spcAft>
                <a:spcPts val="0"/>
              </a:spcAft>
              <a:buSzPts val="1200"/>
              <a:buChar char="-"/>
            </a:pPr>
            <a:r>
              <a:rPr lang="en-US"/>
              <a:t>Ev. SM al egreso</a:t>
            </a:r>
            <a:endParaRPr/>
          </a:p>
          <a:p>
            <a:pPr indent="-304800" lvl="2" marL="1371600" rtl="0" algn="l">
              <a:spcBef>
                <a:spcPts val="0"/>
              </a:spcBef>
              <a:spcAft>
                <a:spcPts val="0"/>
              </a:spcAft>
              <a:buSzPts val="1200"/>
              <a:buChar char="-"/>
            </a:pPr>
            <a:r>
              <a:rPr lang="en-US"/>
              <a:t>Trastornos de Personalidad y Violencia/Abuso</a:t>
            </a:r>
            <a:endParaRPr/>
          </a:p>
          <a:p>
            <a:pPr indent="-304800" lvl="2" marL="1371600" rtl="0" algn="l">
              <a:spcBef>
                <a:spcPts val="0"/>
              </a:spcBef>
              <a:spcAft>
                <a:spcPts val="0"/>
              </a:spcAft>
              <a:buSzPts val="1200"/>
              <a:buChar char="-"/>
            </a:pPr>
            <a:r>
              <a:rPr lang="en-US"/>
              <a:t>Egreso por infracción de normas </a:t>
            </a:r>
            <a:endParaRPr/>
          </a:p>
          <a:p>
            <a:pPr indent="-317500" lvl="1" marL="914400" rtl="0" algn="l">
              <a:spcBef>
                <a:spcPts val="0"/>
              </a:spcBef>
              <a:spcAft>
                <a:spcPts val="0"/>
              </a:spcAft>
              <a:buSzPts val="1400"/>
              <a:buChar char="-"/>
            </a:pPr>
            <a:r>
              <a:rPr lang="en-US"/>
              <a:t>2-3 años: </a:t>
            </a:r>
            <a:endParaRPr/>
          </a:p>
          <a:p>
            <a:pPr indent="-304800" lvl="2" marL="1371600" rtl="0" algn="l">
              <a:spcBef>
                <a:spcPts val="0"/>
              </a:spcBef>
              <a:spcAft>
                <a:spcPts val="0"/>
              </a:spcAft>
              <a:buSzPts val="1200"/>
              <a:buChar char="-"/>
            </a:pPr>
            <a:r>
              <a:rPr lang="en-US"/>
              <a:t>Dg. físico</a:t>
            </a:r>
            <a:endParaRPr/>
          </a:p>
          <a:p>
            <a:pPr indent="-304800" lvl="2" marL="1371600" rtl="0" algn="l">
              <a:spcBef>
                <a:spcPts val="0"/>
              </a:spcBef>
              <a:spcAft>
                <a:spcPts val="0"/>
              </a:spcAft>
              <a:buSzPts val="1200"/>
              <a:buChar char="-"/>
            </a:pPr>
            <a:r>
              <a:rPr lang="en-US"/>
              <a:t>Ev. rel. interpersonales</a:t>
            </a:r>
            <a:endParaRPr/>
          </a:p>
          <a:p>
            <a:pPr indent="-304800" lvl="2" marL="1371600" rtl="0" algn="l">
              <a:spcBef>
                <a:spcPts val="0"/>
              </a:spcBef>
              <a:spcAft>
                <a:spcPts val="0"/>
              </a:spcAft>
              <a:buSzPts val="1200"/>
              <a:buChar char="-"/>
            </a:pPr>
            <a:r>
              <a:rPr lang="en-US"/>
              <a:t>Frecuencia consumo</a:t>
            </a:r>
            <a:endParaRPr/>
          </a:p>
          <a:p>
            <a:pPr indent="-304800" lvl="2" marL="1371600" rtl="0" algn="l">
              <a:spcBef>
                <a:spcPts val="0"/>
              </a:spcBef>
              <a:spcAft>
                <a:spcPts val="0"/>
              </a:spcAft>
              <a:buSzPts val="1200"/>
              <a:buChar char="-"/>
            </a:pPr>
            <a:r>
              <a:rPr lang="en-US"/>
              <a:t>Ev. consumo al egreso</a:t>
            </a:r>
            <a:endParaRPr/>
          </a:p>
          <a:p>
            <a:pPr indent="-304800" lvl="2" marL="1371600" rtl="0" algn="l">
              <a:spcBef>
                <a:spcPts val="0"/>
              </a:spcBef>
              <a:spcAft>
                <a:spcPts val="0"/>
              </a:spcAft>
              <a:buSzPts val="1200"/>
              <a:buChar char="-"/>
            </a:pPr>
            <a:r>
              <a:rPr lang="en-US"/>
              <a:t>Dg. consumo CIE-10</a:t>
            </a:r>
            <a:endParaRPr/>
          </a:p>
          <a:p>
            <a:pPr indent="-304800" lvl="2" marL="1371600" rtl="0" algn="l">
              <a:spcBef>
                <a:spcPts val="0"/>
              </a:spcBef>
              <a:spcAft>
                <a:spcPts val="0"/>
              </a:spcAft>
              <a:buSzPts val="1200"/>
              <a:buChar char="-"/>
            </a:pPr>
            <a:r>
              <a:rPr lang="en-US"/>
              <a:t>Policonsumo</a:t>
            </a:r>
            <a:endParaRPr/>
          </a:p>
          <a:p>
            <a:pPr indent="-330200" lvl="0" marL="457200" rtl="0" algn="l">
              <a:spcBef>
                <a:spcPts val="0"/>
              </a:spcBef>
              <a:spcAft>
                <a:spcPts val="0"/>
              </a:spcAft>
              <a:buSzPts val="1600"/>
              <a:buChar char="-"/>
            </a:pPr>
            <a:r>
              <a:rPr lang="en-US"/>
              <a:t>Valores bajos/ausencia, disminuye R</a:t>
            </a:r>
            <a:endParaRPr/>
          </a:p>
          <a:p>
            <a:pPr indent="-317500" lvl="1" marL="914400" rtl="0" algn="l">
              <a:spcBef>
                <a:spcPts val="0"/>
              </a:spcBef>
              <a:spcAft>
                <a:spcPts val="0"/>
              </a:spcAft>
              <a:buSzPts val="1400"/>
              <a:buChar char="-"/>
            </a:pPr>
            <a:r>
              <a:rPr lang="en-US"/>
              <a:t>Niv. Educacional</a:t>
            </a:r>
            <a:endParaRPr/>
          </a:p>
          <a:p>
            <a:pPr indent="-317500" lvl="1" marL="914400" rtl="0" algn="l">
              <a:spcBef>
                <a:spcPts val="0"/>
              </a:spcBef>
              <a:spcAft>
                <a:spcPts val="0"/>
              </a:spcAft>
              <a:buSzPts val="1400"/>
              <a:buChar char="-"/>
            </a:pPr>
            <a:r>
              <a:rPr lang="en-US"/>
              <a:t>Sus. principal, Marihuana</a:t>
            </a:r>
            <a:endParaRPr/>
          </a:p>
          <a:p>
            <a:pPr indent="-317500" lvl="1" marL="914400" rtl="0" algn="l">
              <a:spcBef>
                <a:spcPts val="0"/>
              </a:spcBef>
              <a:spcAft>
                <a:spcPts val="0"/>
              </a:spcAft>
              <a:buSzPts val="1400"/>
              <a:buChar char="-"/>
            </a:pPr>
            <a:r>
              <a:rPr lang="en-US"/>
              <a:t>Origen ingreso, sector justicia</a:t>
            </a:r>
            <a:endParaRPr/>
          </a:p>
        </p:txBody>
      </p:sp>
      <p:pic>
        <p:nvPicPr>
          <p:cNvPr id="535" name="Google Shape;535;g3c8a4bf19fb_0_170" title="alluvial_death_DH64.png"/>
          <p:cNvPicPr preferRelativeResize="0"/>
          <p:nvPr/>
        </p:nvPicPr>
        <p:blipFill rotWithShape="1">
          <a:blip r:embed="rId3">
            <a:alphaModFix/>
          </a:blip>
          <a:srcRect b="0" l="0" r="6907" t="0"/>
          <a:stretch/>
        </p:blipFill>
        <p:spPr>
          <a:xfrm>
            <a:off x="3929375" y="1689454"/>
            <a:ext cx="8229427" cy="5050051"/>
          </a:xfrm>
          <a:prstGeom prst="rect">
            <a:avLst/>
          </a:prstGeom>
          <a:noFill/>
          <a:ln>
            <a:noFill/>
          </a:ln>
        </p:spPr>
      </p:pic>
      <p:sp>
        <p:nvSpPr>
          <p:cNvPr id="536" name="Google Shape;536;g3c8a4bf19fb_0_170"/>
          <p:cNvSpPr txBox="1"/>
          <p:nvPr/>
        </p:nvSpPr>
        <p:spPr>
          <a:xfrm>
            <a:off x="4776975" y="1289254"/>
            <a:ext cx="687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Evolución temporal de la importancia relativa de predictores de mortalidad</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3c8bb76bf58_0_3"/>
          <p:cNvSpPr txBox="1"/>
          <p:nvPr>
            <p:ph type="title"/>
          </p:nvPr>
        </p:nvSpPr>
        <p:spPr>
          <a:xfrm>
            <a:off x="367725" y="457200"/>
            <a:ext cx="3932100" cy="1221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DEEP HIT (Predictores)</a:t>
            </a:r>
            <a:endParaRPr/>
          </a:p>
        </p:txBody>
      </p:sp>
      <p:sp>
        <p:nvSpPr>
          <p:cNvPr id="543" name="Google Shape;543;g3c8bb76bf58_0_3"/>
          <p:cNvSpPr txBox="1"/>
          <p:nvPr>
            <p:ph idx="2" type="body"/>
          </p:nvPr>
        </p:nvSpPr>
        <p:spPr>
          <a:xfrm>
            <a:off x="0" y="1880850"/>
            <a:ext cx="3562500" cy="4849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READMISION</a:t>
            </a:r>
            <a:endParaRPr b="1"/>
          </a:p>
          <a:p>
            <a:pPr indent="-330200" lvl="0" marL="457200" rtl="0" algn="l">
              <a:spcBef>
                <a:spcPts val="1000"/>
              </a:spcBef>
              <a:spcAft>
                <a:spcPts val="0"/>
              </a:spcAft>
              <a:buSzPts val="1600"/>
              <a:buChar char="-"/>
            </a:pPr>
            <a:r>
              <a:rPr lang="en-US"/>
              <a:t>Valores altos, aumentan riesgo</a:t>
            </a:r>
            <a:endParaRPr/>
          </a:p>
          <a:p>
            <a:pPr indent="-317500" lvl="1" marL="914400" rtl="0" algn="l">
              <a:spcBef>
                <a:spcPts val="0"/>
              </a:spcBef>
              <a:spcAft>
                <a:spcPts val="0"/>
              </a:spcAft>
              <a:buSzPts val="1400"/>
              <a:buChar char="-"/>
            </a:pPr>
            <a:r>
              <a:rPr lang="en-US"/>
              <a:t>Días en tratamiento</a:t>
            </a:r>
            <a:endParaRPr/>
          </a:p>
          <a:p>
            <a:pPr indent="-317500" lvl="1" marL="914400" rtl="0" algn="l">
              <a:spcBef>
                <a:spcPts val="0"/>
              </a:spcBef>
              <a:spcAft>
                <a:spcPts val="0"/>
              </a:spcAft>
              <a:buSzPts val="1400"/>
              <a:buChar char="-"/>
            </a:pPr>
            <a:r>
              <a:rPr lang="en-US"/>
              <a:t>Etnia</a:t>
            </a:r>
            <a:endParaRPr/>
          </a:p>
          <a:p>
            <a:pPr indent="-317500" lvl="1" marL="914400" rtl="0" algn="l">
              <a:spcBef>
                <a:spcPts val="0"/>
              </a:spcBef>
              <a:spcAft>
                <a:spcPts val="0"/>
              </a:spcAft>
              <a:buSzPts val="1400"/>
              <a:buChar char="-"/>
            </a:pPr>
            <a:r>
              <a:rPr lang="en-US"/>
              <a:t>Edad al ingreso</a:t>
            </a:r>
            <a:endParaRPr/>
          </a:p>
          <a:p>
            <a:pPr indent="-317500" lvl="1" marL="914400" rtl="0" algn="l">
              <a:spcBef>
                <a:spcPts val="0"/>
              </a:spcBef>
              <a:spcAft>
                <a:spcPts val="0"/>
              </a:spcAft>
              <a:buSzPts val="1400"/>
              <a:buChar char="-"/>
            </a:pPr>
            <a:r>
              <a:rPr lang="en-US"/>
              <a:t>Plan Residencial (PG y M)</a:t>
            </a:r>
            <a:endParaRPr/>
          </a:p>
          <a:p>
            <a:pPr indent="-317500" lvl="1" marL="914400" rtl="0" algn="l">
              <a:spcBef>
                <a:spcPts val="0"/>
              </a:spcBef>
              <a:spcAft>
                <a:spcPts val="0"/>
              </a:spcAft>
              <a:buSzPts val="1400"/>
              <a:buChar char="-"/>
            </a:pPr>
            <a:r>
              <a:rPr lang="en-US"/>
              <a:t>1-2 años:</a:t>
            </a:r>
            <a:endParaRPr/>
          </a:p>
          <a:p>
            <a:pPr indent="-304800" lvl="2" marL="1371600" rtl="0" algn="l">
              <a:spcBef>
                <a:spcPts val="0"/>
              </a:spcBef>
              <a:spcAft>
                <a:spcPts val="0"/>
              </a:spcAft>
              <a:buSzPts val="1200"/>
              <a:buChar char="-"/>
            </a:pPr>
            <a:r>
              <a:rPr lang="en-US"/>
              <a:t>El riesgo +  heterogéneo</a:t>
            </a:r>
            <a:endParaRPr/>
          </a:p>
          <a:p>
            <a:pPr indent="-317500" lvl="1" marL="914400" rtl="0" algn="l">
              <a:spcBef>
                <a:spcPts val="0"/>
              </a:spcBef>
              <a:spcAft>
                <a:spcPts val="0"/>
              </a:spcAft>
              <a:buSzPts val="1400"/>
              <a:buChar char="-"/>
            </a:pPr>
            <a:r>
              <a:rPr lang="en-US"/>
              <a:t>2-3 años:</a:t>
            </a:r>
            <a:endParaRPr/>
          </a:p>
          <a:p>
            <a:pPr indent="-304800" lvl="2" marL="1371600" rtl="0" algn="l">
              <a:spcBef>
                <a:spcPts val="0"/>
              </a:spcBef>
              <a:spcAft>
                <a:spcPts val="0"/>
              </a:spcAft>
              <a:buSzPts val="1200"/>
              <a:buChar char="-"/>
            </a:pPr>
            <a:r>
              <a:rPr lang="en-US"/>
              <a:t>Dg. físico</a:t>
            </a:r>
            <a:endParaRPr/>
          </a:p>
          <a:p>
            <a:pPr indent="-304800" lvl="2" marL="1371600" rtl="0" algn="l">
              <a:spcBef>
                <a:spcPts val="0"/>
              </a:spcBef>
              <a:spcAft>
                <a:spcPts val="0"/>
              </a:spcAft>
              <a:buSzPts val="1200"/>
              <a:buChar char="-"/>
            </a:pPr>
            <a:r>
              <a:rPr lang="en-US"/>
              <a:t>Frecuencia consumo</a:t>
            </a:r>
            <a:endParaRPr/>
          </a:p>
          <a:p>
            <a:pPr indent="-304800" lvl="2" marL="1371600" rtl="0" algn="l">
              <a:spcBef>
                <a:spcPts val="0"/>
              </a:spcBef>
              <a:spcAft>
                <a:spcPts val="0"/>
              </a:spcAft>
              <a:buSzPts val="1200"/>
              <a:buChar char="-"/>
            </a:pPr>
            <a:r>
              <a:rPr lang="en-US"/>
              <a:t>Ev. consumo</a:t>
            </a:r>
            <a:endParaRPr/>
          </a:p>
          <a:p>
            <a:pPr indent="-304800" lvl="2" marL="1371600" rtl="0" algn="l">
              <a:spcBef>
                <a:spcPts val="0"/>
              </a:spcBef>
              <a:spcAft>
                <a:spcPts val="0"/>
              </a:spcAft>
              <a:buSzPts val="1200"/>
              <a:buChar char="-"/>
            </a:pPr>
            <a:r>
              <a:rPr lang="en-US"/>
              <a:t>Severidad consumo</a:t>
            </a:r>
            <a:endParaRPr/>
          </a:p>
          <a:p>
            <a:pPr indent="-304800" lvl="2" marL="1371600" rtl="0" algn="l">
              <a:spcBef>
                <a:spcPts val="0"/>
              </a:spcBef>
              <a:spcAft>
                <a:spcPts val="0"/>
              </a:spcAft>
              <a:buSzPts val="1200"/>
              <a:buChar char="-"/>
            </a:pPr>
            <a:r>
              <a:rPr lang="en-US"/>
              <a:t>Policonsumo</a:t>
            </a:r>
            <a:endParaRPr/>
          </a:p>
          <a:p>
            <a:pPr indent="-317500" lvl="1" marL="914400" rtl="0" algn="l">
              <a:spcBef>
                <a:spcPts val="0"/>
              </a:spcBef>
              <a:spcAft>
                <a:spcPts val="0"/>
              </a:spcAft>
              <a:buSzPts val="1400"/>
              <a:buChar char="-"/>
            </a:pPr>
            <a:r>
              <a:rPr lang="en-US"/>
              <a:t>Derivación (artefacto adm.?)</a:t>
            </a:r>
            <a:endParaRPr/>
          </a:p>
          <a:p>
            <a:pPr indent="-330200" lvl="0" marL="457200" rtl="0" algn="l">
              <a:spcBef>
                <a:spcPts val="0"/>
              </a:spcBef>
              <a:spcAft>
                <a:spcPts val="0"/>
              </a:spcAft>
              <a:buSzPts val="1600"/>
              <a:buChar char="-"/>
            </a:pPr>
            <a:r>
              <a:rPr lang="en-US"/>
              <a:t>Valores bajos/ausencia, disminuye</a:t>
            </a:r>
            <a:endParaRPr/>
          </a:p>
          <a:p>
            <a:pPr indent="-317500" lvl="1" marL="914400" rtl="0" algn="l">
              <a:spcBef>
                <a:spcPts val="0"/>
              </a:spcBef>
              <a:spcAft>
                <a:spcPts val="0"/>
              </a:spcAft>
              <a:buSzPts val="1400"/>
              <a:buChar char="-"/>
            </a:pPr>
            <a:r>
              <a:rPr lang="en-US"/>
              <a:t>Sus. principal, marihuana</a:t>
            </a:r>
            <a:endParaRPr/>
          </a:p>
          <a:p>
            <a:pPr indent="-317500" lvl="1" marL="914400" rtl="0" algn="l">
              <a:spcBef>
                <a:spcPts val="0"/>
              </a:spcBef>
              <a:spcAft>
                <a:spcPts val="0"/>
              </a:spcAft>
              <a:buSzPts val="1400"/>
              <a:buChar char="-"/>
            </a:pPr>
            <a:r>
              <a:rPr lang="en-US"/>
              <a:t>Educación</a:t>
            </a:r>
            <a:endParaRPr/>
          </a:p>
          <a:p>
            <a:pPr indent="-317500" lvl="1" marL="914400" rtl="0" algn="l">
              <a:spcBef>
                <a:spcPts val="0"/>
              </a:spcBef>
              <a:spcAft>
                <a:spcPts val="0"/>
              </a:spcAft>
              <a:buSzPts val="1400"/>
              <a:buChar char="-"/>
            </a:pPr>
            <a:r>
              <a:rPr lang="en-US"/>
              <a:t>Sus. principal, otras</a:t>
            </a:r>
            <a:endParaRPr/>
          </a:p>
          <a:p>
            <a:pPr indent="-317500" lvl="1" marL="914400" rtl="0" algn="l">
              <a:spcBef>
                <a:spcPts val="0"/>
              </a:spcBef>
              <a:spcAft>
                <a:spcPts val="0"/>
              </a:spcAft>
              <a:buSzPts val="1400"/>
              <a:buChar char="-"/>
            </a:pPr>
            <a:r>
              <a:rPr lang="en-US"/>
              <a:t>Origen ingreso, justicia</a:t>
            </a:r>
            <a:endParaRPr/>
          </a:p>
          <a:p>
            <a:pPr indent="0" lvl="0" marL="0" rtl="0" algn="l">
              <a:spcBef>
                <a:spcPts val="1000"/>
              </a:spcBef>
              <a:spcAft>
                <a:spcPts val="0"/>
              </a:spcAft>
              <a:buNone/>
            </a:pPr>
            <a:r>
              <a:rPr lang="en-US" sz="1700"/>
              <a:t>Más movimiento a factores </a:t>
            </a:r>
            <a:r>
              <a:rPr b="1" lang="en-US" sz="1700"/>
              <a:t>clínicos</a:t>
            </a:r>
            <a:endParaRPr b="1" sz="1700"/>
          </a:p>
        </p:txBody>
      </p:sp>
      <p:pic>
        <p:nvPicPr>
          <p:cNvPr id="544" name="Google Shape;544;g3c8bb76bf58_0_3" title="alluvial_readm_DH64.png"/>
          <p:cNvPicPr preferRelativeResize="0"/>
          <p:nvPr/>
        </p:nvPicPr>
        <p:blipFill rotWithShape="1">
          <a:blip r:embed="rId3">
            <a:alphaModFix/>
          </a:blip>
          <a:srcRect b="0" l="0" r="7124" t="0"/>
          <a:stretch/>
        </p:blipFill>
        <p:spPr>
          <a:xfrm>
            <a:off x="3650791" y="1016100"/>
            <a:ext cx="8555551" cy="5262476"/>
          </a:xfrm>
          <a:prstGeom prst="rect">
            <a:avLst/>
          </a:prstGeom>
          <a:noFill/>
          <a:ln>
            <a:noFill/>
          </a:ln>
        </p:spPr>
      </p:pic>
      <p:sp>
        <p:nvSpPr>
          <p:cNvPr id="545" name="Google Shape;545;g3c8bb76bf58_0_3"/>
          <p:cNvSpPr txBox="1"/>
          <p:nvPr/>
        </p:nvSpPr>
        <p:spPr>
          <a:xfrm>
            <a:off x="4759975" y="615904"/>
            <a:ext cx="687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Evolución temporal de la importancia relativa de predictores de readmisión</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c8c484ae52_0_1"/>
          <p:cNvSpPr txBox="1"/>
          <p:nvPr>
            <p:ph type="title"/>
          </p:nvPr>
        </p:nvSpPr>
        <p:spPr>
          <a:xfrm>
            <a:off x="325050" y="0"/>
            <a:ext cx="3932100" cy="12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DEEP HIT (Interacciones)</a:t>
            </a:r>
            <a:endParaRPr/>
          </a:p>
        </p:txBody>
      </p:sp>
      <p:sp>
        <p:nvSpPr>
          <p:cNvPr id="552" name="Google Shape;552;g3c8c484ae52_0_1"/>
          <p:cNvSpPr txBox="1"/>
          <p:nvPr>
            <p:ph idx="2" type="body"/>
          </p:nvPr>
        </p:nvSpPr>
        <p:spPr>
          <a:xfrm>
            <a:off x="184975" y="1351250"/>
            <a:ext cx="5392500" cy="44793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US"/>
              <a:t>MORTALIDAD</a:t>
            </a:r>
            <a:endParaRPr b="1"/>
          </a:p>
          <a:p>
            <a:pPr indent="-330200" lvl="0" marL="457200" rtl="0" algn="l">
              <a:spcBef>
                <a:spcPts val="1000"/>
              </a:spcBef>
              <a:spcAft>
                <a:spcPts val="0"/>
              </a:spcAft>
              <a:buSzPts val="1600"/>
              <a:buChar char="-"/>
            </a:pPr>
            <a:r>
              <a:rPr lang="en-US"/>
              <a:t>Evaluación SM al egreso * Ev. Transgresión norma</a:t>
            </a:r>
            <a:endParaRPr/>
          </a:p>
          <a:p>
            <a:pPr indent="-330200" lvl="0" marL="457200" rtl="0" algn="l">
              <a:spcBef>
                <a:spcPts val="0"/>
              </a:spcBef>
              <a:spcAft>
                <a:spcPts val="0"/>
              </a:spcAft>
              <a:buSzPts val="1600"/>
              <a:buChar char="-"/>
            </a:pPr>
            <a:r>
              <a:rPr lang="en-US"/>
              <a:t>Ev. Rel.Int * Ev. SM</a:t>
            </a:r>
            <a:endParaRPr/>
          </a:p>
          <a:p>
            <a:pPr indent="-330200" lvl="0" marL="457200" rtl="0" algn="l">
              <a:spcBef>
                <a:spcPts val="0"/>
              </a:spcBef>
              <a:spcAft>
                <a:spcPts val="0"/>
              </a:spcAft>
              <a:buSzPts val="1600"/>
              <a:buChar char="-"/>
            </a:pPr>
            <a:r>
              <a:rPr lang="en-US"/>
              <a:t>Ev. Rel.Int * Ev. proc. terapéutico</a:t>
            </a:r>
            <a:endParaRPr/>
          </a:p>
          <a:p>
            <a:pPr indent="-330200" lvl="0" marL="457200" rtl="0" algn="l">
              <a:spcBef>
                <a:spcPts val="0"/>
              </a:spcBef>
              <a:spcAft>
                <a:spcPts val="0"/>
              </a:spcAft>
              <a:buSzPts val="1600"/>
              <a:buChar char="-"/>
            </a:pPr>
            <a:r>
              <a:rPr lang="en-US"/>
              <a:t>Ev. Rel.Int * Ev. transgresión norma</a:t>
            </a:r>
            <a:endParaRPr/>
          </a:p>
          <a:p>
            <a:pPr indent="-330200" lvl="0" marL="457200" rtl="0" algn="l">
              <a:spcBef>
                <a:spcPts val="0"/>
              </a:spcBef>
              <a:spcAft>
                <a:spcPts val="0"/>
              </a:spcAft>
              <a:buSzPts val="1600"/>
              <a:buChar char="-"/>
            </a:pPr>
            <a:r>
              <a:rPr lang="en-US"/>
              <a:t>Ev. Rel.Int * Ev. Familia</a:t>
            </a:r>
            <a:endParaRPr/>
          </a:p>
          <a:p>
            <a:pPr indent="-330200" lvl="0" marL="457200" rtl="0" algn="l">
              <a:spcBef>
                <a:spcPts val="0"/>
              </a:spcBef>
              <a:spcAft>
                <a:spcPts val="0"/>
              </a:spcAft>
              <a:buSzPts val="1600"/>
              <a:buChar char="-"/>
            </a:pPr>
            <a:r>
              <a:rPr lang="en-US"/>
              <a:t>Plan Res (M) * Separado/Div./Viudez</a:t>
            </a:r>
            <a:endParaRPr/>
          </a:p>
          <a:p>
            <a:pPr indent="-330200" lvl="0" marL="457200" rtl="0" algn="l">
              <a:spcBef>
                <a:spcPts val="0"/>
              </a:spcBef>
              <a:spcAft>
                <a:spcPts val="0"/>
              </a:spcAft>
              <a:buSzPts val="1600"/>
              <a:buChar char="-"/>
            </a:pPr>
            <a:r>
              <a:rPr lang="en-US"/>
              <a:t>Plan Amb.Int. * Abandono por violación normas</a:t>
            </a:r>
            <a:endParaRPr/>
          </a:p>
          <a:p>
            <a:pPr indent="-330200" lvl="0" marL="457200" rtl="0" algn="l">
              <a:spcBef>
                <a:spcPts val="0"/>
              </a:spcBef>
              <a:spcAft>
                <a:spcPts val="0"/>
              </a:spcAft>
              <a:buSzPts val="1600"/>
              <a:buChar char="-"/>
            </a:pPr>
            <a:r>
              <a:rPr lang="en-US"/>
              <a:t>Tipo de vivienda, Otra * Res. tto., Otros</a:t>
            </a:r>
            <a:endParaRPr/>
          </a:p>
          <a:p>
            <a:pPr indent="-330200" lvl="0" marL="457200" rtl="0" algn="l">
              <a:spcBef>
                <a:spcPts val="0"/>
              </a:spcBef>
              <a:spcAft>
                <a:spcPts val="0"/>
              </a:spcAft>
              <a:buSzPts val="1600"/>
              <a:buChar char="-"/>
            </a:pPr>
            <a:r>
              <a:rPr lang="en-US"/>
              <a:t>Origen ingreso, justicia * Sus.Inicio, Cocaína</a:t>
            </a:r>
            <a:endParaRPr/>
          </a:p>
          <a:p>
            <a:pPr indent="-330200" lvl="0" marL="457200" rtl="0" algn="l">
              <a:spcBef>
                <a:spcPts val="0"/>
              </a:spcBef>
              <a:spcAft>
                <a:spcPts val="0"/>
              </a:spcAft>
              <a:buSzPts val="1600"/>
              <a:buChar char="-"/>
            </a:pPr>
            <a:r>
              <a:rPr lang="en-US"/>
              <a:t>Ev. consumo * Ev. familia</a:t>
            </a:r>
            <a:endParaRPr/>
          </a:p>
          <a:p>
            <a:pPr indent="-330200" lvl="0" marL="457200" rtl="0" algn="l">
              <a:spcBef>
                <a:spcPts val="0"/>
              </a:spcBef>
              <a:spcAft>
                <a:spcPts val="0"/>
              </a:spcAft>
              <a:buSzPts val="1600"/>
              <a:buChar char="-"/>
            </a:pPr>
            <a:r>
              <a:rPr lang="en-US"/>
              <a:t>Nacionalidad(extranjero) * Abandono, violación normas</a:t>
            </a:r>
            <a:endParaRPr/>
          </a:p>
          <a:p>
            <a:pPr indent="-330200" lvl="0" marL="457200" rtl="0" algn="l">
              <a:spcBef>
                <a:spcPts val="0"/>
              </a:spcBef>
              <a:spcAft>
                <a:spcPts val="0"/>
              </a:spcAft>
              <a:buSzPts val="1600"/>
              <a:buChar char="-"/>
            </a:pPr>
            <a:r>
              <a:rPr lang="en-US"/>
              <a:t>Sus.Inicio, Cocaína * Sus.Principal, Marihuana</a:t>
            </a:r>
            <a:endParaRPr/>
          </a:p>
          <a:p>
            <a:pPr indent="-330200" lvl="0" marL="457200" rtl="0" algn="l">
              <a:spcBef>
                <a:spcPts val="0"/>
              </a:spcBef>
              <a:spcAft>
                <a:spcPts val="0"/>
              </a:spcAft>
              <a:buSzPts val="1600"/>
              <a:buChar char="-"/>
            </a:pPr>
            <a:r>
              <a:rPr lang="en-US"/>
              <a:t>Sus.Principal, Marihuana * Tipo vivienda (Otro)</a:t>
            </a:r>
            <a:endParaRPr/>
          </a:p>
          <a:p>
            <a:pPr indent="-330200" lvl="0" marL="457200" rtl="0" algn="l">
              <a:spcBef>
                <a:spcPts val="0"/>
              </a:spcBef>
              <a:spcAft>
                <a:spcPts val="0"/>
              </a:spcAft>
              <a:buSzPts val="1600"/>
              <a:buChar char="-"/>
            </a:pPr>
            <a:r>
              <a:rPr lang="en-US"/>
              <a:t>Origen ingreso, FONODROGAS * Abandono por violación normas</a:t>
            </a:r>
            <a:endParaRPr/>
          </a:p>
          <a:p>
            <a:pPr indent="-330200" lvl="0" marL="457200" rtl="0" algn="l">
              <a:spcBef>
                <a:spcPts val="0"/>
              </a:spcBef>
              <a:spcAft>
                <a:spcPts val="0"/>
              </a:spcAft>
              <a:buSzPts val="1600"/>
              <a:buChar char="-"/>
            </a:pPr>
            <a:r>
              <a:rPr lang="en-US"/>
              <a:t>Etnia * Plan Res (M)</a:t>
            </a:r>
            <a:endParaRPr/>
          </a:p>
          <a:p>
            <a:pPr indent="-330200" lvl="0" marL="457200" rtl="0" algn="l">
              <a:spcBef>
                <a:spcPts val="0"/>
              </a:spcBef>
              <a:spcAft>
                <a:spcPts val="0"/>
              </a:spcAft>
              <a:buSzPts val="1600"/>
              <a:buChar char="-"/>
            </a:pPr>
            <a:r>
              <a:rPr lang="en-US"/>
              <a:t>Ev. física * Ev. transgresión norma</a:t>
            </a:r>
            <a:endParaRPr/>
          </a:p>
          <a:p>
            <a:pPr indent="-330200" lvl="0" marL="457200" rtl="0" algn="l">
              <a:spcBef>
                <a:spcPts val="0"/>
              </a:spcBef>
              <a:spcAft>
                <a:spcPts val="0"/>
              </a:spcAft>
              <a:buSzPts val="1600"/>
              <a:buChar char="-"/>
            </a:pPr>
            <a:r>
              <a:rPr lang="en-US"/>
              <a:t>Sus.Principal, Pasta Base * Consumo(Dependencia)</a:t>
            </a:r>
            <a:endParaRPr/>
          </a:p>
          <a:p>
            <a:pPr indent="-330200" lvl="0" marL="457200" rtl="0" algn="l">
              <a:spcBef>
                <a:spcPts val="0"/>
              </a:spcBef>
              <a:spcAft>
                <a:spcPts val="0"/>
              </a:spcAft>
              <a:buSzPts val="1600"/>
              <a:buChar char="-"/>
            </a:pPr>
            <a:r>
              <a:rPr lang="en-US"/>
              <a:t>Ev. Rel.Int * Ev. física</a:t>
            </a:r>
            <a:endParaRPr/>
          </a:p>
          <a:p>
            <a:pPr indent="-330200" lvl="0" marL="457200" rtl="0" algn="l">
              <a:spcBef>
                <a:spcPts val="0"/>
              </a:spcBef>
              <a:spcAft>
                <a:spcPts val="0"/>
              </a:spcAft>
              <a:buSzPts val="1600"/>
              <a:buChar char="-"/>
            </a:pPr>
            <a:r>
              <a:rPr lang="en-US"/>
              <a:t>Ev. consumo * ev. física</a:t>
            </a:r>
            <a:endParaRPr/>
          </a:p>
          <a:p>
            <a:pPr indent="-330200" lvl="0" marL="457200" rtl="0" algn="l">
              <a:spcBef>
                <a:spcPts val="0"/>
              </a:spcBef>
              <a:spcAft>
                <a:spcPts val="0"/>
              </a:spcAft>
              <a:buSzPts val="1600"/>
              <a:buChar char="-"/>
            </a:pPr>
            <a:r>
              <a:rPr lang="en-US"/>
              <a:t>Ev. consumo * Ev. proc. terapéutico</a:t>
            </a:r>
            <a:endParaRPr/>
          </a:p>
          <a:p>
            <a:pPr indent="-330200" lvl="0" marL="457200" rtl="0" algn="l">
              <a:spcBef>
                <a:spcPts val="0"/>
              </a:spcBef>
              <a:spcAft>
                <a:spcPts val="0"/>
              </a:spcAft>
              <a:buSzPts val="1600"/>
              <a:buChar char="-"/>
            </a:pPr>
            <a:r>
              <a:rPr lang="en-US"/>
              <a:t>Plan Res (M) * Abandono por violación normas</a:t>
            </a:r>
            <a:endParaRPr/>
          </a:p>
        </p:txBody>
      </p:sp>
      <p:sp>
        <p:nvSpPr>
          <p:cNvPr id="553" name="Google Shape;553;g3c8c484ae52_0_1"/>
          <p:cNvSpPr txBox="1"/>
          <p:nvPr>
            <p:ph idx="2" type="body"/>
          </p:nvPr>
        </p:nvSpPr>
        <p:spPr>
          <a:xfrm>
            <a:off x="5990050" y="244625"/>
            <a:ext cx="5392500" cy="42516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b="1" lang="en-US"/>
              <a:t>Readmisión</a:t>
            </a:r>
            <a:endParaRPr b="1"/>
          </a:p>
          <a:p>
            <a:pPr indent="-330200" lvl="0" marL="457200" rtl="0" algn="l">
              <a:spcBef>
                <a:spcPts val="1000"/>
              </a:spcBef>
              <a:spcAft>
                <a:spcPts val="0"/>
              </a:spcAft>
              <a:buSzPts val="1600"/>
              <a:buChar char="-"/>
            </a:pPr>
            <a:r>
              <a:rPr lang="en-US"/>
              <a:t>Plan Res (M) * Separado/Div./Viudez</a:t>
            </a:r>
            <a:endParaRPr/>
          </a:p>
          <a:p>
            <a:pPr indent="-330200" lvl="0" marL="457200" rtl="0" algn="l">
              <a:spcBef>
                <a:spcPts val="0"/>
              </a:spcBef>
              <a:spcAft>
                <a:spcPts val="0"/>
              </a:spcAft>
              <a:buSzPts val="1600"/>
              <a:buChar char="-"/>
            </a:pPr>
            <a:r>
              <a:rPr lang="en-US"/>
              <a:t>Plan Amb.Int. * Abandono por violación normas</a:t>
            </a:r>
            <a:endParaRPr/>
          </a:p>
          <a:p>
            <a:pPr indent="-330200" lvl="0" marL="457200" rtl="0" algn="l">
              <a:spcBef>
                <a:spcPts val="0"/>
              </a:spcBef>
              <a:spcAft>
                <a:spcPts val="0"/>
              </a:spcAft>
              <a:buSzPts val="1600"/>
              <a:buChar char="-"/>
            </a:pPr>
            <a:r>
              <a:rPr lang="en-US"/>
              <a:t>Origen ingreso, justicia * Sus.Inicio, Cocaína</a:t>
            </a:r>
            <a:endParaRPr/>
          </a:p>
          <a:p>
            <a:pPr indent="-330200" lvl="0" marL="457200" rtl="0" algn="l">
              <a:spcBef>
                <a:spcPts val="0"/>
              </a:spcBef>
              <a:spcAft>
                <a:spcPts val="0"/>
              </a:spcAft>
              <a:buSzPts val="1600"/>
              <a:buChar char="-"/>
            </a:pPr>
            <a:r>
              <a:rPr lang="en-US"/>
              <a:t>Ev. Rel.Int * Ev. proc. terapéutico</a:t>
            </a:r>
            <a:endParaRPr/>
          </a:p>
          <a:p>
            <a:pPr indent="-330200" lvl="0" marL="457200" rtl="0" algn="l">
              <a:spcBef>
                <a:spcPts val="0"/>
              </a:spcBef>
              <a:spcAft>
                <a:spcPts val="0"/>
              </a:spcAft>
              <a:buSzPts val="1600"/>
              <a:buChar char="-"/>
            </a:pPr>
            <a:r>
              <a:rPr lang="en-US"/>
              <a:t>Ev. Rel.Int * Ev. Familia</a:t>
            </a:r>
            <a:endParaRPr/>
          </a:p>
          <a:p>
            <a:pPr indent="-330200" lvl="0" marL="457200" rtl="0" algn="l">
              <a:spcBef>
                <a:spcPts val="0"/>
              </a:spcBef>
              <a:spcAft>
                <a:spcPts val="0"/>
              </a:spcAft>
              <a:buSzPts val="1600"/>
              <a:buChar char="-"/>
            </a:pPr>
            <a:r>
              <a:rPr lang="en-US"/>
              <a:t>Ev. Rel.Int * Ev. SM</a:t>
            </a:r>
            <a:endParaRPr/>
          </a:p>
          <a:p>
            <a:pPr indent="-330200" lvl="0" marL="457200" rtl="0" algn="l">
              <a:spcBef>
                <a:spcPts val="0"/>
              </a:spcBef>
              <a:spcAft>
                <a:spcPts val="0"/>
              </a:spcAft>
              <a:buSzPts val="1600"/>
              <a:buChar char="-"/>
            </a:pPr>
            <a:r>
              <a:rPr lang="en-US"/>
              <a:t>Ev. consumo * Ev. proc. terapéutico</a:t>
            </a:r>
            <a:endParaRPr/>
          </a:p>
          <a:p>
            <a:pPr indent="-330200" lvl="0" marL="457200" rtl="0" algn="l">
              <a:spcBef>
                <a:spcPts val="0"/>
              </a:spcBef>
              <a:spcAft>
                <a:spcPts val="0"/>
              </a:spcAft>
              <a:buSzPts val="1600"/>
              <a:buChar char="-"/>
            </a:pPr>
            <a:r>
              <a:rPr lang="en-US"/>
              <a:t>Nacionalidad(extranjero) * Abandono, violación normas</a:t>
            </a:r>
            <a:endParaRPr/>
          </a:p>
          <a:p>
            <a:pPr indent="-330200" lvl="0" marL="457200" rtl="0" algn="l">
              <a:spcBef>
                <a:spcPts val="0"/>
              </a:spcBef>
              <a:spcAft>
                <a:spcPts val="0"/>
              </a:spcAft>
              <a:buSzPts val="1600"/>
              <a:buChar char="-"/>
            </a:pPr>
            <a:r>
              <a:rPr lang="en-US"/>
              <a:t>Sus.Inicio, Cocaína * Sus.Principal, Marihuana</a:t>
            </a:r>
            <a:endParaRPr/>
          </a:p>
          <a:p>
            <a:pPr indent="-330200" lvl="0" marL="457200" rtl="0" algn="l">
              <a:spcBef>
                <a:spcPts val="0"/>
              </a:spcBef>
              <a:spcAft>
                <a:spcPts val="0"/>
              </a:spcAft>
              <a:buSzPts val="1600"/>
              <a:buChar char="-"/>
            </a:pPr>
            <a:r>
              <a:rPr lang="en-US"/>
              <a:t>Origen ingreso, FONODROGAS * Abandono por violación normas</a:t>
            </a:r>
            <a:endParaRPr/>
          </a:p>
          <a:p>
            <a:pPr indent="-330200" lvl="0" marL="457200" rtl="0" algn="l">
              <a:spcBef>
                <a:spcPts val="0"/>
              </a:spcBef>
              <a:spcAft>
                <a:spcPts val="0"/>
              </a:spcAft>
              <a:buSzPts val="1600"/>
              <a:buChar char="-"/>
            </a:pPr>
            <a:r>
              <a:rPr lang="en-US"/>
              <a:t>Sus.Principal, Marihuana * Tipo vivienda (Otro)</a:t>
            </a:r>
            <a:endParaRPr/>
          </a:p>
          <a:p>
            <a:pPr indent="-330200" lvl="0" marL="457200" rtl="0" algn="l">
              <a:spcBef>
                <a:spcPts val="0"/>
              </a:spcBef>
              <a:spcAft>
                <a:spcPts val="0"/>
              </a:spcAft>
              <a:buSzPts val="1600"/>
              <a:buChar char="-"/>
            </a:pPr>
            <a:r>
              <a:rPr lang="en-US"/>
              <a:t>Ev. consumo * Ev. SM</a:t>
            </a:r>
            <a:endParaRPr/>
          </a:p>
          <a:p>
            <a:pPr indent="-330200" lvl="0" marL="457200" rtl="0" algn="l">
              <a:spcBef>
                <a:spcPts val="0"/>
              </a:spcBef>
              <a:spcAft>
                <a:spcPts val="0"/>
              </a:spcAft>
              <a:buSzPts val="1600"/>
              <a:buChar char="-"/>
            </a:pPr>
            <a:r>
              <a:rPr lang="en-US"/>
              <a:t>Ev. Familia * Ev. física</a:t>
            </a:r>
            <a:endParaRPr/>
          </a:p>
          <a:p>
            <a:pPr indent="-330200" lvl="0" marL="457200" rtl="0" algn="l">
              <a:spcBef>
                <a:spcPts val="0"/>
              </a:spcBef>
              <a:spcAft>
                <a:spcPts val="0"/>
              </a:spcAft>
              <a:buSzPts val="1600"/>
              <a:buChar char="-"/>
            </a:pPr>
            <a:r>
              <a:rPr lang="en-US"/>
              <a:t>Origen ingreso, FONODROGAS * Sus.Principal, Marihuana</a:t>
            </a:r>
            <a:endParaRPr/>
          </a:p>
          <a:p>
            <a:pPr indent="-330200" lvl="0" marL="457200" rtl="0" algn="l">
              <a:spcBef>
                <a:spcPts val="0"/>
              </a:spcBef>
              <a:spcAft>
                <a:spcPts val="0"/>
              </a:spcAft>
              <a:buSzPts val="1600"/>
              <a:buChar char="-"/>
            </a:pPr>
            <a:r>
              <a:rPr lang="en-US"/>
              <a:t>Cohabitación, otros * Plan Amb.Int. (M)</a:t>
            </a:r>
            <a:endParaRPr/>
          </a:p>
          <a:p>
            <a:pPr indent="-330200" lvl="0" marL="457200" rtl="0" algn="l">
              <a:spcBef>
                <a:spcPts val="0"/>
              </a:spcBef>
              <a:spcAft>
                <a:spcPts val="0"/>
              </a:spcAft>
              <a:buSzPts val="1600"/>
              <a:buChar char="-"/>
            </a:pPr>
            <a:r>
              <a:rPr lang="en-US"/>
              <a:t>Sus.Principal, Marihuana * Origen ingreso, justicia</a:t>
            </a:r>
            <a:endParaRPr b="1" sz="1700"/>
          </a:p>
        </p:txBody>
      </p:sp>
      <p:sp>
        <p:nvSpPr>
          <p:cNvPr id="554" name="Google Shape;554;g3c8c484ae52_0_1"/>
          <p:cNvSpPr txBox="1"/>
          <p:nvPr/>
        </p:nvSpPr>
        <p:spPr>
          <a:xfrm>
            <a:off x="6175050" y="4823400"/>
            <a:ext cx="5620200" cy="1477500"/>
          </a:xfrm>
          <a:prstGeom prst="rect">
            <a:avLst/>
          </a:prstGeom>
          <a:noFill/>
          <a:ln cap="flat" cmpd="sng" w="152400">
            <a:solidFill>
              <a:srgbClr val="0B5394"/>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Mortalidad= </a:t>
            </a:r>
            <a:r>
              <a:rPr lang="en-US"/>
              <a:t>comorbilidad física x policonsumo</a:t>
            </a:r>
            <a:endParaRPr/>
          </a:p>
          <a:p>
            <a:pPr indent="0" lvl="0" marL="0" rtl="0" algn="l">
              <a:spcBef>
                <a:spcPts val="0"/>
              </a:spcBef>
              <a:spcAft>
                <a:spcPts val="0"/>
              </a:spcAft>
              <a:buNone/>
            </a:pPr>
            <a:r>
              <a:rPr lang="en-US"/>
              <a:t>Mortalidad= Frecuencia consumo x Dg. comorbilidad física</a:t>
            </a:r>
            <a:endParaRPr/>
          </a:p>
          <a:p>
            <a:pPr indent="0" lvl="0" marL="0" rtl="0" algn="l">
              <a:spcBef>
                <a:spcPts val="0"/>
              </a:spcBef>
              <a:spcAft>
                <a:spcPts val="0"/>
              </a:spcAft>
              <a:buNone/>
            </a:pPr>
            <a:r>
              <a:rPr lang="en-US"/>
              <a:t>Readmisión= Comorbilidad psiquiátrica x policonsumo.</a:t>
            </a:r>
            <a:endParaRPr/>
          </a:p>
          <a:p>
            <a:pPr indent="0" lvl="0" marL="0" rtl="0" algn="l">
              <a:spcBef>
                <a:spcPts val="0"/>
              </a:spcBef>
              <a:spcAft>
                <a:spcPts val="0"/>
              </a:spcAft>
              <a:buNone/>
            </a:pPr>
            <a:r>
              <a:rPr lang="en-US"/>
              <a:t>Ambos= Frecuencia consumo x Abandono</a:t>
            </a:r>
            <a:endParaRPr/>
          </a:p>
          <a:p>
            <a:pPr indent="0" lvl="0" marL="0" rtl="0" algn="l">
              <a:spcBef>
                <a:spcPts val="0"/>
              </a:spcBef>
              <a:spcAft>
                <a:spcPts val="0"/>
              </a:spcAft>
              <a:buNone/>
            </a:pPr>
            <a:r>
              <a:rPr lang="en-US"/>
              <a:t>Ambos= comorbilidad psiquiátrica x Etnia</a:t>
            </a:r>
            <a:endParaRPr/>
          </a:p>
          <a:p>
            <a:pPr indent="0" lvl="0" marL="0" rtl="0" algn="l">
              <a:spcBef>
                <a:spcPts val="0"/>
              </a:spcBef>
              <a:spcAft>
                <a:spcPts val="0"/>
              </a:spcAft>
              <a:buNone/>
            </a:pPr>
            <a:r>
              <a:rPr lang="en-US"/>
              <a:t>Ambos= Frecuencia consumo x Dg. comorbilidad psiquiátrica</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c8c484ae52_0_22"/>
          <p:cNvSpPr txBox="1"/>
          <p:nvPr>
            <p:ph type="title"/>
          </p:nvPr>
        </p:nvSpPr>
        <p:spPr>
          <a:xfrm>
            <a:off x="325050" y="0"/>
            <a:ext cx="3932100" cy="12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DEEP HIT </a:t>
            </a:r>
            <a:br>
              <a:rPr lang="en-US"/>
            </a:br>
            <a:r>
              <a:rPr lang="en-US"/>
              <a:t>(Forma fx)</a:t>
            </a:r>
            <a:endParaRPr/>
          </a:p>
        </p:txBody>
      </p:sp>
      <p:sp>
        <p:nvSpPr>
          <p:cNvPr id="561" name="Google Shape;561;g3c8c484ae52_0_22"/>
          <p:cNvSpPr txBox="1"/>
          <p:nvPr>
            <p:ph idx="2" type="body"/>
          </p:nvPr>
        </p:nvSpPr>
        <p:spPr>
          <a:xfrm>
            <a:off x="184975" y="1351250"/>
            <a:ext cx="3206700" cy="53088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US"/>
              <a:t>Días en tto.</a:t>
            </a:r>
            <a:endParaRPr b="1"/>
          </a:p>
          <a:p>
            <a:pPr indent="-330200" lvl="0" marL="457200" rtl="0" algn="l">
              <a:spcBef>
                <a:spcPts val="1000"/>
              </a:spcBef>
              <a:spcAft>
                <a:spcPts val="0"/>
              </a:spcAft>
              <a:buSzPts val="1600"/>
              <a:buChar char="-"/>
            </a:pPr>
            <a:r>
              <a:rPr lang="en-US"/>
              <a:t>Distinto al anterior. Mirada más fina, protector primeros meses</a:t>
            </a:r>
            <a:endParaRPr/>
          </a:p>
          <a:p>
            <a:pPr indent="-330200" lvl="0" marL="457200" rtl="0" algn="l">
              <a:spcBef>
                <a:spcPts val="0"/>
              </a:spcBef>
              <a:spcAft>
                <a:spcPts val="0"/>
              </a:spcAft>
              <a:buSzPts val="1600"/>
              <a:buChar char="-"/>
            </a:pPr>
            <a:r>
              <a:rPr lang="en-US"/>
              <a:t>Se estabiliza (decrece) a la mitad</a:t>
            </a:r>
            <a:endParaRPr/>
          </a:p>
          <a:p>
            <a:pPr indent="-330200" lvl="0" marL="457200" rtl="0" algn="l">
              <a:spcBef>
                <a:spcPts val="0"/>
              </a:spcBef>
              <a:spcAft>
                <a:spcPts val="0"/>
              </a:spcAft>
              <a:buSzPts val="1600"/>
              <a:buChar char="-"/>
            </a:pPr>
            <a:r>
              <a:rPr lang="en-US"/>
              <a:t>Valores</a:t>
            </a:r>
            <a:r>
              <a:rPr lang="en-US"/>
              <a:t> extremos crecientes:</a:t>
            </a:r>
            <a:endParaRPr/>
          </a:p>
          <a:p>
            <a:pPr indent="-317500" lvl="1" marL="914400" rtl="0" algn="l">
              <a:spcBef>
                <a:spcPts val="0"/>
              </a:spcBef>
              <a:spcAft>
                <a:spcPts val="0"/>
              </a:spcAft>
              <a:buSzPts val="1400"/>
              <a:buChar char="-"/>
            </a:pPr>
            <a:r>
              <a:rPr lang="en-US"/>
              <a:t>Pacientes que permanecen muchísimos meses más complejos.</a:t>
            </a:r>
            <a:endParaRPr/>
          </a:p>
          <a:p>
            <a:pPr indent="-330200" lvl="0" marL="457200" rtl="0" algn="l">
              <a:spcBef>
                <a:spcPts val="0"/>
              </a:spcBef>
              <a:spcAft>
                <a:spcPts val="0"/>
              </a:spcAft>
              <a:buSzPts val="1600"/>
              <a:buChar char="-"/>
            </a:pPr>
            <a:r>
              <a:rPr lang="en-US"/>
              <a:t>log(X + 1)</a:t>
            </a:r>
            <a:endParaRPr/>
          </a:p>
          <a:p>
            <a:pPr indent="0" lvl="0" marL="0" rtl="0" algn="l">
              <a:spcBef>
                <a:spcPts val="1000"/>
              </a:spcBef>
              <a:spcAft>
                <a:spcPts val="0"/>
              </a:spcAft>
              <a:buClr>
                <a:schemeClr val="dk1"/>
              </a:buClr>
              <a:buSzPts val="1100"/>
              <a:buFont typeface="Arial"/>
              <a:buNone/>
            </a:pPr>
            <a:r>
              <a:rPr b="1" lang="en-US"/>
              <a:t>Pobr. multidim.</a:t>
            </a:r>
            <a:endParaRPr b="1"/>
          </a:p>
          <a:p>
            <a:pPr indent="-330200" lvl="0" marL="457200" rtl="0" algn="l">
              <a:spcBef>
                <a:spcPts val="1000"/>
              </a:spcBef>
              <a:spcAft>
                <a:spcPts val="0"/>
              </a:spcAft>
              <a:buSzPts val="1600"/>
              <a:buChar char="-"/>
            </a:pPr>
            <a:r>
              <a:rPr lang="en-US"/>
              <a:t>Índice más alto, protector (influencia negativa) de readmisión, 5 años en adelante</a:t>
            </a:r>
            <a:endParaRPr/>
          </a:p>
          <a:p>
            <a:pPr indent="-330200" lvl="0" marL="457200" rtl="0" algn="l">
              <a:spcBef>
                <a:spcPts val="0"/>
              </a:spcBef>
              <a:spcAft>
                <a:spcPts val="0"/>
              </a:spcAft>
              <a:buSzPts val="1600"/>
              <a:buChar char="-"/>
            </a:pPr>
            <a:r>
              <a:rPr lang="en-US"/>
              <a:t>Sospecha un efecto umbral</a:t>
            </a:r>
            <a:endParaRPr/>
          </a:p>
          <a:p>
            <a:pPr indent="0" lvl="0" marL="0" rtl="0" algn="l">
              <a:spcBef>
                <a:spcPts val="1000"/>
              </a:spcBef>
              <a:spcAft>
                <a:spcPts val="0"/>
              </a:spcAft>
              <a:buNone/>
            </a:pPr>
            <a:r>
              <a:rPr b="1" lang="en-US"/>
              <a:t>Edad al ingreso</a:t>
            </a:r>
            <a:endParaRPr b="1"/>
          </a:p>
          <a:p>
            <a:pPr indent="-330200" lvl="0" marL="457200" rtl="0" algn="l">
              <a:spcBef>
                <a:spcPts val="1000"/>
              </a:spcBef>
              <a:spcAft>
                <a:spcPts val="0"/>
              </a:spcAft>
              <a:buSzPts val="1600"/>
              <a:buChar char="-"/>
            </a:pPr>
            <a:r>
              <a:rPr lang="en-US"/>
              <a:t>Incremento lineal, más parsimonioso. Aceleración a mayor edad= ^2</a:t>
            </a:r>
            <a:endParaRPr/>
          </a:p>
          <a:p>
            <a:pPr indent="-330200" lvl="0" marL="457200" rtl="0" algn="l">
              <a:spcBef>
                <a:spcPts val="0"/>
              </a:spcBef>
              <a:spcAft>
                <a:spcPts val="0"/>
              </a:spcAft>
              <a:buSzPts val="1600"/>
              <a:buChar char="-"/>
            </a:pPr>
            <a:r>
              <a:rPr lang="en-US"/>
              <a:t>influencia mortalidad, influencia negativa en readmisión</a:t>
            </a:r>
            <a:endParaRPr/>
          </a:p>
        </p:txBody>
      </p:sp>
      <p:pic>
        <p:nvPicPr>
          <p:cNvPr id="562" name="Google Shape;562;g3c8c484ae52_0_22"/>
          <p:cNvPicPr preferRelativeResize="0"/>
          <p:nvPr/>
        </p:nvPicPr>
        <p:blipFill>
          <a:blip r:embed="rId3">
            <a:alphaModFix/>
          </a:blip>
          <a:stretch>
            <a:fillRect/>
          </a:stretch>
        </p:blipFill>
        <p:spPr>
          <a:xfrm>
            <a:off x="8240332" y="39379"/>
            <a:ext cx="3682074" cy="2177251"/>
          </a:xfrm>
          <a:prstGeom prst="rect">
            <a:avLst/>
          </a:prstGeom>
          <a:noFill/>
          <a:ln>
            <a:noFill/>
          </a:ln>
        </p:spPr>
      </p:pic>
      <p:pic>
        <p:nvPicPr>
          <p:cNvPr id="563" name="Google Shape;563;g3c8c484ae52_0_22"/>
          <p:cNvPicPr preferRelativeResize="0"/>
          <p:nvPr/>
        </p:nvPicPr>
        <p:blipFill>
          <a:blip r:embed="rId4">
            <a:alphaModFix/>
          </a:blip>
          <a:stretch>
            <a:fillRect/>
          </a:stretch>
        </p:blipFill>
        <p:spPr>
          <a:xfrm>
            <a:off x="8275432" y="2267604"/>
            <a:ext cx="3816724" cy="2258732"/>
          </a:xfrm>
          <a:prstGeom prst="rect">
            <a:avLst/>
          </a:prstGeom>
          <a:noFill/>
          <a:ln>
            <a:noFill/>
          </a:ln>
        </p:spPr>
      </p:pic>
      <p:pic>
        <p:nvPicPr>
          <p:cNvPr id="564" name="Google Shape;564;g3c8c484ae52_0_22"/>
          <p:cNvPicPr preferRelativeResize="0"/>
          <p:nvPr/>
        </p:nvPicPr>
        <p:blipFill>
          <a:blip r:embed="rId5">
            <a:alphaModFix/>
          </a:blip>
          <a:stretch>
            <a:fillRect/>
          </a:stretch>
        </p:blipFill>
        <p:spPr>
          <a:xfrm>
            <a:off x="3826782" y="2348659"/>
            <a:ext cx="3487048" cy="2061915"/>
          </a:xfrm>
          <a:prstGeom prst="rect">
            <a:avLst/>
          </a:prstGeom>
          <a:noFill/>
          <a:ln>
            <a:noFill/>
          </a:ln>
        </p:spPr>
      </p:pic>
      <p:pic>
        <p:nvPicPr>
          <p:cNvPr id="565" name="Google Shape;565;g3c8c484ae52_0_22"/>
          <p:cNvPicPr preferRelativeResize="0"/>
          <p:nvPr/>
        </p:nvPicPr>
        <p:blipFill>
          <a:blip r:embed="rId6">
            <a:alphaModFix/>
          </a:blip>
          <a:stretch>
            <a:fillRect/>
          </a:stretch>
        </p:blipFill>
        <p:spPr>
          <a:xfrm>
            <a:off x="8320757" y="4577305"/>
            <a:ext cx="3793971" cy="2243399"/>
          </a:xfrm>
          <a:prstGeom prst="rect">
            <a:avLst/>
          </a:prstGeom>
          <a:noFill/>
          <a:ln>
            <a:noFill/>
          </a:ln>
        </p:spPr>
      </p:pic>
      <p:pic>
        <p:nvPicPr>
          <p:cNvPr id="566" name="Google Shape;566;g3c8c484ae52_0_22"/>
          <p:cNvPicPr preferRelativeResize="0"/>
          <p:nvPr/>
        </p:nvPicPr>
        <p:blipFill>
          <a:blip r:embed="rId7">
            <a:alphaModFix/>
          </a:blip>
          <a:stretch>
            <a:fillRect/>
          </a:stretch>
        </p:blipFill>
        <p:spPr>
          <a:xfrm>
            <a:off x="3826782" y="4562974"/>
            <a:ext cx="3623532" cy="2142625"/>
          </a:xfrm>
          <a:prstGeom prst="rect">
            <a:avLst/>
          </a:prstGeom>
          <a:noFill/>
          <a:ln>
            <a:noFill/>
          </a:ln>
        </p:spPr>
      </p:pic>
      <p:pic>
        <p:nvPicPr>
          <p:cNvPr id="567" name="Google Shape;567;g3c8c484ae52_0_22"/>
          <p:cNvPicPr preferRelativeResize="0"/>
          <p:nvPr/>
        </p:nvPicPr>
        <p:blipFill>
          <a:blip r:embed="rId8">
            <a:alphaModFix/>
          </a:blip>
          <a:stretch>
            <a:fillRect/>
          </a:stretch>
        </p:blipFill>
        <p:spPr>
          <a:xfrm>
            <a:off x="3758857" y="61108"/>
            <a:ext cx="3487048" cy="206192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c8e77668ec_0_45"/>
          <p:cNvSpPr txBox="1"/>
          <p:nvPr>
            <p:ph type="title"/>
          </p:nvPr>
        </p:nvSpPr>
        <p:spPr>
          <a:xfrm>
            <a:off x="439325" y="400475"/>
            <a:ext cx="3932100" cy="113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DEEP SURV(Modelo CR, neural net)</a:t>
            </a:r>
            <a:endParaRPr/>
          </a:p>
        </p:txBody>
      </p:sp>
      <p:sp>
        <p:nvSpPr>
          <p:cNvPr id="574" name="Google Shape;574;g3c8e77668ec_0_45"/>
          <p:cNvSpPr txBox="1"/>
          <p:nvPr>
            <p:ph idx="1" type="body"/>
          </p:nvPr>
        </p:nvSpPr>
        <p:spPr>
          <a:xfrm>
            <a:off x="5637525" y="484525"/>
            <a:ext cx="6172200" cy="6373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None/>
            </a:pPr>
            <a:r>
              <a:rPr lang="en-US" sz="2520" u="sng">
                <a:solidFill>
                  <a:schemeClr val="hlink"/>
                </a:solidFill>
                <a:hlinkClick r:id="rId3"/>
              </a:rPr>
              <a:t>https://fondecytacc.github.io/cons2025/DeepSurv2_feb26.html</a:t>
            </a:r>
            <a:endParaRPr sz="2520"/>
          </a:p>
          <a:p>
            <a:pPr indent="0" lvl="0" marL="0" rtl="0" algn="l">
              <a:lnSpc>
                <a:spcPct val="100000"/>
              </a:lnSpc>
              <a:spcBef>
                <a:spcPts val="0"/>
              </a:spcBef>
              <a:spcAft>
                <a:spcPts val="0"/>
              </a:spcAft>
              <a:buNone/>
            </a:pPr>
            <a:r>
              <a:t/>
            </a:r>
            <a:endParaRPr sz="2520"/>
          </a:p>
          <a:p>
            <a:pPr indent="-335883" lvl="0" marL="457200" rtl="0" algn="l">
              <a:lnSpc>
                <a:spcPct val="100000"/>
              </a:lnSpc>
              <a:spcBef>
                <a:spcPts val="0"/>
              </a:spcBef>
              <a:spcAft>
                <a:spcPts val="0"/>
              </a:spcAft>
              <a:buSzPct val="86507"/>
              <a:buChar char="-"/>
            </a:pPr>
            <a:r>
              <a:rPr lang="en-US" sz="2520"/>
              <a:t>Cause-specific CoxPH, CV-k (estratificado plan x evento)=10, M=5, </a:t>
            </a:r>
            <a:endParaRPr sz="2520"/>
          </a:p>
          <a:p>
            <a:pPr indent="-352615" lvl="0" marL="457200" rtl="0" algn="l">
              <a:lnSpc>
                <a:spcPct val="100000"/>
              </a:lnSpc>
              <a:spcBef>
                <a:spcPts val="0"/>
              </a:spcBef>
              <a:spcAft>
                <a:spcPts val="0"/>
              </a:spcAft>
              <a:buSzPct val="100000"/>
              <a:buChar char="-"/>
            </a:pPr>
            <a:r>
              <a:rPr lang="en-US" sz="2520"/>
              <a:t>Umbrales de clasificación aprendidos de los datos de entrenamiento</a:t>
            </a:r>
            <a:endParaRPr sz="2520"/>
          </a:p>
          <a:p>
            <a:pPr indent="-352615" lvl="0" marL="457200" rtl="0" algn="l">
              <a:lnSpc>
                <a:spcPct val="100000"/>
              </a:lnSpc>
              <a:spcBef>
                <a:spcPts val="0"/>
              </a:spcBef>
              <a:spcAft>
                <a:spcPts val="0"/>
              </a:spcAft>
              <a:buSzPct val="100000"/>
              <a:buChar char="-"/>
            </a:pPr>
            <a:r>
              <a:rPr lang="en-US" sz="2520"/>
              <a:t>11 ventanas de seguimiento (de 3 meses a 9 años)</a:t>
            </a:r>
            <a:endParaRPr sz="2520"/>
          </a:p>
          <a:p>
            <a:pPr indent="-352615" lvl="0" marL="457200" rtl="0" algn="l">
              <a:lnSpc>
                <a:spcPct val="100000"/>
              </a:lnSpc>
              <a:spcBef>
                <a:spcPts val="0"/>
              </a:spcBef>
              <a:spcAft>
                <a:spcPts val="0"/>
              </a:spcAft>
              <a:buSzPct val="100000"/>
              <a:buChar char="-"/>
            </a:pPr>
            <a:r>
              <a:rPr lang="en-US" sz="2520"/>
              <a:t>Umbral que max. F1 en folds de entrenamiento y aplico a validación  (basados en sensibilidad y PPV [asume costos simétricos; probar maximizando J Youden para Mortalidad])</a:t>
            </a:r>
            <a:endParaRPr sz="2520"/>
          </a:p>
          <a:p>
            <a:pPr indent="-352615" lvl="0" marL="457200" rtl="0" algn="l">
              <a:lnSpc>
                <a:spcPct val="100000"/>
              </a:lnSpc>
              <a:spcBef>
                <a:spcPts val="0"/>
              </a:spcBef>
              <a:spcAft>
                <a:spcPts val="0"/>
              </a:spcAft>
              <a:buSzPct val="100000"/>
              <a:buChar char="-"/>
            </a:pPr>
            <a:r>
              <a:rPr lang="en-US" sz="2520"/>
              <a:t>SHAP restringido a la primera base imputada</a:t>
            </a:r>
            <a:endParaRPr sz="2520"/>
          </a:p>
          <a:p>
            <a:pPr indent="-352615" lvl="1" marL="914400" rtl="0" algn="l">
              <a:lnSpc>
                <a:spcPct val="100000"/>
              </a:lnSpc>
              <a:spcBef>
                <a:spcPts val="0"/>
              </a:spcBef>
              <a:spcAft>
                <a:spcPts val="0"/>
              </a:spcAft>
              <a:buSzPct val="100000"/>
              <a:buChar char="-"/>
            </a:pPr>
            <a:r>
              <a:rPr lang="en-US" sz="2520"/>
              <a:t>Pooling cruzado, SHAP en c/fold de validación (Pooling multi-fold), concatenado, más generalizable</a:t>
            </a:r>
            <a:endParaRPr sz="2520"/>
          </a:p>
          <a:p>
            <a:pPr indent="-352615" lvl="1" marL="914400" rtl="0" algn="l">
              <a:lnSpc>
                <a:spcPct val="100000"/>
              </a:lnSpc>
              <a:spcBef>
                <a:spcPts val="0"/>
              </a:spcBef>
              <a:spcAft>
                <a:spcPts val="0"/>
              </a:spcAft>
              <a:buSzPct val="100000"/>
              <a:buChar char="-"/>
            </a:pPr>
            <a:r>
              <a:rPr lang="en-US" sz="2520"/>
              <a:t>Riesgo absoluto a un horizonte específico (3 a 96 meses)</a:t>
            </a:r>
            <a:endParaRPr sz="2520"/>
          </a:p>
          <a:p>
            <a:pPr indent="0" lvl="0" marL="0" rtl="0" algn="l">
              <a:lnSpc>
                <a:spcPct val="100000"/>
              </a:lnSpc>
              <a:spcBef>
                <a:spcPts val="0"/>
              </a:spcBef>
              <a:spcAft>
                <a:spcPts val="0"/>
              </a:spcAft>
              <a:buNone/>
            </a:pPr>
            <a:r>
              <a:rPr lang="en-US" sz="2520"/>
              <a:t>📊 </a:t>
            </a:r>
            <a:r>
              <a:rPr b="1" lang="en-US" sz="2520"/>
              <a:t>Evaluación</a:t>
            </a:r>
            <a:endParaRPr b="1" sz="2520"/>
          </a:p>
          <a:p>
            <a:pPr indent="0" lvl="0" marL="0" rtl="0" algn="l">
              <a:lnSpc>
                <a:spcPct val="100000"/>
              </a:lnSpc>
              <a:spcBef>
                <a:spcPts val="0"/>
              </a:spcBef>
              <a:spcAft>
                <a:spcPts val="0"/>
              </a:spcAft>
              <a:buNone/>
            </a:pPr>
            <a:r>
              <a:rPr lang="en-US" sz="2520"/>
              <a:t>→ Uno C-index con IPCW</a:t>
            </a:r>
            <a:endParaRPr sz="2520"/>
          </a:p>
          <a:p>
            <a:pPr indent="0" lvl="0" marL="0" rtl="0" algn="l">
              <a:lnSpc>
                <a:spcPct val="100000"/>
              </a:lnSpc>
              <a:spcBef>
                <a:spcPts val="0"/>
              </a:spcBef>
              <a:spcAft>
                <a:spcPts val="0"/>
              </a:spcAft>
              <a:buNone/>
            </a:pPr>
            <a:r>
              <a:rPr lang="en-US" sz="2520"/>
              <a:t>→ Con todo, </a:t>
            </a:r>
            <a:r>
              <a:rPr lang="en-US" sz="2520"/>
              <a:t>Brier Score con ponderación IPCW basada en Aalen–Johansen.</a:t>
            </a:r>
            <a:endParaRPr sz="2520"/>
          </a:p>
          <a:p>
            <a:pPr indent="0" lvl="0" marL="0" rtl="0" algn="l">
              <a:lnSpc>
                <a:spcPct val="100000"/>
              </a:lnSpc>
              <a:spcBef>
                <a:spcPts val="0"/>
              </a:spcBef>
              <a:spcAft>
                <a:spcPts val="0"/>
              </a:spcAft>
              <a:buNone/>
            </a:pPr>
            <a:r>
              <a:rPr lang="en-US" sz="2520"/>
              <a:t>Métricas sobre distribución empírica 95% (repeated-split, k x M)</a:t>
            </a:r>
            <a:endParaRPr sz="2520"/>
          </a:p>
        </p:txBody>
      </p:sp>
      <p:sp>
        <p:nvSpPr>
          <p:cNvPr id="575" name="Google Shape;575;g3c8e77668ec_0_45"/>
          <p:cNvSpPr txBox="1"/>
          <p:nvPr>
            <p:ph idx="2" type="body"/>
          </p:nvPr>
        </p:nvSpPr>
        <p:spPr>
          <a:xfrm>
            <a:off x="0" y="1537475"/>
            <a:ext cx="5408700" cy="5176500"/>
          </a:xfrm>
          <a:prstGeom prst="rect">
            <a:avLst/>
          </a:prstGeom>
          <a:noFill/>
          <a:ln>
            <a:noFill/>
          </a:ln>
        </p:spPr>
        <p:txBody>
          <a:bodyPr anchorCtr="0" anchor="t" bIns="45700" lIns="91425" spcFirstLastPara="1" rIns="91425" wrap="square" tIns="45700">
            <a:normAutofit lnSpcReduction="10000"/>
          </a:bodyPr>
          <a:lstStyle/>
          <a:p>
            <a:pPr indent="-317500" lvl="0" marL="457200" rtl="0" algn="l">
              <a:spcBef>
                <a:spcPts val="1200"/>
              </a:spcBef>
              <a:spcAft>
                <a:spcPts val="0"/>
              </a:spcAft>
              <a:buSzPts val="1400"/>
              <a:buChar char="●"/>
            </a:pPr>
            <a:r>
              <a:rPr lang="en-US" sz="1400"/>
              <a:t>Estimación flexible y no paramétrica de probabilidades.</a:t>
            </a:r>
            <a:endParaRPr sz="1400"/>
          </a:p>
          <a:p>
            <a:pPr indent="-317500" lvl="0" marL="457200" rtl="0" algn="l">
              <a:spcBef>
                <a:spcPts val="0"/>
              </a:spcBef>
              <a:spcAft>
                <a:spcPts val="0"/>
              </a:spcAft>
              <a:buSzPts val="1400"/>
              <a:buChar char="●"/>
            </a:pPr>
            <a:r>
              <a:rPr lang="en-US" sz="1400"/>
              <a:t>Modela variables tiempo-dependientes y asociaciones no-lineales.</a:t>
            </a:r>
            <a:endParaRPr sz="1400"/>
          </a:p>
          <a:p>
            <a:pPr indent="0" lvl="0" marL="0" rtl="0" algn="l">
              <a:spcBef>
                <a:spcPts val="1200"/>
              </a:spcBef>
              <a:spcAft>
                <a:spcPts val="0"/>
              </a:spcAft>
              <a:buNone/>
            </a:pPr>
            <a:r>
              <a:rPr lang="en-US" sz="1400"/>
              <a:t>Ajuste de hiperparámetros (CV 5-fold, discriminación promedio a 1-5 años, readmisión + mortalidad), cause-specific Cox (censuramos eventos competidores) para riesgos competidores:</a:t>
            </a:r>
            <a:endParaRPr sz="1400"/>
          </a:p>
          <a:p>
            <a:pPr indent="0" lvl="0" marL="0" rtl="0" algn="l">
              <a:spcBef>
                <a:spcPts val="1200"/>
              </a:spcBef>
              <a:spcAft>
                <a:spcPts val="0"/>
              </a:spcAft>
              <a:buNone/>
            </a:pPr>
            <a:r>
              <a:rPr lang="en-US" sz="1400"/>
              <a:t>Primero, buscamos en 32 combinaciones de hiperparámetros. Luego, refinamos mediante una optimización dirigida Bayesiana Optuna (explora aprendiendo de los intentos previos)</a:t>
            </a:r>
            <a:endParaRPr sz="1400"/>
          </a:p>
          <a:p>
            <a:pPr indent="-317500" lvl="0" marL="457200" rtl="0" algn="l">
              <a:spcBef>
                <a:spcPts val="1200"/>
              </a:spcBef>
              <a:spcAft>
                <a:spcPts val="0"/>
              </a:spcAft>
              <a:buSzPts val="1400"/>
              <a:buChar char="●"/>
            </a:pPr>
            <a:r>
              <a:rPr b="1" lang="en-US" sz="1400"/>
              <a:t>Dropout 0.57</a:t>
            </a:r>
            <a:r>
              <a:rPr lang="en-US" sz="1400"/>
              <a:t>: prioriza predictores robustos (ignora ruido, descartand 57% de las neuronas en training).</a:t>
            </a:r>
            <a:endParaRPr sz="1400"/>
          </a:p>
          <a:p>
            <a:pPr indent="-317500" lvl="0" marL="457200" rtl="0" algn="l">
              <a:spcBef>
                <a:spcPts val="0"/>
              </a:spcBef>
              <a:spcAft>
                <a:spcPts val="0"/>
              </a:spcAft>
              <a:buSzPts val="1400"/>
              <a:buChar char="●"/>
            </a:pPr>
            <a:r>
              <a:rPr b="1" lang="en-US" sz="1400"/>
              <a:t>Capas [256, 256, 128]</a:t>
            </a:r>
            <a:r>
              <a:rPr lang="en-US" sz="1400"/>
              <a:t>: para capturar no-linealidad e interacciones, 3 capas fue la forma óptima hallada para HRs (no-linealidad, pero no tan compleja).</a:t>
            </a:r>
            <a:endParaRPr sz="1400"/>
          </a:p>
          <a:p>
            <a:pPr indent="-317500" lvl="0" marL="457200" rtl="0" algn="l">
              <a:spcBef>
                <a:spcPts val="0"/>
              </a:spcBef>
              <a:spcAft>
                <a:spcPts val="0"/>
              </a:spcAft>
              <a:buSzPts val="1400"/>
              <a:buChar char="●"/>
            </a:pPr>
            <a:r>
              <a:rPr b="1" lang="en-US" sz="1400"/>
              <a:t>Mecánicas de optimización</a:t>
            </a:r>
            <a:r>
              <a:rPr lang="en-US" sz="1400"/>
              <a:t>: Tasa de aprendizaje loento a .0008 cn un batch de tamaño 1024. La señal predictiva se distribuye en varios factores de riesgo débiles-moderados</a:t>
            </a:r>
            <a:endParaRPr sz="1400"/>
          </a:p>
          <a:p>
            <a:pPr indent="0" lvl="0" marL="0" marR="381000" rtl="0" algn="l">
              <a:lnSpc>
                <a:spcPct val="115000"/>
              </a:lnSpc>
              <a:spcBef>
                <a:spcPts val="1200"/>
              </a:spcBef>
              <a:spcAft>
                <a:spcPts val="0"/>
              </a:spcAft>
              <a:buNone/>
            </a:pPr>
            <a:r>
              <a:rPr lang="en-US" sz="1400"/>
              <a:t>Búsqueda de hiperparámetros: primero grid search (32) — mejor C‑Index ≈ 0.76809; luego Optuna (Bayesiano) para refinar espacio, alcanzando mejor C‑Index ≈ 0.76963</a:t>
            </a:r>
            <a:endParaRPr sz="1400"/>
          </a:p>
          <a:p>
            <a:pPr indent="0" lvl="0" marL="0" marR="381000" rtl="0" algn="l">
              <a:lnSpc>
                <a:spcPct val="115000"/>
              </a:lnSpc>
              <a:spcBef>
                <a:spcPts val="1200"/>
              </a:spcBef>
              <a:spcAft>
                <a:spcPts val="1200"/>
              </a:spcAft>
              <a:buNone/>
            </a:pPr>
            <a:r>
              <a:rPr lang="en-US" sz="1400"/>
              <a:t>Performance stabilized across higher-capacity architectures, suggesting diminishing returns from additional model complexity.</a:t>
            </a:r>
            <a:endParaRPr sz="14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c8e77668ec_0_54"/>
          <p:cNvSpPr txBox="1"/>
          <p:nvPr>
            <p:ph type="title"/>
          </p:nvPr>
        </p:nvSpPr>
        <p:spPr>
          <a:xfrm>
            <a:off x="350350" y="0"/>
            <a:ext cx="3932100" cy="113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DEEP SURV(2)</a:t>
            </a:r>
            <a:endParaRPr/>
          </a:p>
        </p:txBody>
      </p:sp>
      <p:sp>
        <p:nvSpPr>
          <p:cNvPr id="582" name="Google Shape;582;g3c8e77668ec_0_54"/>
          <p:cNvSpPr txBox="1"/>
          <p:nvPr>
            <p:ph idx="2" type="body"/>
          </p:nvPr>
        </p:nvSpPr>
        <p:spPr>
          <a:xfrm>
            <a:off x="0" y="929375"/>
            <a:ext cx="5917800" cy="5176500"/>
          </a:xfrm>
          <a:prstGeom prst="rect">
            <a:avLst/>
          </a:prstGeom>
          <a:noFill/>
          <a:ln>
            <a:noFill/>
          </a:ln>
        </p:spPr>
        <p:txBody>
          <a:bodyPr anchorCtr="0" anchor="ctr" bIns="45700" lIns="91425" spcFirstLastPara="1" rIns="91425" wrap="square" tIns="45700">
            <a:normAutofit lnSpcReduction="10000"/>
          </a:bodyPr>
          <a:lstStyle/>
          <a:p>
            <a:pPr indent="0" lvl="0" marL="0" marR="381000" rtl="0" algn="l">
              <a:lnSpc>
                <a:spcPct val="115000"/>
              </a:lnSpc>
              <a:spcBef>
                <a:spcPts val="0"/>
              </a:spcBef>
              <a:spcAft>
                <a:spcPts val="0"/>
              </a:spcAft>
              <a:buNone/>
            </a:pPr>
            <a:r>
              <a:rPr b="1" lang="en-US" sz="1400"/>
              <a:t>MORTALIDAD</a:t>
            </a:r>
            <a:endParaRPr b="1" sz="1400"/>
          </a:p>
          <a:p>
            <a:pPr indent="-146050" lvl="0" marL="114300" marR="381000" rtl="0" algn="l">
              <a:lnSpc>
                <a:spcPct val="115000"/>
              </a:lnSpc>
              <a:spcBef>
                <a:spcPts val="0"/>
              </a:spcBef>
              <a:spcAft>
                <a:spcPts val="0"/>
              </a:spcAft>
              <a:buSzPts val="1400"/>
              <a:buChar char="-"/>
            </a:pPr>
            <a:r>
              <a:rPr lang="en-US" sz="1400"/>
              <a:t>DISC= Alta a los 3 meses (0.88), decae hasta 9a= .75</a:t>
            </a:r>
            <a:endParaRPr sz="1400"/>
          </a:p>
          <a:p>
            <a:pPr indent="-146050" lvl="0" marL="114300" marR="381000" rtl="0" algn="l">
              <a:lnSpc>
                <a:spcPct val="115000"/>
              </a:lnSpc>
              <a:spcBef>
                <a:spcPts val="0"/>
              </a:spcBef>
              <a:spcAft>
                <a:spcPts val="0"/>
              </a:spcAft>
              <a:buSzPts val="1400"/>
              <a:buChar char="-"/>
            </a:pPr>
            <a:r>
              <a:rPr lang="en-US" sz="1400"/>
              <a:t>CALIB= Hasta los 2 años, buena calibración temprana; 3-5a, sobreestima ligeramente; largo plazo= ligera sobreestimación (un poco mayor)</a:t>
            </a:r>
            <a:endParaRPr sz="1400"/>
          </a:p>
          <a:p>
            <a:pPr indent="-146050" lvl="0" marL="114300" marR="381000" rtl="0" algn="l">
              <a:lnSpc>
                <a:spcPct val="115000"/>
              </a:lnSpc>
              <a:spcBef>
                <a:spcPts val="0"/>
              </a:spcBef>
              <a:spcAft>
                <a:spcPts val="0"/>
              </a:spcAft>
              <a:buSzPts val="1400"/>
              <a:buChar char="-"/>
            </a:pPr>
            <a:r>
              <a:rPr lang="en-US" sz="1400"/>
              <a:t>Los umbrales suben desde ~0.02–0.03 a los 3-6m (max SENS), .08-.10 a 2 años, hasta ~0.17–0.20 a los 8-9 años (equilibra precisión, -FP)</a:t>
            </a:r>
            <a:endParaRPr sz="1400"/>
          </a:p>
          <a:p>
            <a:pPr indent="-146050" lvl="0" marL="114300" marR="381000" rtl="0" algn="l">
              <a:lnSpc>
                <a:spcPct val="115000"/>
              </a:lnSpc>
              <a:spcBef>
                <a:spcPts val="0"/>
              </a:spcBef>
              <a:spcAft>
                <a:spcPts val="0"/>
              </a:spcAft>
              <a:buSzPts val="1400"/>
              <a:buChar char="-"/>
            </a:pPr>
            <a:r>
              <a:rPr lang="en-US" sz="1400"/>
              <a:t>PPV= 13% 3m, 1 año=25%, 5años=26%, 9 años=36%</a:t>
            </a:r>
            <a:endParaRPr sz="1400"/>
          </a:p>
          <a:p>
            <a:pPr indent="-146050" lvl="0" marL="114300" marR="381000" rtl="0" algn="l">
              <a:lnSpc>
                <a:spcPct val="115000"/>
              </a:lnSpc>
              <a:spcBef>
                <a:spcPts val="0"/>
              </a:spcBef>
              <a:spcAft>
                <a:spcPts val="0"/>
              </a:spcAft>
              <a:buSzPts val="1400"/>
              <a:buChar char="-"/>
            </a:pPr>
            <a:r>
              <a:rPr lang="en-US" sz="1400"/>
              <a:t>SENS= Detecta 12% a 3m; al año, 19%; a 5 años, 34%, a 9, 46%</a:t>
            </a:r>
            <a:endParaRPr sz="1400"/>
          </a:p>
          <a:p>
            <a:pPr indent="-146050" lvl="0" marL="114300" marR="381000" rtl="0" algn="l">
              <a:lnSpc>
                <a:spcPct val="115000"/>
              </a:lnSpc>
              <a:spcBef>
                <a:spcPts val="0"/>
              </a:spcBef>
              <a:spcAft>
                <a:spcPts val="0"/>
              </a:spcAft>
              <a:buSzPts val="1400"/>
              <a:buChar char="-"/>
            </a:pPr>
            <a:r>
              <a:rPr lang="en-US" sz="1400"/>
              <a:t>1-ESP= Conservador al inicio (1%), a 5 años, 5%, 9 años= 10% mal </a:t>
            </a:r>
            <a:r>
              <a:rPr lang="en-US" sz="1400"/>
              <a:t>c</a:t>
            </a:r>
            <a:r>
              <a:rPr lang="en-US" sz="1400"/>
              <a:t>lasificados (FP)</a:t>
            </a:r>
            <a:endParaRPr sz="1400"/>
          </a:p>
          <a:p>
            <a:pPr indent="0" lvl="0" marL="0" marR="381000" rtl="0" algn="l">
              <a:lnSpc>
                <a:spcPct val="115000"/>
              </a:lnSpc>
              <a:spcBef>
                <a:spcPts val="1200"/>
              </a:spcBef>
              <a:spcAft>
                <a:spcPts val="0"/>
              </a:spcAft>
              <a:buNone/>
            </a:pPr>
            <a:r>
              <a:rPr b="1" lang="en-US" sz="1400"/>
              <a:t>READMISION</a:t>
            </a:r>
            <a:endParaRPr b="1" sz="1400"/>
          </a:p>
          <a:p>
            <a:pPr indent="-146050" lvl="0" marL="114300" marR="381000" rtl="0" algn="l">
              <a:lnSpc>
                <a:spcPct val="115000"/>
              </a:lnSpc>
              <a:spcBef>
                <a:spcPts val="0"/>
              </a:spcBef>
              <a:spcAft>
                <a:spcPts val="0"/>
              </a:spcAft>
              <a:buSzPts val="1400"/>
              <a:buChar char="-"/>
            </a:pPr>
            <a:r>
              <a:rPr lang="en-US" sz="1400"/>
              <a:t>DISC= A los 3m </a:t>
            </a:r>
            <a:r>
              <a:rPr lang="en-US" sz="1400"/>
              <a:t>~</a:t>
            </a:r>
            <a:r>
              <a:rPr lang="en-US" sz="1400"/>
              <a:t>.73, año</a:t>
            </a:r>
            <a:r>
              <a:rPr lang="en-US" sz="1400"/>
              <a:t>~.68, 2 años=.65,</a:t>
            </a:r>
            <a:r>
              <a:rPr lang="en-US" sz="1400"/>
              <a:t> 9 a=.62</a:t>
            </a:r>
            <a:endParaRPr sz="1400"/>
          </a:p>
          <a:p>
            <a:pPr indent="-146050" lvl="0" marL="114300" marR="381000" rtl="0" algn="l">
              <a:lnSpc>
                <a:spcPct val="115000"/>
              </a:lnSpc>
              <a:spcBef>
                <a:spcPts val="0"/>
              </a:spcBef>
              <a:spcAft>
                <a:spcPts val="0"/>
              </a:spcAft>
              <a:buSzPts val="1400"/>
              <a:buChar char="-"/>
            </a:pPr>
            <a:r>
              <a:rPr lang="en-US" sz="1400"/>
              <a:t>CALIB= Riesgo promedio predicho coincide bien con incidencia observada (AJ). BS(t) 3M= .007, al año, 0.059, 5 años, 0.16</a:t>
            </a:r>
            <a:endParaRPr sz="1400"/>
          </a:p>
          <a:p>
            <a:pPr indent="-146050" lvl="0" marL="114300" marR="381000" rtl="0" algn="l">
              <a:lnSpc>
                <a:spcPct val="115000"/>
              </a:lnSpc>
              <a:spcBef>
                <a:spcPts val="0"/>
              </a:spcBef>
              <a:spcAft>
                <a:spcPts val="0"/>
              </a:spcAft>
              <a:buSzPts val="1400"/>
              <a:buChar char="-"/>
            </a:pPr>
            <a:r>
              <a:rPr lang="en-US" sz="1400"/>
              <a:t>Umbrales .09-.14 1-</a:t>
            </a:r>
            <a:r>
              <a:rPr lang="en-US" sz="1400"/>
              <a:t>2 años</a:t>
            </a:r>
            <a:r>
              <a:rPr lang="en-US" sz="1400"/>
              <a:t>, 0.14–0.20 5 años,</a:t>
            </a:r>
            <a:endParaRPr sz="1400"/>
          </a:p>
          <a:p>
            <a:pPr indent="-146050" lvl="0" marL="114300" marR="381000" rtl="0" algn="l">
              <a:lnSpc>
                <a:spcPct val="115000"/>
              </a:lnSpc>
              <a:spcBef>
                <a:spcPts val="0"/>
              </a:spcBef>
              <a:spcAft>
                <a:spcPts val="0"/>
              </a:spcAft>
              <a:buSzPts val="1400"/>
              <a:buChar char="-"/>
            </a:pPr>
            <a:r>
              <a:rPr lang="en-US" sz="1400"/>
              <a:t>3-12m= modelo conservador (1-ESP= 2%, SENS=8%, PPV=6%); 2-4 años, marca a más personas como alto riesgo (1-ESP=44%; SENS= 63%; PPV=27%); 9 años, clasifica a todos como alto riesgo (SENS=.99; PPV=55%, 1-</a:t>
            </a:r>
            <a:r>
              <a:rPr lang="en-US" sz="1400"/>
              <a:t>S</a:t>
            </a:r>
            <a:r>
              <a:rPr lang="en-US" sz="1400"/>
              <a:t>PEC= 97%)</a:t>
            </a:r>
            <a:endParaRPr sz="1400"/>
          </a:p>
        </p:txBody>
      </p:sp>
      <p:pic>
        <p:nvPicPr>
          <p:cNvPr id="583" name="Google Shape;583;g3c8e77668ec_0_54"/>
          <p:cNvPicPr preferRelativeResize="0"/>
          <p:nvPr/>
        </p:nvPicPr>
        <p:blipFill>
          <a:blip r:embed="rId3">
            <a:alphaModFix/>
          </a:blip>
          <a:stretch>
            <a:fillRect/>
          </a:stretch>
        </p:blipFill>
        <p:spPr>
          <a:xfrm>
            <a:off x="5531400" y="237325"/>
            <a:ext cx="4252800" cy="3258127"/>
          </a:xfrm>
          <a:prstGeom prst="rect">
            <a:avLst/>
          </a:prstGeom>
          <a:noFill/>
          <a:ln>
            <a:noFill/>
          </a:ln>
        </p:spPr>
      </p:pic>
      <p:pic>
        <p:nvPicPr>
          <p:cNvPr id="584" name="Google Shape;584;g3c8e77668ec_0_54"/>
          <p:cNvPicPr preferRelativeResize="0"/>
          <p:nvPr/>
        </p:nvPicPr>
        <p:blipFill>
          <a:blip r:embed="rId4">
            <a:alphaModFix/>
          </a:blip>
          <a:stretch>
            <a:fillRect/>
          </a:stretch>
        </p:blipFill>
        <p:spPr>
          <a:xfrm>
            <a:off x="5872575" y="3588527"/>
            <a:ext cx="2996531" cy="3057746"/>
          </a:xfrm>
          <a:prstGeom prst="rect">
            <a:avLst/>
          </a:prstGeom>
          <a:noFill/>
          <a:ln>
            <a:noFill/>
          </a:ln>
        </p:spPr>
      </p:pic>
      <p:pic>
        <p:nvPicPr>
          <p:cNvPr id="585" name="Google Shape;585;g3c8e77668ec_0_54"/>
          <p:cNvPicPr preferRelativeResize="0"/>
          <p:nvPr/>
        </p:nvPicPr>
        <p:blipFill>
          <a:blip r:embed="rId5">
            <a:alphaModFix/>
          </a:blip>
          <a:stretch>
            <a:fillRect/>
          </a:stretch>
        </p:blipFill>
        <p:spPr>
          <a:xfrm>
            <a:off x="9021506" y="3647852"/>
            <a:ext cx="2965177" cy="305774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g3c8e77668ec_0_66"/>
          <p:cNvPicPr preferRelativeResize="0"/>
          <p:nvPr/>
        </p:nvPicPr>
        <p:blipFill>
          <a:blip r:embed="rId3">
            <a:alphaModFix/>
          </a:blip>
          <a:stretch>
            <a:fillRect/>
          </a:stretch>
        </p:blipFill>
        <p:spPr>
          <a:xfrm>
            <a:off x="3502007" y="3406185"/>
            <a:ext cx="6311900" cy="3605925"/>
          </a:xfrm>
          <a:prstGeom prst="rect">
            <a:avLst/>
          </a:prstGeom>
          <a:noFill/>
          <a:ln>
            <a:noFill/>
          </a:ln>
        </p:spPr>
      </p:pic>
      <p:pic>
        <p:nvPicPr>
          <p:cNvPr id="592" name="Google Shape;592;g3c8e77668ec_0_66"/>
          <p:cNvPicPr preferRelativeResize="0"/>
          <p:nvPr/>
        </p:nvPicPr>
        <p:blipFill>
          <a:blip r:embed="rId4">
            <a:alphaModFix/>
          </a:blip>
          <a:stretch>
            <a:fillRect/>
          </a:stretch>
        </p:blipFill>
        <p:spPr>
          <a:xfrm>
            <a:off x="3192775" y="0"/>
            <a:ext cx="4423301" cy="3535601"/>
          </a:xfrm>
          <a:prstGeom prst="rect">
            <a:avLst/>
          </a:prstGeom>
          <a:noFill/>
          <a:ln>
            <a:noFill/>
          </a:ln>
        </p:spPr>
      </p:pic>
      <p:sp>
        <p:nvSpPr>
          <p:cNvPr id="593" name="Google Shape;593;g3c8e77668ec_0_66"/>
          <p:cNvSpPr txBox="1"/>
          <p:nvPr>
            <p:ph type="title"/>
          </p:nvPr>
        </p:nvSpPr>
        <p:spPr>
          <a:xfrm>
            <a:off x="350350" y="0"/>
            <a:ext cx="3189600" cy="113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DEEP SURV(3)-SHAP</a:t>
            </a:r>
            <a:endParaRPr/>
          </a:p>
        </p:txBody>
      </p:sp>
      <p:graphicFrame>
        <p:nvGraphicFramePr>
          <p:cNvPr id="594" name="Google Shape;594;g3c8e77668ec_0_66"/>
          <p:cNvGraphicFramePr/>
          <p:nvPr/>
        </p:nvGraphicFramePr>
        <p:xfrm>
          <a:off x="9621652" y="3491514"/>
          <a:ext cx="3000000" cy="3000000"/>
        </p:xfrm>
        <a:graphic>
          <a:graphicData uri="http://schemas.openxmlformats.org/drawingml/2006/table">
            <a:tbl>
              <a:tblPr>
                <a:solidFill>
                  <a:srgbClr val="FFFFFF"/>
                </a:solidFill>
                <a:tableStyleId>{DBD46C37-D01B-4F45-941C-DAD3E01F40E0}</a:tableStyleId>
              </a:tblPr>
              <a:tblGrid>
                <a:gridCol w="685575"/>
                <a:gridCol w="728700"/>
                <a:gridCol w="1081900"/>
              </a:tblGrid>
              <a:tr h="49000">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Time Horizon (months)</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Baseline Risk (Death)</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Baseline Risk (Readmission)</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3 </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0.14%</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0.77%</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0.34%</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2.44%</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12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0.70%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6.88%</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36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2.37%</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18.76%</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60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4.18%</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24.50%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72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5.00%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26.45%</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84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5.93%</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28.09%</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96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6.71%</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29.32%</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r>
            </a:tbl>
          </a:graphicData>
        </a:graphic>
      </p:graphicFrame>
      <p:pic>
        <p:nvPicPr>
          <p:cNvPr id="595" name="Google Shape;595;g3c8e77668ec_0_66"/>
          <p:cNvPicPr preferRelativeResize="0"/>
          <p:nvPr/>
        </p:nvPicPr>
        <p:blipFill>
          <a:blip r:embed="rId5">
            <a:alphaModFix/>
          </a:blip>
          <a:stretch>
            <a:fillRect/>
          </a:stretch>
        </p:blipFill>
        <p:spPr>
          <a:xfrm>
            <a:off x="7541933" y="109625"/>
            <a:ext cx="4650056" cy="2974401"/>
          </a:xfrm>
          <a:prstGeom prst="rect">
            <a:avLst/>
          </a:prstGeom>
          <a:noFill/>
          <a:ln>
            <a:noFill/>
          </a:ln>
        </p:spPr>
      </p:pic>
      <p:sp>
        <p:nvSpPr>
          <p:cNvPr id="596" name="Google Shape;596;g3c8e77668ec_0_66"/>
          <p:cNvSpPr txBox="1"/>
          <p:nvPr>
            <p:ph idx="2" type="body"/>
          </p:nvPr>
        </p:nvSpPr>
        <p:spPr>
          <a:xfrm>
            <a:off x="0" y="1003650"/>
            <a:ext cx="4099200" cy="5725200"/>
          </a:xfrm>
          <a:prstGeom prst="rect">
            <a:avLst/>
          </a:prstGeom>
          <a:noFill/>
          <a:ln>
            <a:noFill/>
          </a:ln>
        </p:spPr>
        <p:txBody>
          <a:bodyPr anchorCtr="0" anchor="ctr" bIns="45700" lIns="91425" spcFirstLastPara="1" rIns="91425" wrap="square" tIns="45700">
            <a:normAutofit fontScale="92500" lnSpcReduction="20000"/>
          </a:bodyPr>
          <a:lstStyle/>
          <a:p>
            <a:pPr indent="0" lvl="0" marL="0" marR="381000" rtl="0" algn="l">
              <a:lnSpc>
                <a:spcPct val="115000"/>
              </a:lnSpc>
              <a:spcBef>
                <a:spcPts val="0"/>
              </a:spcBef>
              <a:spcAft>
                <a:spcPts val="0"/>
              </a:spcAft>
              <a:buNone/>
            </a:pPr>
            <a:r>
              <a:rPr b="1" lang="en-US" sz="1400"/>
              <a:t>MORTALIDAD</a:t>
            </a:r>
            <a:endParaRPr b="1" sz="1400"/>
          </a:p>
          <a:p>
            <a:pPr indent="0" lvl="0" marL="0" marR="381000" rtl="0" algn="l">
              <a:lnSpc>
                <a:spcPct val="115000"/>
              </a:lnSpc>
              <a:spcBef>
                <a:spcPts val="0"/>
              </a:spcBef>
              <a:spcAft>
                <a:spcPts val="0"/>
              </a:spcAft>
              <a:buNone/>
            </a:pPr>
            <a:r>
              <a:rPr lang="en-US" sz="1400"/>
              <a:t>Se eligió 5 años, pero podría considerarse otro horizonte.</a:t>
            </a:r>
            <a:endParaRPr sz="1400"/>
          </a:p>
          <a:p>
            <a:pPr indent="0" lvl="0" marL="0" marR="381000" rtl="0" algn="l">
              <a:lnSpc>
                <a:spcPct val="115000"/>
              </a:lnSpc>
              <a:spcBef>
                <a:spcPts val="0"/>
              </a:spcBef>
              <a:spcAft>
                <a:spcPts val="0"/>
              </a:spcAft>
              <a:buNone/>
            </a:pPr>
            <a:r>
              <a:rPr b="1" lang="en-US" sz="1400"/>
              <a:t>Influencia</a:t>
            </a:r>
            <a:r>
              <a:rPr lang="en-US" sz="1400"/>
              <a:t>:</a:t>
            </a:r>
            <a:endParaRPr sz="1400"/>
          </a:p>
          <a:p>
            <a:pPr indent="-310832" lvl="0" marL="457200" marR="381000" rtl="0" algn="l">
              <a:lnSpc>
                <a:spcPct val="115000"/>
              </a:lnSpc>
              <a:spcBef>
                <a:spcPts val="0"/>
              </a:spcBef>
              <a:spcAft>
                <a:spcPts val="0"/>
              </a:spcAft>
              <a:buSzPct val="100000"/>
              <a:buChar char="-"/>
            </a:pPr>
            <a:r>
              <a:rPr lang="en-US" sz="1400"/>
              <a:t>Edad y alcohol como sus. principal</a:t>
            </a:r>
            <a:endParaRPr sz="1400"/>
          </a:p>
          <a:p>
            <a:pPr indent="-310832" lvl="0" marL="457200" marR="381000" rtl="0" algn="l">
              <a:lnSpc>
                <a:spcPct val="115000"/>
              </a:lnSpc>
              <a:spcBef>
                <a:spcPts val="0"/>
              </a:spcBef>
              <a:spcAft>
                <a:spcPts val="0"/>
              </a:spcAft>
              <a:buSzPct val="100000"/>
              <a:buChar char="-"/>
            </a:pPr>
            <a:r>
              <a:rPr lang="en-US" sz="1400"/>
              <a:t>Motivo de alta (administratia; disciplinaria/violacion normas; dropout= protector vs. alta adm.)</a:t>
            </a:r>
            <a:endParaRPr sz="1400"/>
          </a:p>
          <a:p>
            <a:pPr indent="-310832" lvl="0" marL="457200" marR="381000" rtl="0" algn="l">
              <a:lnSpc>
                <a:spcPct val="115000"/>
              </a:lnSpc>
              <a:spcBef>
                <a:spcPts val="0"/>
              </a:spcBef>
              <a:spcAft>
                <a:spcPts val="0"/>
              </a:spcAft>
              <a:buSzPct val="100000"/>
              <a:buChar char="-"/>
            </a:pPr>
            <a:r>
              <a:rPr lang="en-US" sz="1400"/>
              <a:t>Mujer (influencia protectora, pero no es un driver central)</a:t>
            </a:r>
            <a:endParaRPr sz="1400"/>
          </a:p>
          <a:p>
            <a:pPr indent="-310832" lvl="0" marL="457200" marR="381000" rtl="0" algn="l">
              <a:lnSpc>
                <a:spcPct val="115000"/>
              </a:lnSpc>
              <a:spcBef>
                <a:spcPts val="0"/>
              </a:spcBef>
              <a:spcAft>
                <a:spcPts val="0"/>
              </a:spcAft>
              <a:buSzPct val="100000"/>
              <a:buChar char="-"/>
            </a:pPr>
            <a:r>
              <a:rPr lang="en-US" sz="1400"/>
              <a:t>Dg. psiquiátrico en estudio</a:t>
            </a:r>
            <a:endParaRPr sz="1400"/>
          </a:p>
          <a:p>
            <a:pPr indent="-310832" lvl="0" marL="457200" marR="381000" rtl="0" algn="l">
              <a:lnSpc>
                <a:spcPct val="115000"/>
              </a:lnSpc>
              <a:spcBef>
                <a:spcPts val="0"/>
              </a:spcBef>
              <a:spcAft>
                <a:spcPts val="0"/>
              </a:spcAft>
              <a:buSzPct val="100000"/>
              <a:buChar char="-"/>
            </a:pPr>
            <a:r>
              <a:rPr lang="en-US" sz="1400"/>
              <a:t>Trno. mental severo; ttrno. personalidad: mixto</a:t>
            </a:r>
            <a:endParaRPr sz="1400"/>
          </a:p>
          <a:p>
            <a:pPr indent="-310832" lvl="0" marL="457200" marR="381000" rtl="0" algn="l">
              <a:lnSpc>
                <a:spcPct val="115000"/>
              </a:lnSpc>
              <a:spcBef>
                <a:spcPts val="0"/>
              </a:spcBef>
              <a:spcAft>
                <a:spcPts val="0"/>
              </a:spcAft>
              <a:buSzPct val="100000"/>
              <a:buChar char="-"/>
            </a:pPr>
            <a:r>
              <a:rPr lang="en-US" sz="1400"/>
              <a:t>Trnos. del ánimo, protector leve</a:t>
            </a:r>
            <a:endParaRPr sz="1400"/>
          </a:p>
          <a:p>
            <a:pPr indent="-310832" lvl="0" marL="457200" marR="381000" rtl="0" algn="l">
              <a:lnSpc>
                <a:spcPct val="115000"/>
              </a:lnSpc>
              <a:spcBef>
                <a:spcPts val="0"/>
              </a:spcBef>
              <a:spcAft>
                <a:spcPts val="0"/>
              </a:spcAft>
              <a:buSzPct val="100000"/>
              <a:buChar char="-"/>
            </a:pPr>
            <a:r>
              <a:rPr lang="en-US" sz="1400"/>
              <a:t>Inactivos y Desempleo (occ_cond), no tan influyentes como edad o comorbilidad</a:t>
            </a:r>
            <a:endParaRPr sz="1400"/>
          </a:p>
          <a:p>
            <a:pPr indent="-310832" lvl="0" marL="457200" marR="381000" rtl="0" algn="l">
              <a:lnSpc>
                <a:spcPct val="115000"/>
              </a:lnSpc>
              <a:spcBef>
                <a:spcPts val="0"/>
              </a:spcBef>
              <a:spcAft>
                <a:spcPts val="0"/>
              </a:spcAft>
              <a:buSzPct val="100000"/>
              <a:buChar char="-"/>
            </a:pPr>
            <a:r>
              <a:rPr lang="en-US" sz="1400"/>
              <a:t>Marital status (single)</a:t>
            </a:r>
            <a:endParaRPr sz="1400"/>
          </a:p>
          <a:p>
            <a:pPr indent="-310832" lvl="0" marL="457200" marR="381000" rtl="0" algn="l">
              <a:lnSpc>
                <a:spcPct val="115000"/>
              </a:lnSpc>
              <a:spcBef>
                <a:spcPts val="0"/>
              </a:spcBef>
              <a:spcAft>
                <a:spcPts val="0"/>
              </a:spcAft>
              <a:buSzPct val="100000"/>
              <a:buChar char="-"/>
            </a:pPr>
            <a:r>
              <a:rPr lang="en-US" sz="1400"/>
              <a:t>Vivir con hijos/pareja, protector</a:t>
            </a:r>
            <a:endParaRPr sz="1400"/>
          </a:p>
          <a:p>
            <a:pPr indent="-310832" lvl="0" marL="457200" marR="381000" rtl="0" algn="l">
              <a:lnSpc>
                <a:spcPct val="115000"/>
              </a:lnSpc>
              <a:spcBef>
                <a:spcPts val="0"/>
              </a:spcBef>
              <a:spcAft>
                <a:spcPts val="0"/>
              </a:spcAft>
              <a:buSzPct val="100000"/>
              <a:buChar char="-"/>
            </a:pPr>
            <a:r>
              <a:rPr lang="en-US" sz="1400"/>
              <a:t>Pobreza multidimensional</a:t>
            </a:r>
            <a:endParaRPr sz="1400"/>
          </a:p>
          <a:p>
            <a:pPr indent="-310832" lvl="0" marL="457200" marR="381000" rtl="0" algn="l">
              <a:lnSpc>
                <a:spcPct val="115000"/>
              </a:lnSpc>
              <a:spcBef>
                <a:spcPts val="0"/>
              </a:spcBef>
              <a:spcAft>
                <a:spcPts val="0"/>
              </a:spcAft>
              <a:buSzPct val="100000"/>
              <a:buChar char="-"/>
            </a:pPr>
            <a:r>
              <a:rPr lang="en-US" sz="1400"/>
              <a:t>La inestabilidad habitacional aumenta el riesgo (tenure_status_household).</a:t>
            </a:r>
            <a:endParaRPr sz="1400"/>
          </a:p>
          <a:p>
            <a:pPr indent="-310832" lvl="0" marL="457200" marR="381000" rtl="0" algn="l">
              <a:lnSpc>
                <a:spcPct val="115000"/>
              </a:lnSpc>
              <a:spcBef>
                <a:spcPts val="0"/>
              </a:spcBef>
              <a:spcAft>
                <a:spcPts val="0"/>
              </a:spcAft>
              <a:buSzPct val="100000"/>
              <a:buChar char="-"/>
            </a:pPr>
            <a:r>
              <a:rPr lang="en-US" sz="1400"/>
              <a:t>Ev. al egreso, físico &amp; Cualquier dg. físico</a:t>
            </a:r>
            <a:endParaRPr sz="1400"/>
          </a:p>
          <a:p>
            <a:pPr indent="-310832" lvl="0" marL="457200" marR="381000" rtl="0" algn="l">
              <a:lnSpc>
                <a:spcPct val="115000"/>
              </a:lnSpc>
              <a:spcBef>
                <a:spcPts val="0"/>
              </a:spcBef>
              <a:spcAft>
                <a:spcPts val="0"/>
              </a:spcAft>
              <a:buSzPct val="100000"/>
              <a:buChar char="-"/>
            </a:pPr>
            <a:r>
              <a:rPr lang="en-US" sz="1400"/>
              <a:t>Variables tienden a ser más consistentes hasta el año (menor variabilidad valores SHAP)</a:t>
            </a:r>
            <a:endParaRPr sz="1400"/>
          </a:p>
          <a:p>
            <a:pPr indent="0" lvl="0" marL="0" marR="381000" rtl="0" algn="l">
              <a:lnSpc>
                <a:spcPct val="115000"/>
              </a:lnSpc>
              <a:spcBef>
                <a:spcPts val="0"/>
              </a:spcBef>
              <a:spcAft>
                <a:spcPts val="0"/>
              </a:spcAft>
              <a:buNone/>
            </a:pPr>
            <a:r>
              <a:t/>
            </a:r>
            <a:endParaRPr sz="1400"/>
          </a:p>
          <a:p>
            <a:pPr indent="-310832" lvl="0" marL="457200" marR="381000" rtl="0" algn="l">
              <a:lnSpc>
                <a:spcPct val="115000"/>
              </a:lnSpc>
              <a:spcBef>
                <a:spcPts val="0"/>
              </a:spcBef>
              <a:spcAft>
                <a:spcPts val="0"/>
              </a:spcAft>
              <a:buSzPct val="100000"/>
              <a:buChar char="-"/>
            </a:pPr>
            <a:r>
              <a:rPr lang="en-US" sz="1400"/>
              <a:t>Policonsumo, influencia mixta</a:t>
            </a:r>
            <a:endParaRPr sz="1400"/>
          </a:p>
          <a:p>
            <a:pPr indent="-310832" lvl="0" marL="457200" marR="381000" rtl="0" algn="l">
              <a:lnSpc>
                <a:spcPct val="115000"/>
              </a:lnSpc>
              <a:spcBef>
                <a:spcPts val="0"/>
              </a:spcBef>
              <a:spcAft>
                <a:spcPts val="0"/>
              </a:spcAft>
              <a:buSzPct val="100000"/>
              <a:buChar char="-"/>
            </a:pPr>
            <a:r>
              <a:rPr lang="en-US" sz="1400"/>
              <a:t>Cualquier violencia: puede no ser lineal</a:t>
            </a:r>
            <a:endParaRPr sz="1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g3c8e77668ec_0_85"/>
          <p:cNvPicPr preferRelativeResize="0"/>
          <p:nvPr/>
        </p:nvPicPr>
        <p:blipFill>
          <a:blip r:embed="rId3">
            <a:alphaModFix/>
          </a:blip>
          <a:stretch>
            <a:fillRect/>
          </a:stretch>
        </p:blipFill>
        <p:spPr>
          <a:xfrm>
            <a:off x="3851141" y="3212274"/>
            <a:ext cx="6129413" cy="3501675"/>
          </a:xfrm>
          <a:prstGeom prst="rect">
            <a:avLst/>
          </a:prstGeom>
          <a:noFill/>
          <a:ln>
            <a:noFill/>
          </a:ln>
        </p:spPr>
      </p:pic>
      <p:sp>
        <p:nvSpPr>
          <p:cNvPr id="603" name="Google Shape;603;g3c8e77668ec_0_85"/>
          <p:cNvSpPr txBox="1"/>
          <p:nvPr>
            <p:ph type="title"/>
          </p:nvPr>
        </p:nvSpPr>
        <p:spPr>
          <a:xfrm>
            <a:off x="350350" y="0"/>
            <a:ext cx="3189600" cy="113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a:t>DEEP SURV(4)-SHAP</a:t>
            </a:r>
            <a:endParaRPr/>
          </a:p>
        </p:txBody>
      </p:sp>
      <p:graphicFrame>
        <p:nvGraphicFramePr>
          <p:cNvPr id="604" name="Google Shape;604;g3c8e77668ec_0_85"/>
          <p:cNvGraphicFramePr/>
          <p:nvPr/>
        </p:nvGraphicFramePr>
        <p:xfrm>
          <a:off x="9621652" y="3491514"/>
          <a:ext cx="3000000" cy="3000000"/>
        </p:xfrm>
        <a:graphic>
          <a:graphicData uri="http://schemas.openxmlformats.org/drawingml/2006/table">
            <a:tbl>
              <a:tblPr>
                <a:solidFill>
                  <a:srgbClr val="FFFFFF"/>
                </a:solidFill>
                <a:tableStyleId>{DBD46C37-D01B-4F45-941C-DAD3E01F40E0}</a:tableStyleId>
              </a:tblPr>
              <a:tblGrid>
                <a:gridCol w="685575"/>
                <a:gridCol w="728700"/>
                <a:gridCol w="1081900"/>
              </a:tblGrid>
              <a:tr h="49000">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Time Horizon (months)</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Baseline Risk (Death)</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250">
                          <a:solidFill>
                            <a:srgbClr val="FFFFFF"/>
                          </a:solidFill>
                          <a:highlight>
                            <a:srgbClr val="0070C0"/>
                          </a:highlight>
                          <a:latin typeface="Roboto"/>
                          <a:ea typeface="Roboto"/>
                          <a:cs typeface="Roboto"/>
                          <a:sym typeface="Roboto"/>
                        </a:rPr>
                        <a:t>Baseline Risk (Readmission)</a:t>
                      </a:r>
                      <a:endParaRPr b="1" sz="1250">
                        <a:solidFill>
                          <a:srgbClr val="FFFFFF"/>
                        </a:solidFill>
                        <a:highlight>
                          <a:srgbClr val="0070C0"/>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a:solidFill>
                        <a:srgbClr val="D6D6D6"/>
                      </a:solidFill>
                      <a:prstDash val="solid"/>
                      <a:round/>
                      <a:headEnd len="sm" w="sm" type="none"/>
                      <a:tailEnd len="sm" w="sm" type="none"/>
                    </a:lnB>
                    <a:solidFill>
                      <a:schemeClr val="accent1"/>
                    </a:solidFill>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3 </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0.14%</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0.77%</a:t>
                      </a:r>
                      <a:endParaRPr sz="1250">
                        <a:solidFill>
                          <a:srgbClr val="333333"/>
                        </a:solidFill>
                        <a:highlight>
                          <a:srgbClr val="FFFFFF"/>
                        </a:highlight>
                        <a:latin typeface="Roboto"/>
                        <a:ea typeface="Roboto"/>
                        <a:cs typeface="Roboto"/>
                        <a:sym typeface="Roboto"/>
                      </a:endParaRPr>
                    </a:p>
                  </a:txBody>
                  <a:tcPr marT="0" marB="0" marR="0" marL="0">
                    <a:lnT cap="flat" cmpd="sng">
                      <a:solidFill>
                        <a:srgbClr val="D6D6D6"/>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0.34%</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2.44%</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12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0.70%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6.88%</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36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2.37%</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18.76%</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60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4.18%</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24.50%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72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5.00%</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26.45%</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84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5.93%</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28.09%</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tcPr>
                </a:tc>
              </a:tr>
              <a:tr h="219575">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96 </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6.71%</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c>
                  <a:txBody>
                    <a:bodyPr/>
                    <a:lstStyle/>
                    <a:p>
                      <a:pPr indent="0" lvl="0" marL="0" rtl="0" algn="ctr">
                        <a:lnSpc>
                          <a:spcPct val="115000"/>
                        </a:lnSpc>
                        <a:spcBef>
                          <a:spcPts val="0"/>
                        </a:spcBef>
                        <a:spcAft>
                          <a:spcPts val="0"/>
                        </a:spcAft>
                        <a:buNone/>
                      </a:pPr>
                      <a:r>
                        <a:rPr lang="en-US" sz="1250">
                          <a:solidFill>
                            <a:srgbClr val="333333"/>
                          </a:solidFill>
                          <a:highlight>
                            <a:srgbClr val="FFFFFF"/>
                          </a:highlight>
                          <a:latin typeface="Roboto"/>
                          <a:ea typeface="Roboto"/>
                          <a:cs typeface="Roboto"/>
                          <a:sym typeface="Roboto"/>
                        </a:rPr>
                        <a:t>29.32%</a:t>
                      </a:r>
                      <a:endParaRPr sz="1250">
                        <a:solidFill>
                          <a:srgbClr val="333333"/>
                        </a:solidFill>
                        <a:highlight>
                          <a:srgbClr val="FFFFFF"/>
                        </a:highlight>
                        <a:latin typeface="Roboto"/>
                        <a:ea typeface="Roboto"/>
                        <a:cs typeface="Roboto"/>
                        <a:sym typeface="Roboto"/>
                      </a:endParaRPr>
                    </a:p>
                  </a:txBody>
                  <a:tcPr marT="0" marB="0" marR="0" marL="0">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4F6F9"/>
                    </a:solidFill>
                  </a:tcPr>
                </a:tc>
              </a:tr>
            </a:tbl>
          </a:graphicData>
        </a:graphic>
      </p:graphicFrame>
      <p:sp>
        <p:nvSpPr>
          <p:cNvPr id="605" name="Google Shape;605;g3c8e77668ec_0_85"/>
          <p:cNvSpPr txBox="1"/>
          <p:nvPr>
            <p:ph idx="2" type="body"/>
          </p:nvPr>
        </p:nvSpPr>
        <p:spPr>
          <a:xfrm>
            <a:off x="14832" y="1298352"/>
            <a:ext cx="4099200" cy="5415600"/>
          </a:xfrm>
          <a:prstGeom prst="rect">
            <a:avLst/>
          </a:prstGeom>
          <a:noFill/>
          <a:ln>
            <a:noFill/>
          </a:ln>
        </p:spPr>
        <p:txBody>
          <a:bodyPr anchorCtr="0" anchor="ctr" bIns="45700" lIns="91425" spcFirstLastPara="1" rIns="91425" wrap="square" tIns="45700">
            <a:normAutofit lnSpcReduction="10000"/>
          </a:bodyPr>
          <a:lstStyle/>
          <a:p>
            <a:pPr indent="0" lvl="0" marL="0" marR="381000" rtl="0" algn="l">
              <a:lnSpc>
                <a:spcPct val="115000"/>
              </a:lnSpc>
              <a:spcBef>
                <a:spcPts val="0"/>
              </a:spcBef>
              <a:spcAft>
                <a:spcPts val="0"/>
              </a:spcAft>
              <a:buNone/>
            </a:pPr>
            <a:r>
              <a:rPr b="1" lang="en-US" sz="1400"/>
              <a:t>READMISION</a:t>
            </a:r>
            <a:endParaRPr b="1" sz="1400"/>
          </a:p>
          <a:p>
            <a:pPr indent="0" lvl="0" marL="0" marR="381000" rtl="0" algn="l">
              <a:lnSpc>
                <a:spcPct val="115000"/>
              </a:lnSpc>
              <a:spcBef>
                <a:spcPts val="0"/>
              </a:spcBef>
              <a:spcAft>
                <a:spcPts val="0"/>
              </a:spcAft>
              <a:buNone/>
            </a:pPr>
            <a:r>
              <a:rPr lang="en-US" sz="1400"/>
              <a:t>Se eligió 5 años, pero podría considerarse otro horizonte.</a:t>
            </a:r>
            <a:endParaRPr sz="1400"/>
          </a:p>
          <a:p>
            <a:pPr indent="-317500" lvl="0" marL="457200" marR="381000" rtl="0" algn="l">
              <a:lnSpc>
                <a:spcPct val="115000"/>
              </a:lnSpc>
              <a:spcBef>
                <a:spcPts val="0"/>
              </a:spcBef>
              <a:spcAft>
                <a:spcPts val="0"/>
              </a:spcAft>
              <a:buSzPts val="1400"/>
              <a:buChar char="-"/>
            </a:pPr>
            <a:r>
              <a:rPr lang="en-US" sz="1400"/>
              <a:t>Tipo de lplan residencial (PG y M)</a:t>
            </a:r>
            <a:endParaRPr sz="1400"/>
          </a:p>
          <a:p>
            <a:pPr indent="-317500" lvl="0" marL="457200" marR="381000" rtl="0" algn="l">
              <a:lnSpc>
                <a:spcPct val="115000"/>
              </a:lnSpc>
              <a:spcBef>
                <a:spcPts val="0"/>
              </a:spcBef>
              <a:spcAft>
                <a:spcPts val="0"/>
              </a:spcAft>
              <a:buSzPts val="1400"/>
              <a:buChar char="-"/>
            </a:pPr>
            <a:r>
              <a:rPr lang="en-US" sz="1400"/>
              <a:t>Etnicidad (muy consistentea 3m)</a:t>
            </a:r>
            <a:endParaRPr sz="1400"/>
          </a:p>
          <a:p>
            <a:pPr indent="-317500" lvl="0" marL="457200" marR="381000" rtl="0" algn="l">
              <a:lnSpc>
                <a:spcPct val="115000"/>
              </a:lnSpc>
              <a:spcBef>
                <a:spcPts val="0"/>
              </a:spcBef>
              <a:spcAft>
                <a:spcPts val="0"/>
              </a:spcAft>
              <a:buSzPts val="1400"/>
              <a:buChar char="-"/>
            </a:pPr>
            <a:r>
              <a:rPr lang="en-US" sz="1400"/>
              <a:t>Mujer</a:t>
            </a:r>
            <a:endParaRPr sz="1400"/>
          </a:p>
          <a:p>
            <a:pPr indent="-317500" lvl="0" marL="457200" marR="381000" rtl="0" algn="l">
              <a:lnSpc>
                <a:spcPct val="115000"/>
              </a:lnSpc>
              <a:spcBef>
                <a:spcPts val="0"/>
              </a:spcBef>
              <a:spcAft>
                <a:spcPts val="0"/>
              </a:spcAft>
              <a:buSzPts val="1400"/>
              <a:buChar char="-"/>
            </a:pPr>
            <a:r>
              <a:rPr lang="en-US" sz="1400"/>
              <a:t>Alcohol/</a:t>
            </a:r>
            <a:r>
              <a:rPr lang="en-US" sz="1400"/>
              <a:t>Marihuana/Cocaina </a:t>
            </a:r>
            <a:r>
              <a:rPr lang="en-US" sz="1400"/>
              <a:t>como sus. principal (influencia negativa)</a:t>
            </a:r>
            <a:endParaRPr sz="1400"/>
          </a:p>
          <a:p>
            <a:pPr indent="-317500" lvl="0" marL="457200" marR="381000" rtl="0" algn="l">
              <a:lnSpc>
                <a:spcPct val="115000"/>
              </a:lnSpc>
              <a:spcBef>
                <a:spcPts val="0"/>
              </a:spcBef>
              <a:spcAft>
                <a:spcPts val="0"/>
              </a:spcAft>
              <a:buSzPts val="1400"/>
              <a:buChar char="-"/>
            </a:pPr>
            <a:r>
              <a:rPr lang="en-US" sz="1400"/>
              <a:t>Edad (</a:t>
            </a:r>
            <a:r>
              <a:rPr lang="en-US" sz="1400"/>
              <a:t>influencia negativa, con el tiempo adquiere más consistencia</a:t>
            </a:r>
            <a:r>
              <a:rPr lang="en-US" sz="1400"/>
              <a:t>)</a:t>
            </a:r>
            <a:endParaRPr sz="1400"/>
          </a:p>
          <a:p>
            <a:pPr indent="-317500" lvl="0" marL="457200" marR="381000" rtl="0" algn="l">
              <a:lnSpc>
                <a:spcPct val="115000"/>
              </a:lnSpc>
              <a:spcBef>
                <a:spcPts val="0"/>
              </a:spcBef>
              <a:spcAft>
                <a:spcPts val="0"/>
              </a:spcAft>
              <a:buSzPts val="1400"/>
              <a:buChar char="-"/>
            </a:pPr>
            <a:r>
              <a:rPr lang="en-US" sz="1400"/>
              <a:t>Niv. educacional (</a:t>
            </a:r>
            <a:r>
              <a:rPr lang="en-US" sz="1400"/>
              <a:t>influencia negativa</a:t>
            </a:r>
            <a:r>
              <a:rPr lang="en-US" sz="1400"/>
              <a:t>)</a:t>
            </a:r>
            <a:endParaRPr sz="1400"/>
          </a:p>
          <a:p>
            <a:pPr indent="-317500" lvl="0" marL="457200" marR="381000" rtl="0" algn="l">
              <a:lnSpc>
                <a:spcPct val="115000"/>
              </a:lnSpc>
              <a:spcBef>
                <a:spcPts val="0"/>
              </a:spcBef>
              <a:spcAft>
                <a:spcPts val="0"/>
              </a:spcAft>
              <a:buSzPts val="1400"/>
              <a:buChar char="-"/>
            </a:pPr>
            <a:r>
              <a:rPr lang="en-US" sz="1400"/>
              <a:t>Motivo de alta ( disciplinaria/violacion normas; dropout; derivación)</a:t>
            </a:r>
            <a:endParaRPr sz="1400"/>
          </a:p>
          <a:p>
            <a:pPr indent="-317500" lvl="0" marL="457200" marR="381000" rtl="0" algn="l">
              <a:lnSpc>
                <a:spcPct val="115000"/>
              </a:lnSpc>
              <a:spcBef>
                <a:spcPts val="0"/>
              </a:spcBef>
              <a:spcAft>
                <a:spcPts val="0"/>
              </a:spcAft>
              <a:buSzPts val="1400"/>
              <a:buChar char="-"/>
            </a:pPr>
            <a:r>
              <a:rPr lang="en-US" sz="1400"/>
              <a:t>Más días de tto. (influencia neg.)</a:t>
            </a:r>
            <a:endParaRPr sz="1400"/>
          </a:p>
          <a:p>
            <a:pPr indent="-317500" lvl="0" marL="457200" marR="381000" rtl="0" algn="l">
              <a:lnSpc>
                <a:spcPct val="115000"/>
              </a:lnSpc>
              <a:spcBef>
                <a:spcPts val="0"/>
              </a:spcBef>
              <a:spcAft>
                <a:spcPts val="0"/>
              </a:spcAft>
              <a:buSzPts val="1400"/>
              <a:buChar char="-"/>
            </a:pPr>
            <a:r>
              <a:rPr lang="en-US" sz="1400"/>
              <a:t>Dg. psiquiátrico</a:t>
            </a:r>
            <a:endParaRPr sz="1400"/>
          </a:p>
          <a:p>
            <a:pPr indent="-317500" lvl="0" marL="457200" marR="381000" rtl="0" algn="l">
              <a:lnSpc>
                <a:spcPct val="115000"/>
              </a:lnSpc>
              <a:spcBef>
                <a:spcPts val="0"/>
              </a:spcBef>
              <a:spcAft>
                <a:spcPts val="0"/>
              </a:spcAft>
              <a:buSzPts val="1400"/>
              <a:buChar char="-"/>
            </a:pPr>
            <a:r>
              <a:rPr lang="en-US" sz="1400"/>
              <a:t>Dependencia CIE-10</a:t>
            </a:r>
            <a:endParaRPr sz="1400"/>
          </a:p>
          <a:p>
            <a:pPr indent="-317500" lvl="0" marL="457200" marR="381000" rtl="0" algn="l">
              <a:lnSpc>
                <a:spcPct val="115000"/>
              </a:lnSpc>
              <a:spcBef>
                <a:spcPts val="0"/>
              </a:spcBef>
              <a:spcAft>
                <a:spcPts val="0"/>
              </a:spcAft>
              <a:buSzPts val="1400"/>
              <a:buChar char="-"/>
            </a:pPr>
            <a:r>
              <a:rPr lang="en-US" sz="1400"/>
              <a:t>Policonsumo</a:t>
            </a:r>
            <a:endParaRPr sz="1400"/>
          </a:p>
          <a:p>
            <a:pPr indent="-317500" lvl="0" marL="457200" marR="381000" rtl="0" algn="l">
              <a:lnSpc>
                <a:spcPct val="115000"/>
              </a:lnSpc>
              <a:spcBef>
                <a:spcPts val="0"/>
              </a:spcBef>
              <a:spcAft>
                <a:spcPts val="0"/>
              </a:spcAft>
              <a:buSzPts val="1400"/>
              <a:buChar char="-"/>
            </a:pPr>
            <a:r>
              <a:rPr lang="en-US" sz="1400"/>
              <a:t>Desempleo</a:t>
            </a:r>
            <a:endParaRPr sz="1400"/>
          </a:p>
          <a:p>
            <a:pPr indent="-317500" lvl="0" marL="457200" marR="381000" rtl="0" algn="l">
              <a:lnSpc>
                <a:spcPct val="115000"/>
              </a:lnSpc>
              <a:spcBef>
                <a:spcPts val="0"/>
              </a:spcBef>
              <a:spcAft>
                <a:spcPts val="0"/>
              </a:spcAft>
              <a:buSzPts val="1400"/>
              <a:buChar char="-"/>
            </a:pPr>
            <a:r>
              <a:rPr lang="en-US" sz="1400"/>
              <a:t>Pobreza comunal</a:t>
            </a:r>
            <a:endParaRPr sz="1400"/>
          </a:p>
          <a:p>
            <a:pPr indent="-317500" lvl="0" marL="457200" marR="381000" rtl="0" algn="l">
              <a:lnSpc>
                <a:spcPct val="115000"/>
              </a:lnSpc>
              <a:spcBef>
                <a:spcPts val="0"/>
              </a:spcBef>
              <a:spcAft>
                <a:spcPts val="0"/>
              </a:spcAft>
              <a:buSzPts val="1400"/>
              <a:buChar char="-"/>
            </a:pPr>
            <a:r>
              <a:rPr lang="en-US" sz="1400"/>
              <a:t>Dirección influencia fluctuante:</a:t>
            </a:r>
            <a:endParaRPr sz="1400"/>
          </a:p>
          <a:p>
            <a:pPr indent="-317500" lvl="1" marL="914400" marR="381000" rtl="0" algn="l">
              <a:lnSpc>
                <a:spcPct val="115000"/>
              </a:lnSpc>
              <a:spcBef>
                <a:spcPts val="0"/>
              </a:spcBef>
              <a:spcAft>
                <a:spcPts val="0"/>
              </a:spcAft>
              <a:buSzPts val="1400"/>
              <a:buChar char="-"/>
            </a:pPr>
            <a:r>
              <a:rPr lang="en-US"/>
              <a:t>Nacionalidad</a:t>
            </a:r>
            <a:endParaRPr/>
          </a:p>
          <a:p>
            <a:pPr indent="-317500" lvl="1" marL="914400" marR="381000" rtl="0" algn="l">
              <a:lnSpc>
                <a:spcPct val="115000"/>
              </a:lnSpc>
              <a:spcBef>
                <a:spcPts val="0"/>
              </a:spcBef>
              <a:spcAft>
                <a:spcPts val="0"/>
              </a:spcAft>
              <a:buSzPts val="1400"/>
              <a:buChar char="-"/>
            </a:pPr>
            <a:r>
              <a:rPr lang="en-US"/>
              <a:t>Estatus marital (Sep/div./viudez(</a:t>
            </a:r>
            <a:endParaRPr/>
          </a:p>
          <a:p>
            <a:pPr indent="0" lvl="0" marL="0" marR="381000" rtl="0" algn="l">
              <a:lnSpc>
                <a:spcPct val="115000"/>
              </a:lnSpc>
              <a:spcBef>
                <a:spcPts val="0"/>
              </a:spcBef>
              <a:spcAft>
                <a:spcPts val="0"/>
              </a:spcAft>
              <a:buNone/>
            </a:pPr>
            <a:r>
              <a:t/>
            </a:r>
            <a:endParaRPr sz="1400"/>
          </a:p>
        </p:txBody>
      </p:sp>
      <p:pic>
        <p:nvPicPr>
          <p:cNvPr id="606" name="Google Shape;606;g3c8e77668ec_0_85"/>
          <p:cNvPicPr preferRelativeResize="0"/>
          <p:nvPr/>
        </p:nvPicPr>
        <p:blipFill>
          <a:blip r:embed="rId4">
            <a:alphaModFix/>
          </a:blip>
          <a:stretch>
            <a:fillRect/>
          </a:stretch>
        </p:blipFill>
        <p:spPr>
          <a:xfrm>
            <a:off x="7688814" y="319632"/>
            <a:ext cx="4488356" cy="2971776"/>
          </a:xfrm>
          <a:prstGeom prst="rect">
            <a:avLst/>
          </a:prstGeom>
          <a:noFill/>
          <a:ln>
            <a:noFill/>
          </a:ln>
        </p:spPr>
      </p:pic>
      <p:pic>
        <p:nvPicPr>
          <p:cNvPr id="607" name="Google Shape;607;g3c8e77668ec_0_85"/>
          <p:cNvPicPr preferRelativeResize="0"/>
          <p:nvPr/>
        </p:nvPicPr>
        <p:blipFill>
          <a:blip r:embed="rId5">
            <a:alphaModFix/>
          </a:blip>
          <a:stretch>
            <a:fillRect/>
          </a:stretch>
        </p:blipFill>
        <p:spPr>
          <a:xfrm>
            <a:off x="3346850" y="0"/>
            <a:ext cx="4099200" cy="327657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c8e77668ec_0_95"/>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DEEP SURV(5)-SHAP Int</a:t>
            </a:r>
            <a:endParaRPr/>
          </a:p>
        </p:txBody>
      </p:sp>
      <p:sp>
        <p:nvSpPr>
          <p:cNvPr id="614" name="Google Shape;614;g3c8e77668ec_0_95"/>
          <p:cNvSpPr txBox="1"/>
          <p:nvPr>
            <p:ph idx="1" type="body"/>
          </p:nvPr>
        </p:nvSpPr>
        <p:spPr>
          <a:xfrm>
            <a:off x="5183200" y="232375"/>
            <a:ext cx="6172200" cy="64077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b="1" lang="en-US" sz="1600"/>
              <a:t>MORTALIDAD</a:t>
            </a:r>
            <a:endParaRPr b="1" sz="1600"/>
          </a:p>
          <a:p>
            <a:pPr indent="-330200" lvl="0" marL="457200" rtl="0" algn="l">
              <a:spcBef>
                <a:spcPts val="1000"/>
              </a:spcBef>
              <a:spcAft>
                <a:spcPts val="0"/>
              </a:spcAft>
              <a:buSzPts val="1600"/>
              <a:buChar char="-"/>
            </a:pPr>
            <a:r>
              <a:rPr b="1" lang="en-US" sz="1600"/>
              <a:t>Dg. com. física x Primera sustancia, Otras </a:t>
            </a:r>
            <a:r>
              <a:rPr lang="en-US" sz="1600"/>
              <a:t>(any_phys_dx × first_sub_used_other)</a:t>
            </a:r>
            <a:endParaRPr sz="1600"/>
          </a:p>
          <a:p>
            <a:pPr indent="-330200" lvl="0" marL="457200" rtl="0" algn="l">
              <a:spcBef>
                <a:spcPts val="0"/>
              </a:spcBef>
              <a:spcAft>
                <a:spcPts val="0"/>
              </a:spcAft>
              <a:buSzPts val="1600"/>
              <a:buChar char="-"/>
            </a:pPr>
            <a:r>
              <a:rPr lang="en-US" sz="1600"/>
              <a:t>Sexo mujer x Resultado tto. (tr_outcome_*)</a:t>
            </a:r>
            <a:endParaRPr sz="1600"/>
          </a:p>
          <a:p>
            <a:pPr indent="-330200" lvl="0" marL="457200" rtl="0" algn="l">
              <a:spcBef>
                <a:spcPts val="0"/>
              </a:spcBef>
              <a:spcAft>
                <a:spcPts val="0"/>
              </a:spcAft>
              <a:buSzPts val="1600"/>
              <a:buChar char="-"/>
            </a:pPr>
            <a:r>
              <a:rPr lang="en-US" sz="1600"/>
              <a:t>Condicion ocupacional (inactivo) x Plan PAI(M)</a:t>
            </a:r>
            <a:endParaRPr sz="1600"/>
          </a:p>
          <a:p>
            <a:pPr indent="-330200" lvl="0" marL="457200" rtl="0" algn="l">
              <a:spcBef>
                <a:spcPts val="0"/>
              </a:spcBef>
              <a:spcAft>
                <a:spcPts val="0"/>
              </a:spcAft>
              <a:buSzPts val="1600"/>
              <a:buChar char="-"/>
            </a:pPr>
            <a:r>
              <a:rPr lang="en-US" sz="1600"/>
              <a:t>Cualquier diagnostico físico x Cualquier dg. enfermedad mental  severa (any_phys_dx × dx_f_any_severe_mental)</a:t>
            </a:r>
            <a:endParaRPr sz="1600"/>
          </a:p>
          <a:p>
            <a:pPr indent="-330200" lvl="0" marL="457200" rtl="0" algn="l">
              <a:spcBef>
                <a:spcPts val="0"/>
              </a:spcBef>
              <a:spcAft>
                <a:spcPts val="0"/>
              </a:spcAft>
              <a:buSzPts val="1600"/>
              <a:buChar char="-"/>
            </a:pPr>
            <a:r>
              <a:rPr lang="en-US" sz="1600"/>
              <a:t>Edad ingreso x PAI(M)</a:t>
            </a:r>
            <a:endParaRPr sz="1600"/>
          </a:p>
          <a:p>
            <a:pPr indent="-330200" lvl="0" marL="457200" rtl="0" algn="l">
              <a:spcBef>
                <a:spcPts val="0"/>
              </a:spcBef>
              <a:spcAft>
                <a:spcPts val="0"/>
              </a:spcAft>
              <a:buSzPts val="1600"/>
              <a:buChar char="-"/>
            </a:pPr>
            <a:r>
              <a:rPr lang="en-US" sz="1600"/>
              <a:t>eva_relinterp × eva_fam × eva_consumo × evaluacion_proceso (cluster altamente correlacionado → interacción mecánica interna)</a:t>
            </a:r>
            <a:endParaRPr sz="1600"/>
          </a:p>
          <a:p>
            <a:pPr indent="0" lvl="0" marL="0" rtl="0" algn="l">
              <a:spcBef>
                <a:spcPts val="1000"/>
              </a:spcBef>
              <a:spcAft>
                <a:spcPts val="0"/>
              </a:spcAft>
              <a:buNone/>
            </a:pPr>
            <a:r>
              <a:rPr b="1" lang="en-US" sz="1600"/>
              <a:t>READMISION</a:t>
            </a:r>
            <a:endParaRPr b="1" sz="1600"/>
          </a:p>
          <a:p>
            <a:pPr indent="-330200" lvl="0" marL="457200" rtl="0" algn="l">
              <a:spcBef>
                <a:spcPts val="1000"/>
              </a:spcBef>
              <a:spcAft>
                <a:spcPts val="0"/>
              </a:spcAft>
              <a:buSzPts val="1600"/>
              <a:buChar char="-"/>
            </a:pPr>
            <a:r>
              <a:rPr lang="en-US" sz="1600"/>
              <a:t>Ethnicity x Primera sustancia, Otra</a:t>
            </a:r>
            <a:endParaRPr sz="1600"/>
          </a:p>
          <a:p>
            <a:pPr indent="-330200" lvl="0" marL="457200" rtl="0" algn="l">
              <a:spcBef>
                <a:spcPts val="0"/>
              </a:spcBef>
              <a:spcAft>
                <a:spcPts val="0"/>
              </a:spcAft>
              <a:buSzPts val="1600"/>
              <a:buChar char="-"/>
            </a:pPr>
            <a:r>
              <a:rPr lang="en-US" sz="1600"/>
              <a:t>Ethnicity x Cualquier enf. mental severa</a:t>
            </a:r>
            <a:endParaRPr sz="1600"/>
          </a:p>
          <a:p>
            <a:pPr indent="-330200" lvl="0" marL="457200" rtl="0" algn="l">
              <a:spcBef>
                <a:spcPts val="0"/>
              </a:spcBef>
              <a:spcAft>
                <a:spcPts val="0"/>
              </a:spcAft>
              <a:buSzPts val="1600"/>
              <a:buChar char="-"/>
            </a:pPr>
            <a:r>
              <a:rPr lang="en-US" sz="1600"/>
              <a:t>Sus. principal, Marihuana x Plan PAI (M)</a:t>
            </a:r>
            <a:endParaRPr sz="1600"/>
          </a:p>
          <a:p>
            <a:pPr indent="-330200" lvl="0" marL="457200" rtl="0" algn="l">
              <a:spcBef>
                <a:spcPts val="0"/>
              </a:spcBef>
              <a:spcAft>
                <a:spcPts val="0"/>
              </a:spcAft>
              <a:buSzPts val="1600"/>
              <a:buChar char="-"/>
            </a:pPr>
            <a:r>
              <a:rPr lang="en-US" sz="1600"/>
              <a:t>Sus. prin., Marihuana x Sus. inicial, Pasta base</a:t>
            </a:r>
            <a:endParaRPr sz="1600"/>
          </a:p>
          <a:p>
            <a:pPr indent="-330200" lvl="0" marL="457200" rtl="0" algn="l">
              <a:spcBef>
                <a:spcPts val="0"/>
              </a:spcBef>
              <a:spcAft>
                <a:spcPts val="0"/>
              </a:spcAft>
              <a:buSzPts val="1600"/>
              <a:buChar char="-"/>
            </a:pPr>
            <a:r>
              <a:rPr lang="en-US" sz="1600"/>
              <a:t>Referral x Sus. inicial, Otro</a:t>
            </a:r>
            <a:endParaRPr sz="1600"/>
          </a:p>
          <a:p>
            <a:pPr indent="-330200" lvl="0" marL="457200" rtl="0" algn="l">
              <a:spcBef>
                <a:spcPts val="0"/>
              </a:spcBef>
              <a:spcAft>
                <a:spcPts val="0"/>
              </a:spcAft>
              <a:buSzPts val="1600"/>
              <a:buChar char="-"/>
            </a:pPr>
            <a:r>
              <a:rPr lang="en-US" sz="1600"/>
              <a:t>Sus. principal, Cocaina x Sus. inicial, Otro</a:t>
            </a:r>
            <a:endParaRPr sz="1600"/>
          </a:p>
          <a:p>
            <a:pPr indent="-330200" lvl="0" marL="457200" rtl="0" algn="l">
              <a:spcBef>
                <a:spcPts val="0"/>
              </a:spcBef>
              <a:spcAft>
                <a:spcPts val="0"/>
              </a:spcAft>
              <a:buSzPts val="1600"/>
              <a:buChar char="-"/>
            </a:pPr>
            <a:r>
              <a:rPr lang="en-US" sz="1600"/>
              <a:t>Eva_ evaluaciones muy correlacionadas</a:t>
            </a:r>
            <a:endParaRPr sz="1600"/>
          </a:p>
          <a:p>
            <a:pPr indent="-330200" lvl="0" marL="457200" rtl="0" algn="l">
              <a:spcBef>
                <a:spcPts val="0"/>
              </a:spcBef>
              <a:spcAft>
                <a:spcPts val="0"/>
              </a:spcAft>
              <a:buSzPts val="1600"/>
              <a:buChar char="-"/>
            </a:pPr>
            <a:r>
              <a:rPr lang="en-US" sz="1600"/>
              <a:t>Severe Mental Illness × Referral</a:t>
            </a:r>
            <a:endParaRPr sz="1600"/>
          </a:p>
          <a:p>
            <a:pPr indent="-330200" lvl="0" marL="457200" rtl="0" algn="l">
              <a:spcBef>
                <a:spcPts val="0"/>
              </a:spcBef>
              <a:spcAft>
                <a:spcPts val="0"/>
              </a:spcAft>
              <a:buSzPts val="1600"/>
              <a:buChar char="-"/>
            </a:pPr>
            <a:r>
              <a:rPr lang="en-US" sz="1600"/>
              <a:t>Tipo de vivienda, desconoida x muchas (proxy de miss)</a:t>
            </a:r>
            <a:endParaRPr sz="1600"/>
          </a:p>
          <a:p>
            <a:pPr indent="-330200" lvl="0" marL="457200" rtl="0" algn="l">
              <a:spcBef>
                <a:spcPts val="0"/>
              </a:spcBef>
              <a:spcAft>
                <a:spcPts val="0"/>
              </a:spcAft>
              <a:buSzPts val="1600"/>
              <a:buChar char="-"/>
            </a:pPr>
            <a:r>
              <a:rPr lang="en-US" sz="1600"/>
              <a:t>Initial, Cocaine Paste × Primary Substance: Marijuana</a:t>
            </a:r>
            <a:endParaRPr sz="1600"/>
          </a:p>
          <a:p>
            <a:pPr indent="-330200" lvl="0" marL="457200" rtl="0" algn="l">
              <a:spcBef>
                <a:spcPts val="0"/>
              </a:spcBef>
              <a:spcAft>
                <a:spcPts val="0"/>
              </a:spcAft>
              <a:buSzPts val="1600"/>
              <a:buChar char="-"/>
            </a:pPr>
            <a:r>
              <a:rPr lang="en-US" sz="1600"/>
              <a:t>Admission Motive: Justice Sector × National/Foreign (OR) Tr_Outcome: Other (Posible artefacto)</a:t>
            </a:r>
            <a:endParaRPr sz="1600"/>
          </a:p>
          <a:p>
            <a:pPr indent="0" lvl="0" marL="0" rtl="0" algn="l">
              <a:spcBef>
                <a:spcPts val="1000"/>
              </a:spcBef>
              <a:spcAft>
                <a:spcPts val="0"/>
              </a:spcAft>
              <a:buNone/>
            </a:pPr>
            <a:r>
              <a:rPr lang="en-US" sz="1600"/>
              <a:t>AMBAS</a:t>
            </a:r>
            <a:endParaRPr sz="1600"/>
          </a:p>
          <a:p>
            <a:pPr indent="-330200" lvl="0" marL="457200" rtl="0" algn="l">
              <a:spcBef>
                <a:spcPts val="1000"/>
              </a:spcBef>
              <a:spcAft>
                <a:spcPts val="0"/>
              </a:spcAft>
              <a:buSzPts val="1600"/>
              <a:buChar char="-"/>
            </a:pPr>
            <a:r>
              <a:rPr lang="en-US" sz="1600"/>
              <a:t>National/Foreign × Administrative Discharge / Rule Violation (sospecha)</a:t>
            </a:r>
            <a:endParaRPr sz="16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id="620" name="Google Shape;620;g3941a8f2867_0_5"/>
          <p:cNvPicPr preferRelativeResize="0"/>
          <p:nvPr/>
        </p:nvPicPr>
        <p:blipFill>
          <a:blip r:embed="rId3">
            <a:alphaModFix/>
          </a:blip>
          <a:stretch>
            <a:fillRect/>
          </a:stretch>
        </p:blipFill>
        <p:spPr>
          <a:xfrm>
            <a:off x="5264547" y="152400"/>
            <a:ext cx="4119250" cy="3397675"/>
          </a:xfrm>
          <a:prstGeom prst="rect">
            <a:avLst/>
          </a:prstGeom>
          <a:noFill/>
          <a:ln>
            <a:noFill/>
          </a:ln>
        </p:spPr>
      </p:pic>
      <p:sp>
        <p:nvSpPr>
          <p:cNvPr id="621" name="Google Shape;621;g3941a8f2867_0_5"/>
          <p:cNvSpPr txBox="1"/>
          <p:nvPr>
            <p:ph type="title"/>
          </p:nvPr>
        </p:nvSpPr>
        <p:spPr>
          <a:xfrm>
            <a:off x="839788" y="249550"/>
            <a:ext cx="3932100" cy="1600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DEEP SURV(6)-SHAP Cont</a:t>
            </a:r>
            <a:endParaRPr/>
          </a:p>
        </p:txBody>
      </p:sp>
      <p:sp>
        <p:nvSpPr>
          <p:cNvPr id="622" name="Google Shape;622;g3941a8f2867_0_5"/>
          <p:cNvSpPr txBox="1"/>
          <p:nvPr>
            <p:ph idx="1" type="body"/>
          </p:nvPr>
        </p:nvSpPr>
        <p:spPr>
          <a:xfrm>
            <a:off x="232375" y="1849750"/>
            <a:ext cx="4939200" cy="4745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1600"/>
              <a:t>MORTALIDAD</a:t>
            </a:r>
            <a:endParaRPr b="1" sz="1600"/>
          </a:p>
          <a:p>
            <a:pPr indent="-330200" lvl="0" marL="457200" rtl="0" algn="l">
              <a:spcBef>
                <a:spcPts val="1000"/>
              </a:spcBef>
              <a:spcAft>
                <a:spcPts val="0"/>
              </a:spcAft>
              <a:buSzPts val="1600"/>
              <a:buChar char="-"/>
            </a:pPr>
            <a:r>
              <a:rPr b="1" lang="en-US" sz="1600"/>
              <a:t>A partir de los 36 meses, mayor edad aumenta el riesgo basal</a:t>
            </a:r>
            <a:endParaRPr sz="1600"/>
          </a:p>
          <a:p>
            <a:pPr indent="-330200" lvl="0" marL="457200" rtl="0" algn="l">
              <a:spcBef>
                <a:spcPts val="0"/>
              </a:spcBef>
              <a:spcAft>
                <a:spcPts val="0"/>
              </a:spcAft>
              <a:buSzPts val="1600"/>
              <a:buChar char="-"/>
            </a:pPr>
            <a:r>
              <a:rPr lang="en-US" sz="1600"/>
              <a:t>Edad= Término Lineal Continuo, pero incorporando un término deinteracción con el tiempo</a:t>
            </a:r>
            <a:endParaRPr sz="1600"/>
          </a:p>
          <a:p>
            <a:pPr indent="-330200" lvl="0" marL="457200" rtl="0" algn="l">
              <a:spcBef>
                <a:spcPts val="0"/>
              </a:spcBef>
              <a:spcAft>
                <a:spcPts val="0"/>
              </a:spcAft>
              <a:buSzPts val="1600"/>
              <a:buChar char="-"/>
            </a:pPr>
            <a:r>
              <a:rPr lang="en-US" sz="1600"/>
              <a:t>Días en tratamiento= transforamción log-lineal, o RCS con 3 nodos (ej., 7, 30, 90 días); si no, categorizar la variable (&lt;15 d, 15-30, &gt;30d)</a:t>
            </a:r>
            <a:endParaRPr sz="1600"/>
          </a:p>
          <a:p>
            <a:pPr indent="-330200" lvl="0" marL="457200" rtl="0" algn="l">
              <a:spcBef>
                <a:spcPts val="0"/>
              </a:spcBef>
              <a:spcAft>
                <a:spcPts val="0"/>
              </a:spcAft>
              <a:buSzPts val="1600"/>
              <a:buChar char="-"/>
            </a:pPr>
            <a:r>
              <a:rPr lang="en-US" sz="1600"/>
              <a:t>Porcentaje pobreza= umbral binario/</a:t>
            </a:r>
            <a:r>
              <a:rPr lang="en-US" sz="1600"/>
              <a:t>categórico (para contrarrestar cero-inflados estructurales); genera mucho riesgo de muerte  y (“previene” readmisión (obvio, si mueren, ojo con la estructura de riesgos y cel cause-specific cox en ese contexto)</a:t>
            </a:r>
            <a:endParaRPr sz="1600"/>
          </a:p>
          <a:p>
            <a:pPr indent="0" lvl="0" marL="0" rtl="0" algn="l">
              <a:spcBef>
                <a:spcPts val="1000"/>
              </a:spcBef>
              <a:spcAft>
                <a:spcPts val="0"/>
              </a:spcAft>
              <a:buNone/>
            </a:pPr>
            <a:r>
              <a:rPr b="1" lang="en-US" sz="1600"/>
              <a:t>READMISION</a:t>
            </a:r>
            <a:endParaRPr b="1" sz="1600"/>
          </a:p>
          <a:p>
            <a:pPr indent="-330200" lvl="0" marL="457200" rtl="0" algn="l">
              <a:spcBef>
                <a:spcPts val="1000"/>
              </a:spcBef>
              <a:spcAft>
                <a:spcPts val="0"/>
              </a:spcAft>
              <a:buSzPts val="1600"/>
              <a:buChar char="-"/>
            </a:pPr>
            <a:r>
              <a:rPr lang="en-US" sz="1600"/>
              <a:t>Pacientes mayores tienen menor riesgo de readmisión, con caídas del riesgo drásticas a los 60-96 meses (ojo con la censura)</a:t>
            </a:r>
            <a:endParaRPr sz="1600"/>
          </a:p>
        </p:txBody>
      </p:sp>
      <p:pic>
        <p:nvPicPr>
          <p:cNvPr id="623" name="Google Shape;623;g3941a8f2867_0_5"/>
          <p:cNvPicPr preferRelativeResize="0"/>
          <p:nvPr/>
        </p:nvPicPr>
        <p:blipFill>
          <a:blip r:embed="rId4">
            <a:alphaModFix/>
          </a:blip>
          <a:stretch>
            <a:fillRect/>
          </a:stretch>
        </p:blipFill>
        <p:spPr>
          <a:xfrm>
            <a:off x="7900572" y="3381000"/>
            <a:ext cx="4030625" cy="3324599"/>
          </a:xfrm>
          <a:prstGeom prst="rect">
            <a:avLst/>
          </a:prstGeom>
          <a:noFill/>
          <a:ln>
            <a:noFill/>
          </a:ln>
        </p:spPr>
      </p:pic>
      <p:pic>
        <p:nvPicPr>
          <p:cNvPr id="624" name="Google Shape;624;g3941a8f2867_0_5"/>
          <p:cNvPicPr preferRelativeResize="0"/>
          <p:nvPr/>
        </p:nvPicPr>
        <p:blipFill>
          <a:blip r:embed="rId5">
            <a:alphaModFix/>
          </a:blip>
          <a:stretch>
            <a:fillRect/>
          </a:stretch>
        </p:blipFill>
        <p:spPr>
          <a:xfrm>
            <a:off x="9476772" y="627025"/>
            <a:ext cx="2503404" cy="2224704"/>
          </a:xfrm>
          <a:prstGeom prst="rect">
            <a:avLst/>
          </a:prstGeom>
          <a:noFill/>
          <a:ln>
            <a:noFill/>
          </a:ln>
        </p:spPr>
      </p:pic>
      <p:pic>
        <p:nvPicPr>
          <p:cNvPr id="625" name="Google Shape;625;g3941a8f2867_0_5"/>
          <p:cNvPicPr preferRelativeResize="0"/>
          <p:nvPr/>
        </p:nvPicPr>
        <p:blipFill>
          <a:blip r:embed="rId6">
            <a:alphaModFix/>
          </a:blip>
          <a:stretch>
            <a:fillRect/>
          </a:stretch>
        </p:blipFill>
        <p:spPr>
          <a:xfrm>
            <a:off x="5264550" y="4028800"/>
            <a:ext cx="2424197" cy="215431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4"/>
          <p:cNvSpPr txBox="1"/>
          <p:nvPr>
            <p:ph type="title"/>
          </p:nvPr>
        </p:nvSpPr>
        <p:spPr>
          <a:xfrm>
            <a:off x="220175" y="165750"/>
            <a:ext cx="5799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Comparación modelos</a:t>
            </a:r>
            <a:endParaRPr/>
          </a:p>
        </p:txBody>
      </p:sp>
      <p:graphicFrame>
        <p:nvGraphicFramePr>
          <p:cNvPr id="632" name="Google Shape;632;p24"/>
          <p:cNvGraphicFramePr/>
          <p:nvPr/>
        </p:nvGraphicFramePr>
        <p:xfrm>
          <a:off x="0" y="1491450"/>
          <a:ext cx="3000000" cy="3000000"/>
        </p:xfrm>
        <a:graphic>
          <a:graphicData uri="http://schemas.openxmlformats.org/drawingml/2006/table">
            <a:tbl>
              <a:tblPr>
                <a:noFill/>
                <a:tableStyleId>{DBD46C37-D01B-4F45-941C-DAD3E01F40E0}</a:tableStyleId>
              </a:tblPr>
              <a:tblGrid>
                <a:gridCol w="1200150"/>
                <a:gridCol w="1257300"/>
                <a:gridCol w="790575"/>
                <a:gridCol w="1647825"/>
                <a:gridCol w="1133475"/>
                <a:gridCol w="1057275"/>
                <a:gridCol w="5000625"/>
              </a:tblGrid>
              <a:tr h="523875">
                <a:tc>
                  <a:txBody>
                    <a:bodyPr/>
                    <a:lstStyle/>
                    <a:p>
                      <a:pPr indent="0" lvl="0" marL="0" rtl="0" algn="l">
                        <a:lnSpc>
                          <a:spcPct val="115000"/>
                        </a:lnSpc>
                        <a:spcBef>
                          <a:spcPts val="0"/>
                        </a:spcBef>
                        <a:spcAft>
                          <a:spcPts val="0"/>
                        </a:spcAft>
                        <a:buNone/>
                      </a:pPr>
                      <a:r>
                        <a:rPr b="1" lang="en-US" sz="1100">
                          <a:solidFill>
                            <a:srgbClr val="1F1F1F"/>
                          </a:solidFill>
                        </a:rPr>
                        <a:t>Outcome</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Metric (Global)</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CoxNet</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XGBoost (Optuna + Bootstrap optimism correction)</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DeepSurv</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DeepHit</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Final Verdict</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solidFill>
                      <a:srgbClr val="EFEFEF"/>
                    </a:solidFill>
                  </a:tcPr>
                </a:tc>
              </a:tr>
              <a:tr h="704850">
                <a:tc>
                  <a:txBody>
                    <a:bodyPr/>
                    <a:lstStyle/>
                    <a:p>
                      <a:pPr indent="0" lvl="0" marL="0" rtl="0" algn="l">
                        <a:lnSpc>
                          <a:spcPct val="115000"/>
                        </a:lnSpc>
                        <a:spcBef>
                          <a:spcPts val="0"/>
                        </a:spcBef>
                        <a:spcAft>
                          <a:spcPts val="0"/>
                        </a:spcAft>
                        <a:buNone/>
                      </a:pPr>
                      <a:r>
                        <a:rPr b="1" lang="en-US" sz="1100">
                          <a:solidFill>
                            <a:srgbClr val="1F1F1F"/>
                          </a:solidFill>
                        </a:rPr>
                        <a:t>Death</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C-Index</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0.789</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0.751</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0.748</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~0.697</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CoxNet is superior. Mortality risk is primarily additive and proportional. Complex non-linear models do not provide additional discriminative value.</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r>
              <a:tr h="704850">
                <a:tc>
                  <a:txBody>
                    <a:bodyPr/>
                    <a:lstStyle/>
                    <a:p>
                      <a:pPr indent="0" lvl="0" marL="0" rtl="0" algn="l">
                        <a:lnSpc>
                          <a:spcPct val="115000"/>
                        </a:lnSpc>
                        <a:spcBef>
                          <a:spcPts val="0"/>
                        </a:spcBef>
                        <a:spcAft>
                          <a:spcPts val="0"/>
                        </a:spcAft>
                        <a:buNone/>
                      </a:pPr>
                      <a:r>
                        <a:rPr b="1" lang="en-US" sz="1100">
                          <a:solidFill>
                            <a:srgbClr val="1F1F1F"/>
                          </a:solidFill>
                        </a:rPr>
                        <a:t>Readmission</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C-Index</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0.609</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0.631</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0.616</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~0.606</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XGBoost is superior. Treatment readmission is driven by complex, non-linear socio-clinical interactions that penalize linear parametric models.</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r>
              <a:tr h="704850">
                <a:tc>
                  <a:txBody>
                    <a:bodyPr/>
                    <a:lstStyle/>
                    <a:p>
                      <a:pPr indent="0" lvl="0" marL="0" rtl="0" algn="l">
                        <a:lnSpc>
                          <a:spcPct val="115000"/>
                        </a:lnSpc>
                        <a:spcBef>
                          <a:spcPts val="0"/>
                        </a:spcBef>
                        <a:spcAft>
                          <a:spcPts val="0"/>
                        </a:spcAft>
                        <a:buNone/>
                      </a:pPr>
                      <a:r>
                        <a:rPr b="1" lang="en-US" sz="1100">
                          <a:solidFill>
                            <a:srgbClr val="1F1F1F"/>
                          </a:solidFill>
                        </a:rPr>
                        <a:t>Both</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Interpretability</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High</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High (via SHAP)</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Low (Black Box)</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Low (Black Box)</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Occam's Razor applies. Deep learning models fail to justify their opacity, offering no marginal performance gains over CoxNet or XGBoost.</a:t>
                      </a:r>
                      <a:endParaRPr b="1" sz="1100">
                        <a:solidFill>
                          <a:srgbClr val="1F1F1F"/>
                        </a:solidFill>
                      </a:endParaRPr>
                    </a:p>
                  </a:txBody>
                  <a:tcPr marT="76200" marB="76200" marR="114300" marL="114300">
                    <a:lnL cap="flat" cmpd="sng" w="12700">
                      <a:solidFill>
                        <a:srgbClr val="1F1F1F"/>
                      </a:solidFill>
                      <a:prstDash val="solid"/>
                      <a:round/>
                      <a:headEnd len="sm" w="sm" type="none"/>
                      <a:tailEnd len="sm" w="sm" type="none"/>
                    </a:lnL>
                    <a:lnR cap="flat" cmpd="sng" w="12700">
                      <a:solidFill>
                        <a:srgbClr val="1F1F1F"/>
                      </a:solidFill>
                      <a:prstDash val="solid"/>
                      <a:round/>
                      <a:headEnd len="sm" w="sm" type="none"/>
                      <a:tailEnd len="sm" w="sm" type="none"/>
                    </a:lnR>
                    <a:lnT cap="flat" cmpd="sng" w="12700">
                      <a:solidFill>
                        <a:srgbClr val="1F1F1F"/>
                      </a:solidFill>
                      <a:prstDash val="solid"/>
                      <a:round/>
                      <a:headEnd len="sm" w="sm" type="none"/>
                      <a:tailEnd len="sm" w="sm" type="none"/>
                    </a:lnT>
                    <a:lnB cap="flat" cmpd="sng" w="12700">
                      <a:solidFill>
                        <a:srgbClr val="1F1F1F"/>
                      </a:solidFill>
                      <a:prstDash val="solid"/>
                      <a:round/>
                      <a:headEnd len="sm" w="sm" type="none"/>
                      <a:tailEnd len="sm" w="sm" type="none"/>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958a2074ae_0_0"/>
          <p:cNvSpPr txBox="1"/>
          <p:nvPr>
            <p:ph type="title"/>
          </p:nvPr>
        </p:nvSpPr>
        <p:spPr>
          <a:xfrm>
            <a:off x="838225" y="0"/>
            <a:ext cx="44298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1100">
                <a:latin typeface="Arial"/>
                <a:ea typeface="Arial"/>
                <a:cs typeface="Arial"/>
                <a:sym typeface="Arial"/>
              </a:rPr>
              <a:t>Raphael Sonabend, Andreas Bender, Sebastian Vollmer, Avoiding C-hacking when evaluating survival distribution predictions with discrimination measures, Bioinformatics, Volume 38, Issue 17, September 2022, Pages 4178–4184, https://doi.org/10.1093/bioinformatics/btac451</a:t>
            </a:r>
            <a:endParaRPr b="1" sz="1100">
              <a:latin typeface="Arial"/>
              <a:ea typeface="Arial"/>
              <a:cs typeface="Arial"/>
              <a:sym typeface="Arial"/>
            </a:endParaRPr>
          </a:p>
        </p:txBody>
      </p:sp>
      <p:sp>
        <p:nvSpPr>
          <p:cNvPr id="639" name="Google Shape;639;g3958a2074ae_0_0"/>
          <p:cNvSpPr txBox="1"/>
          <p:nvPr>
            <p:ph idx="1" type="body"/>
          </p:nvPr>
        </p:nvSpPr>
        <p:spPr>
          <a:xfrm>
            <a:off x="372625" y="1310075"/>
            <a:ext cx="5122800" cy="1325700"/>
          </a:xfrm>
          <a:prstGeom prst="rect">
            <a:avLst/>
          </a:prstGeom>
        </p:spPr>
        <p:txBody>
          <a:bodyPr anchorCtr="0" anchor="t" bIns="45700" lIns="91425" spcFirstLastPara="1" rIns="91425" wrap="square" tIns="45700">
            <a:normAutofit/>
          </a:bodyPr>
          <a:lstStyle/>
          <a:p>
            <a:pPr indent="0" lvl="0" marL="0" rtl="0" algn="l">
              <a:lnSpc>
                <a:spcPct val="70000"/>
              </a:lnSpc>
              <a:spcBef>
                <a:spcPts val="1000"/>
              </a:spcBef>
              <a:spcAft>
                <a:spcPts val="0"/>
              </a:spcAft>
              <a:buSzPts val="935"/>
              <a:buNone/>
            </a:pPr>
            <a:r>
              <a:rPr lang="en-US" sz="1400"/>
              <a:t>El C-Index se inventó para comparar </a:t>
            </a:r>
            <a:r>
              <a:rPr i="1" lang="en-US" sz="1400"/>
              <a:t>riesgos relativos</a:t>
            </a:r>
            <a:r>
              <a:rPr lang="en-US" sz="1400"/>
              <a:t> (números simples). Pero, ¿qué pasa si tu modelo escupe una </a:t>
            </a:r>
            <a:r>
              <a:rPr i="1" lang="en-US" sz="1400"/>
              <a:t>curva completa</a:t>
            </a:r>
            <a:r>
              <a:rPr lang="en-US" sz="1400"/>
              <a:t>? Tienes que transformar esa curva en un número simple para poder calcular el C-Index. El paper denuncia que la literatura casi nunca explica cómo se hace esta transformación, lo que lleva al </a:t>
            </a:r>
            <a:r>
              <a:rPr b="1" lang="en-US" sz="1400"/>
              <a:t>C-hacking</a:t>
            </a:r>
            <a:r>
              <a:rPr lang="en-US" sz="1400"/>
              <a:t> (manipular los resultados, a lo "p-hacking").</a:t>
            </a:r>
            <a:endParaRPr sz="1400"/>
          </a:p>
        </p:txBody>
      </p:sp>
      <p:sp>
        <p:nvSpPr>
          <p:cNvPr id="640" name="Google Shape;640;g3958a2074ae_0_0"/>
          <p:cNvSpPr txBox="1"/>
          <p:nvPr>
            <p:ph idx="2" type="body"/>
          </p:nvPr>
        </p:nvSpPr>
        <p:spPr>
          <a:xfrm>
            <a:off x="318950" y="2603225"/>
            <a:ext cx="4895400" cy="3043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t>Los autores identifican tres tipos de C-hacking:</a:t>
            </a:r>
            <a:endParaRPr sz="1200"/>
          </a:p>
          <a:p>
            <a:pPr indent="-304800" lvl="0" marL="457200" rtl="0" algn="l">
              <a:lnSpc>
                <a:spcPct val="115000"/>
              </a:lnSpc>
              <a:spcBef>
                <a:spcPts val="1200"/>
              </a:spcBef>
              <a:spcAft>
                <a:spcPts val="0"/>
              </a:spcAft>
              <a:buSzPts val="1200"/>
              <a:buChar char="●"/>
            </a:pPr>
            <a:r>
              <a:rPr b="1" lang="en-US" sz="1200"/>
              <a:t>Tipo I:</a:t>
            </a:r>
            <a:r>
              <a:rPr lang="en-US" sz="1200"/>
              <a:t> Probar muchos C-indices distintos y publicar solo el que da el número más alto.</a:t>
            </a:r>
            <a:endParaRPr sz="1200"/>
          </a:p>
          <a:p>
            <a:pPr indent="-304800" lvl="0" marL="457200" rtl="0" algn="l">
              <a:lnSpc>
                <a:spcPct val="115000"/>
              </a:lnSpc>
              <a:spcBef>
                <a:spcPts val="0"/>
              </a:spcBef>
              <a:spcAft>
                <a:spcPts val="0"/>
              </a:spcAft>
              <a:buSzPts val="1200"/>
              <a:buChar char="●"/>
            </a:pPr>
            <a:r>
              <a:rPr b="1" lang="en-US" sz="1200"/>
              <a:t>Tipo II:</a:t>
            </a:r>
            <a:r>
              <a:rPr lang="en-US" sz="1200"/>
              <a:t> Mezclar peras con manzanas. Decir que un modelo es mejor que otro comparando el C-index "X" de uno contra el C-index "Y" del otro.</a:t>
            </a:r>
            <a:endParaRPr sz="1200"/>
          </a:p>
          <a:p>
            <a:pPr indent="-304800" lvl="0" marL="457200" rtl="0" algn="l">
              <a:lnSpc>
                <a:spcPct val="115000"/>
              </a:lnSpc>
              <a:spcBef>
                <a:spcPts val="0"/>
              </a:spcBef>
              <a:spcAft>
                <a:spcPts val="0"/>
              </a:spcAft>
              <a:buSzPts val="1200"/>
              <a:buChar char="●"/>
            </a:pPr>
            <a:r>
              <a:rPr b="1" lang="en-US" sz="1200"/>
              <a:t>Tipo III (El más común e involuntario):</a:t>
            </a:r>
            <a:r>
              <a:rPr lang="en-US" sz="1200"/>
              <a:t> Comparar un modelo que predice curvas con uno que predice números simples, sin transparentar la fórmula matemática que usaste para convertir la curva en un número. Dependiendo de cómo aplastes esa curva (ej. tomando la media, mirando un tiempo específico t, o calculando la "mortalidad esperada"), el C-index cambia drásticamente.</a:t>
            </a:r>
            <a:endParaRPr sz="2900"/>
          </a:p>
        </p:txBody>
      </p:sp>
      <p:sp>
        <p:nvSpPr>
          <p:cNvPr id="641" name="Google Shape;641;g3958a2074ae_0_0"/>
          <p:cNvSpPr txBox="1"/>
          <p:nvPr/>
        </p:nvSpPr>
        <p:spPr>
          <a:xfrm>
            <a:off x="5619125" y="167575"/>
            <a:ext cx="62991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t>Sea </a:t>
            </a:r>
            <a:endParaRPr sz="1200"/>
          </a:p>
          <a:p>
            <a:pPr indent="0" lvl="0" marL="0" rtl="0" algn="l">
              <a:spcBef>
                <a:spcPts val="0"/>
              </a:spcBef>
              <a:spcAft>
                <a:spcPts val="0"/>
              </a:spcAft>
              <a:buNone/>
            </a:pPr>
            <a:r>
              <a:rPr lang="en-US" sz="1200"/>
              <a:t>S^i(t)S^  i​ (t) la curva de supervivencia predicha para el individuo ii. Para evitar C-hacking, preespecificamos una única transformación de curva a marcador escalar de riesgo:</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ri(τ)=τ−∫0τS^i(t) dtr i​ (τ)=τ−∫ 0τ​  S^  i​(t)dt(donde mayor rir i​  implicamayor riesgo acumulado hasta </a:t>
            </a:r>
            <a:r>
              <a:rPr lang="en-US" sz="1200"/>
              <a:t>τ</a:t>
            </a:r>
            <a:r>
              <a:rPr lang="en-US" sz="1200"/>
              <a:t>τ).La discriminación primariase evaluó con C-index IPCW de Uno usando el mismo marcador ri(τ)r i (τ), mismohorizonte τ</a:t>
            </a:r>
            <a:endParaRPr sz="1200"/>
          </a:p>
          <a:p>
            <a:pPr indent="0" lvl="0" marL="0" rtl="0" algn="l">
              <a:spcBef>
                <a:spcPts val="0"/>
              </a:spcBef>
              <a:spcAft>
                <a:spcPts val="0"/>
              </a:spcAft>
              <a:buNone/>
            </a:pPr>
            <a:r>
              <a:rPr lang="en-US" sz="1200"/>
              <a:t>τ, y el mismo esquema de validación cruzada en todos los modelos.τ se definió a priori como el percentil 90 del tiempo de seguimiento en entrenamiento (con truncación para estabilidad IPCW).</a:t>
            </a:r>
            <a:endParaRPr sz="1200"/>
          </a:p>
          <a:p>
            <a:pPr indent="0" lvl="0" marL="0" rtl="0" algn="l">
              <a:spcBef>
                <a:spcPts val="0"/>
              </a:spcBef>
              <a:spcAft>
                <a:spcPts val="0"/>
              </a:spcAft>
              <a:buNone/>
            </a:pPr>
            <a:r>
              <a:rPr lang="en-US" sz="1200"/>
              <a:t>Como análisis secundarios preespecificados, reportamos desempeño a 12, 36 y 60 meses con AUC dependiente del tiempo y Brier score. No se seleccionaron métricas post hoc según resultados.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Suplemento (transparencia anti C-hacking)</a:t>
            </a:r>
            <a:endParaRPr sz="1200"/>
          </a:p>
          <a:p>
            <a:pPr indent="0" lvl="0" marL="0" rtl="0" algn="l">
              <a:spcBef>
                <a:spcPts val="0"/>
              </a:spcBef>
              <a:spcAft>
                <a:spcPts val="0"/>
              </a:spcAft>
              <a:buNone/>
            </a:pPr>
            <a:r>
              <a:rPr lang="en-US" sz="1200"/>
              <a:t>Transformación primaria fija: </a:t>
            </a:r>
            <a:endParaRPr sz="1200"/>
          </a:p>
          <a:p>
            <a:pPr indent="0" lvl="0" marL="0" rtl="0" algn="l">
              <a:spcBef>
                <a:spcPts val="0"/>
              </a:spcBef>
              <a:spcAft>
                <a:spcPts val="0"/>
              </a:spcAft>
              <a:buNone/>
            </a:pPr>
            <a:r>
              <a:rPr lang="en-US" sz="1200"/>
              <a:t>ri(τ)=τ−∫0τS^i(t) dtr i​ (τ)=τ−∫ 0τ​  S^  i​(t)dt.Métrica primaria fija: C-index IPCW (Uno) con el mismo </a:t>
            </a:r>
            <a:endParaRPr sz="1200"/>
          </a:p>
          <a:p>
            <a:pPr indent="0" lvl="0" marL="0" rtl="0" algn="l">
              <a:spcBef>
                <a:spcPts val="0"/>
              </a:spcBef>
              <a:spcAft>
                <a:spcPts val="0"/>
              </a:spcAft>
              <a:buNone/>
            </a:pPr>
            <a:r>
              <a:rPr lang="en-US" sz="1200"/>
              <a:t>ri(τ)r i​ (τ).Comparabilidad entre modelos: toda comparación usa la misma transformación y la misma métrica.</a:t>
            </a:r>
            <a:endParaRPr sz="1200"/>
          </a:p>
          <a:p>
            <a:pPr indent="0" lvl="0" marL="0" rtl="0" algn="l">
              <a:spcBef>
                <a:spcPts val="0"/>
              </a:spcBef>
              <a:spcAft>
                <a:spcPts val="0"/>
              </a:spcAft>
              <a:buNone/>
            </a:pPr>
            <a:r>
              <a:rPr lang="en-US" sz="1200"/>
              <a:t>Horizontes secundarios fijos: 12, 36, 60 meses (AUC/Brier).</a:t>
            </a:r>
            <a:endParaRPr sz="1200"/>
          </a:p>
          <a:p>
            <a:pPr indent="0" lvl="0" marL="0" rtl="0" algn="l">
              <a:spcBef>
                <a:spcPts val="0"/>
              </a:spcBef>
              <a:spcAft>
                <a:spcPts val="0"/>
              </a:spcAft>
              <a:buNone/>
            </a:pPr>
            <a:r>
              <a:rPr lang="en-US" sz="1200"/>
              <a:t>Validación: CV estratificada; </a:t>
            </a:r>
            <a:endParaRPr sz="1200"/>
          </a:p>
          <a:p>
            <a:pPr indent="0" lvl="0" marL="0" rtl="0" algn="l">
              <a:spcBef>
                <a:spcPts val="0"/>
              </a:spcBef>
              <a:spcAft>
                <a:spcPts val="0"/>
              </a:spcAft>
              <a:buNone/>
            </a:pPr>
            <a:r>
              <a:rPr lang="en-US" sz="1200"/>
              <a:t>τ y cualquier truncación definidos sin usar datos de test.</a:t>
            </a:r>
            <a:endParaRPr sz="1200"/>
          </a:p>
          <a:p>
            <a:pPr indent="0" lvl="0" marL="0" rtl="0" algn="l">
              <a:spcBef>
                <a:spcPts val="0"/>
              </a:spcBef>
              <a:spcAft>
                <a:spcPts val="0"/>
              </a:spcAft>
              <a:buNone/>
            </a:pPr>
            <a:r>
              <a:rPr lang="en-US" sz="1200"/>
              <a:t>Reporte completo: se informan todos los resultados preespecificados (primarios y secundarios), sin descarte selectivo.</a:t>
            </a:r>
            <a:endParaRPr sz="1200"/>
          </a:p>
        </p:txBody>
      </p:sp>
      <p:sp>
        <p:nvSpPr>
          <p:cNvPr id="642" name="Google Shape;642;g3958a2074ae_0_0"/>
          <p:cNvSpPr txBox="1"/>
          <p:nvPr/>
        </p:nvSpPr>
        <p:spPr>
          <a:xfrm>
            <a:off x="5268025" y="6091175"/>
            <a:ext cx="8090400" cy="7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To me the bottom line is the AUC should be used to describe discrimination of one model, not to compare 2 models. For comparison we need to use the most powerful measure: deviance and those things derived from deviance: generalized</a:t>
            </a:r>
            <a:endParaRPr sz="1100">
              <a:solidFill>
                <a:schemeClr val="dk1"/>
              </a:solidFill>
            </a:endParaRPr>
          </a:p>
          <a:p>
            <a:pPr indent="0" lvl="0" marL="0" rtl="0" algn="l">
              <a:spcBef>
                <a:spcPts val="0"/>
              </a:spcBef>
              <a:spcAft>
                <a:spcPts val="0"/>
              </a:spcAft>
              <a:buNone/>
            </a:pPr>
            <a:r>
              <a:rPr i="1" lang="en-US" sz="1350">
                <a:solidFill>
                  <a:schemeClr val="dk1"/>
                </a:solidFill>
              </a:rPr>
              <a:t>R </a:t>
            </a:r>
            <a:r>
              <a:rPr lang="en-US" sz="950">
                <a:solidFill>
                  <a:schemeClr val="dk1"/>
                </a:solidFill>
              </a:rPr>
              <a:t>2 </a:t>
            </a:r>
            <a:r>
              <a:rPr lang="en-US" sz="1100">
                <a:solidFill>
                  <a:schemeClr val="dk1"/>
                </a:solidFill>
              </a:rPr>
              <a:t>and AIC. – </a:t>
            </a:r>
            <a:r>
              <a:rPr lang="en-US" sz="1100">
                <a:solidFill>
                  <a:schemeClr val="dk1"/>
                </a:solidFill>
                <a:uFill>
                  <a:noFill/>
                </a:uFill>
                <a:hlinkClick r:id="rId3">
                  <a:extLst>
                    <a:ext uri="{A12FA001-AC4F-418D-AE19-62706E023703}">
                      <ahyp:hlinkClr val="tx"/>
                    </a:ext>
                  </a:extLst>
                </a:hlinkClick>
              </a:rPr>
              <a:t> </a:t>
            </a:r>
            <a:r>
              <a:rPr lang="en-US" sz="1100" u="sng">
                <a:solidFill>
                  <a:schemeClr val="hlink"/>
                </a:solidFill>
                <a:hlinkClick r:id="rId4"/>
              </a:rPr>
              <a:t>Frank Harrell</a:t>
            </a:r>
            <a:r>
              <a:rPr lang="en-US" sz="1100" u="sng">
                <a:solidFill>
                  <a:schemeClr val="hlink"/>
                </a:solidFill>
              </a:rPr>
              <a:t> </a:t>
            </a:r>
            <a:r>
              <a:rPr lang="en-US" sz="1100" u="sng">
                <a:solidFill>
                  <a:schemeClr val="hlink"/>
                </a:solidFill>
                <a:hlinkClick r:id="rId5"/>
              </a:rPr>
              <a:t>Commented</a:t>
            </a:r>
            <a:r>
              <a:rPr lang="en-US" sz="1100" u="sng">
                <a:solidFill>
                  <a:schemeClr val="hlink"/>
                </a:solidFill>
              </a:rPr>
              <a:t> </a:t>
            </a:r>
            <a:endParaRPr/>
          </a:p>
        </p:txBody>
      </p:sp>
      <p:sp>
        <p:nvSpPr>
          <p:cNvPr id="643" name="Google Shape;643;g3958a2074ae_0_0"/>
          <p:cNvSpPr txBox="1"/>
          <p:nvPr/>
        </p:nvSpPr>
        <p:spPr>
          <a:xfrm>
            <a:off x="5557100" y="4966925"/>
            <a:ext cx="6484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rPr>
              <a:t>Recomienda usar el C‑index solo como medida descriptiva de discriminación, no para comparar modelos ni tomar decisiones. Prefiere métricas como pseudo‑R2, AIC y distribuciones de riesgos predichos. (</a:t>
            </a:r>
            <a:r>
              <a:rPr lang="en-US" sz="1200" u="sng">
                <a:solidFill>
                  <a:schemeClr val="hlink"/>
                </a:solidFill>
                <a:hlinkClick r:id="rId6"/>
              </a:rPr>
              <a:t>https://discourse.datamethods.org/t/is-harrells-concordance-index-not-proper-when-using-predicted-times/28290?utm_source=copilot.com</a:t>
            </a:r>
            <a:r>
              <a:rPr lang="en-US" sz="1200">
                <a:solidFill>
                  <a:schemeClr val="dk1"/>
                </a:solidFill>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c8fba5a38d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Net benefit</a:t>
            </a:r>
            <a:endParaRPr/>
          </a:p>
        </p:txBody>
      </p:sp>
      <p:sp>
        <p:nvSpPr>
          <p:cNvPr id="650" name="Google Shape;650;g3c8fba5a38d_0_7"/>
          <p:cNvSpPr txBox="1"/>
          <p:nvPr>
            <p:ph idx="1" type="body"/>
          </p:nvPr>
        </p:nvSpPr>
        <p:spPr>
          <a:xfrm>
            <a:off x="838200" y="1825625"/>
            <a:ext cx="5181600" cy="43512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lang="en-US"/>
              <a:t>Decision curve analysis was performed within the internally validated sample. Although optimism was minimized using bootstrap procedures, external validation is required to confirm clinical utility</a:t>
            </a:r>
            <a:endParaRPr/>
          </a:p>
          <a:p>
            <a:pPr indent="-334327" lvl="0" marL="457200" marR="381000" rtl="0" algn="l">
              <a:lnSpc>
                <a:spcPct val="115000"/>
              </a:lnSpc>
              <a:spcBef>
                <a:spcPts val="0"/>
              </a:spcBef>
              <a:spcAft>
                <a:spcPts val="0"/>
              </a:spcAft>
              <a:buSzPct val="64285"/>
              <a:buChar char="-"/>
            </a:pPr>
            <a:r>
              <a:rPr lang="en-US"/>
              <a:t>“optimism-corrected net benefit”</a:t>
            </a:r>
            <a:endParaRPr/>
          </a:p>
          <a:p>
            <a:pPr indent="-334327" lvl="0" marL="457200" marR="381000" rtl="0" algn="l">
              <a:lnSpc>
                <a:spcPct val="115000"/>
              </a:lnSpc>
              <a:spcBef>
                <a:spcPts val="0"/>
              </a:spcBef>
              <a:spcAft>
                <a:spcPts val="0"/>
              </a:spcAft>
              <a:buSzPct val="64285"/>
              <a:buChar char="-"/>
            </a:pPr>
            <a:r>
              <a:rPr lang="en-US"/>
              <a:t>The clinical value of risk prediction varies by time horizon</a:t>
            </a:r>
            <a:endParaRPr/>
          </a:p>
        </p:txBody>
      </p:sp>
      <p:sp>
        <p:nvSpPr>
          <p:cNvPr id="651" name="Google Shape;651;g3c8fba5a38d_0_7"/>
          <p:cNvSpPr txBox="1"/>
          <p:nvPr>
            <p:ph idx="2" type="body"/>
          </p:nvPr>
        </p:nvSpPr>
        <p:spPr>
          <a:xfrm>
            <a:off x="6172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ca0fe0c763_1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658" name="Google Shape;658;g3ca0fe0c763_1_5"/>
          <p:cNvSpPr txBox="1"/>
          <p:nvPr>
            <p:ph idx="1" type="body"/>
          </p:nvPr>
        </p:nvSpPr>
        <p:spPr>
          <a:xfrm>
            <a:off x="838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659" name="Google Shape;659;g3ca0fe0c763_1_5"/>
          <p:cNvSpPr txBox="1"/>
          <p:nvPr>
            <p:ph idx="2" type="body"/>
          </p:nvPr>
        </p:nvSpPr>
        <p:spPr>
          <a:xfrm>
            <a:off x="6172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2026-01-20T18:29:58Z</dcterms:created>
  <dc:creator>Andrés González Santa Cruz</dc:creator>
</cp:coreProperties>
</file>